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sldIdLst>
    <p:sldId id="256" r:id="rId3"/>
    <p:sldId id="311" r:id="rId4"/>
    <p:sldId id="312" r:id="rId5"/>
    <p:sldId id="257" r:id="rId6"/>
    <p:sldId id="258" r:id="rId7"/>
    <p:sldId id="259" r:id="rId8"/>
    <p:sldId id="307" r:id="rId9"/>
    <p:sldId id="308" r:id="rId10"/>
    <p:sldId id="310"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314" r:id="rId29"/>
    <p:sldId id="315" r:id="rId30"/>
    <p:sldId id="316" r:id="rId31"/>
    <p:sldId id="317" r:id="rId32"/>
    <p:sldId id="318" r:id="rId33"/>
    <p:sldId id="319" r:id="rId34"/>
    <p:sldId id="320" r:id="rId35"/>
    <p:sldId id="321" r:id="rId36"/>
    <p:sldId id="322"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1546"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0" i="0">
                <a:solidFill>
                  <a:schemeClr val="tx1"/>
                </a:solidFill>
                <a:latin typeface="Arial MT"/>
                <a:cs typeface="Arial MT"/>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3497757" cy="6850811"/>
          </a:xfrm>
          <a:prstGeom prst="rect">
            <a:avLst/>
          </a:prstGeom>
        </p:spPr>
      </p:pic>
      <p:sp>
        <p:nvSpPr>
          <p:cNvPr id="17" name="bg object 17"/>
          <p:cNvSpPr/>
          <p:nvPr/>
        </p:nvSpPr>
        <p:spPr>
          <a:xfrm>
            <a:off x="1716125" y="1690204"/>
            <a:ext cx="7421245" cy="2527300"/>
          </a:xfrm>
          <a:custGeom>
            <a:avLst/>
            <a:gdLst/>
            <a:ahLst/>
            <a:cxnLst/>
            <a:rect l="l" t="t" r="r" b="b"/>
            <a:pathLst>
              <a:path w="7421245" h="2527300">
                <a:moveTo>
                  <a:pt x="7421029" y="0"/>
                </a:moveTo>
                <a:lnTo>
                  <a:pt x="0" y="0"/>
                </a:lnTo>
                <a:lnTo>
                  <a:pt x="0" y="2526830"/>
                </a:lnTo>
                <a:lnTo>
                  <a:pt x="3710508" y="2526830"/>
                </a:lnTo>
                <a:lnTo>
                  <a:pt x="7421029" y="2526830"/>
                </a:lnTo>
                <a:lnTo>
                  <a:pt x="7421029" y="0"/>
                </a:lnTo>
                <a:close/>
              </a:path>
            </a:pathLst>
          </a:custGeom>
          <a:solidFill>
            <a:srgbClr val="00007C"/>
          </a:solidFill>
        </p:spPr>
        <p:txBody>
          <a:bodyPr wrap="square" lIns="0" tIns="0" rIns="0" bIns="0" rtlCol="0"/>
          <a:lstStyle/>
          <a:p>
            <a:endParaRPr/>
          </a:p>
        </p:txBody>
      </p:sp>
      <p:sp>
        <p:nvSpPr>
          <p:cNvPr id="18" name="bg object 18"/>
          <p:cNvSpPr/>
          <p:nvPr/>
        </p:nvSpPr>
        <p:spPr>
          <a:xfrm>
            <a:off x="573125" y="3583076"/>
            <a:ext cx="569595" cy="634365"/>
          </a:xfrm>
          <a:custGeom>
            <a:avLst/>
            <a:gdLst/>
            <a:ahLst/>
            <a:cxnLst/>
            <a:rect l="l" t="t" r="r" b="b"/>
            <a:pathLst>
              <a:path w="569594" h="634364">
                <a:moveTo>
                  <a:pt x="569518" y="0"/>
                </a:moveTo>
                <a:lnTo>
                  <a:pt x="0" y="0"/>
                </a:lnTo>
                <a:lnTo>
                  <a:pt x="0" y="634326"/>
                </a:lnTo>
                <a:lnTo>
                  <a:pt x="284759" y="634326"/>
                </a:lnTo>
                <a:lnTo>
                  <a:pt x="569518" y="634326"/>
                </a:lnTo>
                <a:lnTo>
                  <a:pt x="569518" y="0"/>
                </a:lnTo>
                <a:close/>
              </a:path>
            </a:pathLst>
          </a:custGeom>
          <a:solidFill>
            <a:srgbClr val="9999CC"/>
          </a:solidFill>
        </p:spPr>
        <p:txBody>
          <a:bodyPr wrap="square" lIns="0" tIns="0" rIns="0" bIns="0" rtlCol="0"/>
          <a:lstStyle/>
          <a:p>
            <a:endParaRPr/>
          </a:p>
        </p:txBody>
      </p:sp>
      <p:sp>
        <p:nvSpPr>
          <p:cNvPr id="19" name="bg object 19"/>
          <p:cNvSpPr/>
          <p:nvPr/>
        </p:nvSpPr>
        <p:spPr>
          <a:xfrm>
            <a:off x="1715757" y="1066317"/>
            <a:ext cx="1144905" cy="1260475"/>
          </a:xfrm>
          <a:custGeom>
            <a:avLst/>
            <a:gdLst/>
            <a:ahLst/>
            <a:cxnLst/>
            <a:rect l="l" t="t" r="r" b="b"/>
            <a:pathLst>
              <a:path w="1144905" h="1260475">
                <a:moveTo>
                  <a:pt x="1144447" y="0"/>
                </a:moveTo>
                <a:lnTo>
                  <a:pt x="565556" y="0"/>
                </a:lnTo>
                <a:lnTo>
                  <a:pt x="565556" y="623887"/>
                </a:lnTo>
                <a:lnTo>
                  <a:pt x="0" y="623887"/>
                </a:lnTo>
                <a:lnTo>
                  <a:pt x="0" y="1260005"/>
                </a:lnTo>
                <a:lnTo>
                  <a:pt x="284048" y="1260005"/>
                </a:lnTo>
                <a:lnTo>
                  <a:pt x="567728" y="1260005"/>
                </a:lnTo>
                <a:lnTo>
                  <a:pt x="567728" y="628205"/>
                </a:lnTo>
                <a:lnTo>
                  <a:pt x="855002" y="628205"/>
                </a:lnTo>
                <a:lnTo>
                  <a:pt x="1144447" y="628205"/>
                </a:lnTo>
                <a:lnTo>
                  <a:pt x="1144447" y="0"/>
                </a:lnTo>
                <a:close/>
              </a:path>
            </a:pathLst>
          </a:custGeom>
          <a:solidFill>
            <a:srgbClr val="CCCCE5"/>
          </a:solidFill>
        </p:spPr>
        <p:txBody>
          <a:bodyPr wrap="square" lIns="0" tIns="0" rIns="0" bIns="0" rtlCol="0"/>
          <a:lstStyle/>
          <a:p>
            <a:endParaRPr/>
          </a:p>
        </p:txBody>
      </p:sp>
      <p:sp>
        <p:nvSpPr>
          <p:cNvPr id="20" name="bg object 20"/>
          <p:cNvSpPr/>
          <p:nvPr/>
        </p:nvSpPr>
        <p:spPr>
          <a:xfrm>
            <a:off x="1141564" y="3583076"/>
            <a:ext cx="577850" cy="634365"/>
          </a:xfrm>
          <a:custGeom>
            <a:avLst/>
            <a:gdLst/>
            <a:ahLst/>
            <a:cxnLst/>
            <a:rect l="l" t="t" r="r" b="b"/>
            <a:pathLst>
              <a:path w="577850" h="634364">
                <a:moveTo>
                  <a:pt x="577430" y="0"/>
                </a:moveTo>
                <a:lnTo>
                  <a:pt x="0" y="0"/>
                </a:lnTo>
                <a:lnTo>
                  <a:pt x="0" y="634326"/>
                </a:lnTo>
                <a:lnTo>
                  <a:pt x="288709" y="634326"/>
                </a:lnTo>
                <a:lnTo>
                  <a:pt x="577430" y="634326"/>
                </a:lnTo>
                <a:lnTo>
                  <a:pt x="577430" y="0"/>
                </a:lnTo>
                <a:close/>
              </a:path>
            </a:pathLst>
          </a:custGeom>
          <a:solidFill>
            <a:srgbClr val="00007C"/>
          </a:solidFill>
        </p:spPr>
        <p:txBody>
          <a:bodyPr wrap="square" lIns="0" tIns="0" rIns="0" bIns="0" rtlCol="0"/>
          <a:lstStyle/>
          <a:p>
            <a:endParaRPr/>
          </a:p>
        </p:txBody>
      </p:sp>
      <p:sp>
        <p:nvSpPr>
          <p:cNvPr id="21" name="bg object 21"/>
          <p:cNvSpPr/>
          <p:nvPr/>
        </p:nvSpPr>
        <p:spPr>
          <a:xfrm>
            <a:off x="2281313" y="1690204"/>
            <a:ext cx="579120" cy="636270"/>
          </a:xfrm>
          <a:custGeom>
            <a:avLst/>
            <a:gdLst/>
            <a:ahLst/>
            <a:cxnLst/>
            <a:rect l="l" t="t" r="r" b="b"/>
            <a:pathLst>
              <a:path w="579119" h="636269">
                <a:moveTo>
                  <a:pt x="578891" y="0"/>
                </a:moveTo>
                <a:lnTo>
                  <a:pt x="0" y="0"/>
                </a:lnTo>
                <a:lnTo>
                  <a:pt x="0" y="636117"/>
                </a:lnTo>
                <a:lnTo>
                  <a:pt x="289445" y="636117"/>
                </a:lnTo>
                <a:lnTo>
                  <a:pt x="578891" y="636117"/>
                </a:lnTo>
                <a:lnTo>
                  <a:pt x="578891" y="0"/>
                </a:lnTo>
                <a:close/>
              </a:path>
            </a:pathLst>
          </a:custGeom>
          <a:solidFill>
            <a:srgbClr val="9999CC"/>
          </a:solidFill>
        </p:spPr>
        <p:txBody>
          <a:bodyPr wrap="square" lIns="0" tIns="0" rIns="0" bIns="0" rtlCol="0"/>
          <a:lstStyle/>
          <a:p>
            <a:endParaRPr/>
          </a:p>
        </p:txBody>
      </p:sp>
      <p:sp>
        <p:nvSpPr>
          <p:cNvPr id="22" name="bg object 22"/>
          <p:cNvSpPr/>
          <p:nvPr/>
        </p:nvSpPr>
        <p:spPr>
          <a:xfrm>
            <a:off x="1141564" y="2324163"/>
            <a:ext cx="577850" cy="626745"/>
          </a:xfrm>
          <a:custGeom>
            <a:avLst/>
            <a:gdLst/>
            <a:ahLst/>
            <a:cxnLst/>
            <a:rect l="l" t="t" r="r" b="b"/>
            <a:pathLst>
              <a:path w="577850" h="626744">
                <a:moveTo>
                  <a:pt x="577430" y="0"/>
                </a:moveTo>
                <a:lnTo>
                  <a:pt x="0" y="0"/>
                </a:lnTo>
                <a:lnTo>
                  <a:pt x="0" y="626402"/>
                </a:lnTo>
                <a:lnTo>
                  <a:pt x="288709" y="626402"/>
                </a:lnTo>
                <a:lnTo>
                  <a:pt x="577430" y="626402"/>
                </a:lnTo>
                <a:lnTo>
                  <a:pt x="577430" y="0"/>
                </a:lnTo>
                <a:close/>
              </a:path>
            </a:pathLst>
          </a:custGeom>
          <a:solidFill>
            <a:srgbClr val="CCCCE5"/>
          </a:solidFill>
        </p:spPr>
        <p:txBody>
          <a:bodyPr wrap="square" lIns="0" tIns="0" rIns="0" bIns="0" rtlCol="0"/>
          <a:lstStyle/>
          <a:p>
            <a:endParaRPr/>
          </a:p>
        </p:txBody>
      </p:sp>
      <p:sp>
        <p:nvSpPr>
          <p:cNvPr id="23" name="bg object 23"/>
          <p:cNvSpPr/>
          <p:nvPr/>
        </p:nvSpPr>
        <p:spPr>
          <a:xfrm>
            <a:off x="-355" y="2324163"/>
            <a:ext cx="575945" cy="626745"/>
          </a:xfrm>
          <a:custGeom>
            <a:avLst/>
            <a:gdLst/>
            <a:ahLst/>
            <a:cxnLst/>
            <a:rect l="l" t="t" r="r" b="b"/>
            <a:pathLst>
              <a:path w="575945" h="626744">
                <a:moveTo>
                  <a:pt x="575640" y="0"/>
                </a:moveTo>
                <a:lnTo>
                  <a:pt x="0" y="0"/>
                </a:lnTo>
                <a:lnTo>
                  <a:pt x="0" y="626402"/>
                </a:lnTo>
                <a:lnTo>
                  <a:pt x="287997" y="626402"/>
                </a:lnTo>
                <a:lnTo>
                  <a:pt x="575640" y="626402"/>
                </a:lnTo>
                <a:lnTo>
                  <a:pt x="575640" y="0"/>
                </a:lnTo>
                <a:close/>
              </a:path>
            </a:pathLst>
          </a:custGeom>
          <a:solidFill>
            <a:srgbClr val="00007C"/>
          </a:solidFill>
        </p:spPr>
        <p:txBody>
          <a:bodyPr wrap="square" lIns="0" tIns="0" rIns="0" bIns="0" rtlCol="0"/>
          <a:lstStyle/>
          <a:p>
            <a:endParaRPr/>
          </a:p>
        </p:txBody>
      </p:sp>
      <p:sp>
        <p:nvSpPr>
          <p:cNvPr id="24" name="bg object 24"/>
          <p:cNvSpPr/>
          <p:nvPr/>
        </p:nvSpPr>
        <p:spPr>
          <a:xfrm>
            <a:off x="1715757" y="2324163"/>
            <a:ext cx="568325" cy="626745"/>
          </a:xfrm>
          <a:custGeom>
            <a:avLst/>
            <a:gdLst/>
            <a:ahLst/>
            <a:cxnLst/>
            <a:rect l="l" t="t" r="r" b="b"/>
            <a:pathLst>
              <a:path w="568325" h="626744">
                <a:moveTo>
                  <a:pt x="567728" y="0"/>
                </a:moveTo>
                <a:lnTo>
                  <a:pt x="0" y="0"/>
                </a:lnTo>
                <a:lnTo>
                  <a:pt x="0" y="626402"/>
                </a:lnTo>
                <a:lnTo>
                  <a:pt x="284048" y="626402"/>
                </a:lnTo>
                <a:lnTo>
                  <a:pt x="567728" y="626402"/>
                </a:lnTo>
                <a:lnTo>
                  <a:pt x="567728" y="0"/>
                </a:lnTo>
                <a:close/>
              </a:path>
            </a:pathLst>
          </a:custGeom>
          <a:solidFill>
            <a:srgbClr val="9999CC"/>
          </a:solidFill>
        </p:spPr>
        <p:txBody>
          <a:bodyPr wrap="square" lIns="0" tIns="0" rIns="0" bIns="0" rtlCol="0"/>
          <a:lstStyle/>
          <a:p>
            <a:endParaRPr/>
          </a:p>
        </p:txBody>
      </p:sp>
      <p:sp>
        <p:nvSpPr>
          <p:cNvPr id="25" name="bg object 25"/>
          <p:cNvSpPr/>
          <p:nvPr/>
        </p:nvSpPr>
        <p:spPr>
          <a:xfrm>
            <a:off x="573125" y="2947682"/>
            <a:ext cx="569595" cy="638175"/>
          </a:xfrm>
          <a:custGeom>
            <a:avLst/>
            <a:gdLst/>
            <a:ahLst/>
            <a:cxnLst/>
            <a:rect l="l" t="t" r="r" b="b"/>
            <a:pathLst>
              <a:path w="569594" h="638175">
                <a:moveTo>
                  <a:pt x="569518" y="0"/>
                </a:moveTo>
                <a:lnTo>
                  <a:pt x="0" y="0"/>
                </a:lnTo>
                <a:lnTo>
                  <a:pt x="0" y="637552"/>
                </a:lnTo>
                <a:lnTo>
                  <a:pt x="284759" y="637552"/>
                </a:lnTo>
                <a:lnTo>
                  <a:pt x="569518" y="637552"/>
                </a:lnTo>
                <a:lnTo>
                  <a:pt x="569518" y="0"/>
                </a:lnTo>
                <a:close/>
              </a:path>
            </a:pathLst>
          </a:custGeom>
          <a:solidFill>
            <a:srgbClr val="CCCCE5"/>
          </a:solidFill>
        </p:spPr>
        <p:txBody>
          <a:bodyPr wrap="square" lIns="0" tIns="0" rIns="0" bIns="0" rtlCol="0"/>
          <a:lstStyle/>
          <a:p>
            <a:endParaRPr/>
          </a:p>
        </p:txBody>
      </p:sp>
      <p:sp>
        <p:nvSpPr>
          <p:cNvPr id="26" name="bg object 26"/>
          <p:cNvSpPr/>
          <p:nvPr/>
        </p:nvSpPr>
        <p:spPr>
          <a:xfrm>
            <a:off x="1141564" y="2947682"/>
            <a:ext cx="577850" cy="638175"/>
          </a:xfrm>
          <a:custGeom>
            <a:avLst/>
            <a:gdLst/>
            <a:ahLst/>
            <a:cxnLst/>
            <a:rect l="l" t="t" r="r" b="b"/>
            <a:pathLst>
              <a:path w="577850" h="638175">
                <a:moveTo>
                  <a:pt x="577430" y="0"/>
                </a:moveTo>
                <a:lnTo>
                  <a:pt x="0" y="0"/>
                </a:lnTo>
                <a:lnTo>
                  <a:pt x="0" y="637552"/>
                </a:lnTo>
                <a:lnTo>
                  <a:pt x="288709" y="637552"/>
                </a:lnTo>
                <a:lnTo>
                  <a:pt x="577430" y="637552"/>
                </a:lnTo>
                <a:lnTo>
                  <a:pt x="577430" y="0"/>
                </a:lnTo>
                <a:close/>
              </a:path>
            </a:pathLst>
          </a:custGeom>
          <a:solidFill>
            <a:srgbClr val="9999CC"/>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8985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762BF-5DE9-4179-B85E-CB928A2EF17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458BEEBE-BD58-4A4C-9D12-4D5018DC791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85BA0AB7-B828-408B-A6EA-01B96E68443D}"/>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5" name="Footer Placeholder 4">
            <a:extLst>
              <a:ext uri="{FF2B5EF4-FFF2-40B4-BE49-F238E27FC236}">
                <a16:creationId xmlns:a16="http://schemas.microsoft.com/office/drawing/2014/main" id="{7CD1EFC6-9105-41BF-A8AF-126F09246A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84E96-CBB3-4ECF-8AA3-FFB69D58EBBD}"/>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27412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D1A0F-4871-4371-8C28-9787A9BFFC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3D86CB-B2B6-44B0-8E9E-782AE5BA81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B47510-66C3-4546-B65F-D2F8530FDB20}"/>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5" name="Footer Placeholder 4">
            <a:extLst>
              <a:ext uri="{FF2B5EF4-FFF2-40B4-BE49-F238E27FC236}">
                <a16:creationId xmlns:a16="http://schemas.microsoft.com/office/drawing/2014/main" id="{FD011DC6-214B-4194-B8CD-1C2550F447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8F30B0-0E94-4F88-916C-D9FC08A7490F}"/>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97692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D5335-8F8E-4A8A-B3FD-2E1BE208C610}"/>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A0612AB-753A-4852-ACFE-D97478AFBAE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6F3923-9EA6-4E5C-84FE-96C1EB92979C}"/>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5" name="Footer Placeholder 4">
            <a:extLst>
              <a:ext uri="{FF2B5EF4-FFF2-40B4-BE49-F238E27FC236}">
                <a16:creationId xmlns:a16="http://schemas.microsoft.com/office/drawing/2014/main" id="{AB35A595-250F-48EE-838C-88031C04A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58289-E899-46C8-8455-1B352D699FD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64769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8C04E-533B-4F06-9AED-004CE96C4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EFEA39-41B0-4E10-BB2E-BB5FFF43613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615A1E-27E4-4A61-BE01-C93CBB7CCCB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6D7636-4CC8-4408-857D-63D5B7A2F0FC}"/>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6" name="Footer Placeholder 5">
            <a:extLst>
              <a:ext uri="{FF2B5EF4-FFF2-40B4-BE49-F238E27FC236}">
                <a16:creationId xmlns:a16="http://schemas.microsoft.com/office/drawing/2014/main" id="{7305CED9-4FE4-4F6E-83D9-A02B137BEF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E0557B-E107-4866-871F-793973E0135D}"/>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564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065B7-4613-4034-B7C0-383D75AE69AF}"/>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127320-7E72-49CB-8C8A-AC2D23A2C0A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C608081-90C5-4343-914C-60B95DC9A9E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2D4F22-35CF-4301-991D-5CD9E98987B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408ECA2-AE60-4E4D-88FF-A77AA948A45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A3EC02-7B6B-4370-B734-915E1B72C705}"/>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8" name="Footer Placeholder 7">
            <a:extLst>
              <a:ext uri="{FF2B5EF4-FFF2-40B4-BE49-F238E27FC236}">
                <a16:creationId xmlns:a16="http://schemas.microsoft.com/office/drawing/2014/main" id="{BC0639EC-C04C-4344-ADEB-42C067C4EE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7ABF09-E967-4E9E-AB53-614371FAFBCD}"/>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140553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EF48-942F-4D84-BBD7-527900932A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5747ED-9E52-4E6A-BDE3-533983960E62}"/>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4" name="Footer Placeholder 3">
            <a:extLst>
              <a:ext uri="{FF2B5EF4-FFF2-40B4-BE49-F238E27FC236}">
                <a16:creationId xmlns:a16="http://schemas.microsoft.com/office/drawing/2014/main" id="{A6C5692C-0329-4D90-A328-9C7DCA2229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52F6BE-41AE-4B7C-9827-690F4412EDEA}"/>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91537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282F04-0A25-4FEA-82A1-72C608967FA4}"/>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3" name="Footer Placeholder 2">
            <a:extLst>
              <a:ext uri="{FF2B5EF4-FFF2-40B4-BE49-F238E27FC236}">
                <a16:creationId xmlns:a16="http://schemas.microsoft.com/office/drawing/2014/main" id="{F10722ED-C892-4991-B279-686061F73B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AE2A40-0620-4D1C-8227-7A5E6D54D4D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91398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8F41-4137-485B-80B2-F30BFCBF91C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A0F5E00-24BF-4874-BD8B-B19C53746A4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75F11F-3F2E-404F-AB29-71C8C4DB416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639DE57-E43C-478B-B700-82BE56AFA74B}"/>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6" name="Footer Placeholder 5">
            <a:extLst>
              <a:ext uri="{FF2B5EF4-FFF2-40B4-BE49-F238E27FC236}">
                <a16:creationId xmlns:a16="http://schemas.microsoft.com/office/drawing/2014/main" id="{8768E988-A450-477F-9E78-8CD34E4FE0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521895-FB37-4C86-B25B-62CDC7E804B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4280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D30F-6A62-43B9-8234-D53627CE666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79D94E3-3FA7-4E40-815A-B20E9B74DD9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7BE4D0A-6ED2-40B9-B13D-B1E3E97AAA4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2BE06F1-9CF4-4B49-985F-989D4F80B8A2}"/>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6" name="Footer Placeholder 5">
            <a:extLst>
              <a:ext uri="{FF2B5EF4-FFF2-40B4-BE49-F238E27FC236}">
                <a16:creationId xmlns:a16="http://schemas.microsoft.com/office/drawing/2014/main" id="{AEB56FA9-21C5-492A-AF8D-4BC1DEB95D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1E776D-B177-490E-B88F-679A5171CC4C}"/>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4508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563A-4134-4179-B6AF-156E946980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1F11E6-49CE-4B1D-859D-A0F0855452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BD11C-2442-4ABC-923A-28D503127B91}"/>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5" name="Footer Placeholder 4">
            <a:extLst>
              <a:ext uri="{FF2B5EF4-FFF2-40B4-BE49-F238E27FC236}">
                <a16:creationId xmlns:a16="http://schemas.microsoft.com/office/drawing/2014/main" id="{4279B37B-A5BC-4E1C-A044-19DFF6F90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7A71F-606D-4E18-9503-15789A281BB6}"/>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321922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86013B-B98E-4BC7-A61C-D25EA8A9F082}"/>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9EB170-3FFA-4A8A-9EE7-C9888F467FF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D38A3C-38F6-4B11-95EF-97D608D03098}"/>
              </a:ext>
            </a:extLst>
          </p:cNvPr>
          <p:cNvSpPr>
            <a:spLocks noGrp="1"/>
          </p:cNvSpPr>
          <p:nvPr>
            <p:ph type="dt" sz="half" idx="10"/>
          </p:nvPr>
        </p:nvSpPr>
        <p:spPr/>
        <p:txBody>
          <a:bodyPr/>
          <a:lstStyle/>
          <a:p>
            <a:fld id="{1D8BD707-D9CF-40AE-B4C6-C98DA3205C09}" type="datetimeFigureOut">
              <a:rPr lang="en-US" smtClean="0"/>
              <a:t>6/29/2026</a:t>
            </a:fld>
            <a:endParaRPr lang="en-US"/>
          </a:p>
        </p:txBody>
      </p:sp>
      <p:sp>
        <p:nvSpPr>
          <p:cNvPr id="5" name="Footer Placeholder 4">
            <a:extLst>
              <a:ext uri="{FF2B5EF4-FFF2-40B4-BE49-F238E27FC236}">
                <a16:creationId xmlns:a16="http://schemas.microsoft.com/office/drawing/2014/main" id="{A7579473-344B-496E-B342-A1631E482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AF6BD-D124-43D2-8EEF-6A55D034B90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6287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278638" cy="526326"/>
          </a:xfrm>
          <a:prstGeom prst="rect">
            <a:avLst/>
          </a:prstGeom>
        </p:spPr>
      </p:pic>
      <p:pic>
        <p:nvPicPr>
          <p:cNvPr id="17" name="bg object 17"/>
          <p:cNvPicPr/>
          <p:nvPr/>
        </p:nvPicPr>
        <p:blipFill>
          <a:blip r:embed="rId9" cstate="print"/>
          <a:stretch>
            <a:fillRect/>
          </a:stretch>
        </p:blipFill>
        <p:spPr>
          <a:xfrm>
            <a:off x="412915" y="135013"/>
            <a:ext cx="8724239" cy="267830"/>
          </a:xfrm>
          <a:prstGeom prst="rect">
            <a:avLst/>
          </a:prstGeom>
        </p:spPr>
      </p:pic>
      <p:sp>
        <p:nvSpPr>
          <p:cNvPr id="18" name="bg object 18"/>
          <p:cNvSpPr/>
          <p:nvPr/>
        </p:nvSpPr>
        <p:spPr>
          <a:xfrm>
            <a:off x="409676" y="0"/>
            <a:ext cx="270510" cy="269240"/>
          </a:xfrm>
          <a:custGeom>
            <a:avLst/>
            <a:gdLst/>
            <a:ahLst/>
            <a:cxnLst/>
            <a:rect l="l" t="t" r="r" b="b"/>
            <a:pathLst>
              <a:path w="270509" h="269240">
                <a:moveTo>
                  <a:pt x="131038" y="134645"/>
                </a:moveTo>
                <a:lnTo>
                  <a:pt x="0" y="134645"/>
                </a:lnTo>
                <a:lnTo>
                  <a:pt x="0" y="268922"/>
                </a:lnTo>
                <a:lnTo>
                  <a:pt x="65519" y="268922"/>
                </a:lnTo>
                <a:lnTo>
                  <a:pt x="131038" y="268922"/>
                </a:lnTo>
                <a:lnTo>
                  <a:pt x="131038" y="134645"/>
                </a:lnTo>
                <a:close/>
              </a:path>
              <a:path w="270509" h="269240">
                <a:moveTo>
                  <a:pt x="270357" y="0"/>
                </a:moveTo>
                <a:lnTo>
                  <a:pt x="137528" y="0"/>
                </a:lnTo>
                <a:lnTo>
                  <a:pt x="137528" y="131038"/>
                </a:lnTo>
                <a:lnTo>
                  <a:pt x="204127" y="131038"/>
                </a:lnTo>
                <a:lnTo>
                  <a:pt x="270357" y="131038"/>
                </a:lnTo>
                <a:lnTo>
                  <a:pt x="270357" y="0"/>
                </a:lnTo>
                <a:close/>
              </a:path>
            </a:pathLst>
          </a:custGeom>
          <a:solidFill>
            <a:srgbClr val="CCCCE5"/>
          </a:solidFill>
        </p:spPr>
        <p:txBody>
          <a:bodyPr wrap="square" lIns="0" tIns="0" rIns="0" bIns="0" rtlCol="0"/>
          <a:lstStyle/>
          <a:p>
            <a:endParaRPr/>
          </a:p>
        </p:txBody>
      </p:sp>
      <p:sp>
        <p:nvSpPr>
          <p:cNvPr id="19" name="bg object 19"/>
          <p:cNvSpPr/>
          <p:nvPr/>
        </p:nvSpPr>
        <p:spPr>
          <a:xfrm>
            <a:off x="547204" y="134645"/>
            <a:ext cx="133350" cy="134620"/>
          </a:xfrm>
          <a:custGeom>
            <a:avLst/>
            <a:gdLst/>
            <a:ahLst/>
            <a:cxnLst/>
            <a:rect l="l" t="t" r="r" b="b"/>
            <a:pathLst>
              <a:path w="133350" h="134620">
                <a:moveTo>
                  <a:pt x="132829" y="0"/>
                </a:moveTo>
                <a:lnTo>
                  <a:pt x="0" y="0"/>
                </a:lnTo>
                <a:lnTo>
                  <a:pt x="0" y="134277"/>
                </a:lnTo>
                <a:lnTo>
                  <a:pt x="66598" y="134277"/>
                </a:lnTo>
                <a:lnTo>
                  <a:pt x="132829" y="134277"/>
                </a:lnTo>
                <a:lnTo>
                  <a:pt x="132829" y="0"/>
                </a:lnTo>
                <a:close/>
              </a:path>
            </a:pathLst>
          </a:custGeom>
          <a:solidFill>
            <a:srgbClr val="9999CC"/>
          </a:solidFill>
        </p:spPr>
        <p:txBody>
          <a:bodyPr wrap="square" lIns="0" tIns="0" rIns="0" bIns="0" rtlCol="0"/>
          <a:lstStyle/>
          <a:p>
            <a:endParaRPr/>
          </a:p>
        </p:txBody>
      </p:sp>
      <p:sp>
        <p:nvSpPr>
          <p:cNvPr id="20" name="bg object 20"/>
          <p:cNvSpPr/>
          <p:nvPr/>
        </p:nvSpPr>
        <p:spPr>
          <a:xfrm>
            <a:off x="274675" y="274675"/>
            <a:ext cx="130175" cy="131445"/>
          </a:xfrm>
          <a:custGeom>
            <a:avLst/>
            <a:gdLst/>
            <a:ahLst/>
            <a:cxnLst/>
            <a:rect l="l" t="t" r="r" b="b"/>
            <a:pathLst>
              <a:path w="130175" h="131445">
                <a:moveTo>
                  <a:pt x="129603" y="0"/>
                </a:moveTo>
                <a:lnTo>
                  <a:pt x="0" y="0"/>
                </a:lnTo>
                <a:lnTo>
                  <a:pt x="0" y="131038"/>
                </a:lnTo>
                <a:lnTo>
                  <a:pt x="64808" y="131038"/>
                </a:lnTo>
                <a:lnTo>
                  <a:pt x="129603" y="131038"/>
                </a:lnTo>
                <a:lnTo>
                  <a:pt x="129603" y="0"/>
                </a:lnTo>
                <a:close/>
              </a:path>
            </a:pathLst>
          </a:custGeom>
          <a:solidFill>
            <a:srgbClr val="CCCCE5"/>
          </a:solidFill>
        </p:spPr>
        <p:txBody>
          <a:bodyPr wrap="square" lIns="0" tIns="0" rIns="0" bIns="0" rtlCol="0"/>
          <a:lstStyle/>
          <a:p>
            <a:endParaRPr/>
          </a:p>
        </p:txBody>
      </p:sp>
      <p:sp>
        <p:nvSpPr>
          <p:cNvPr id="21" name="bg object 21"/>
          <p:cNvSpPr/>
          <p:nvPr/>
        </p:nvSpPr>
        <p:spPr>
          <a:xfrm>
            <a:off x="131394" y="136436"/>
            <a:ext cx="134620" cy="131445"/>
          </a:xfrm>
          <a:custGeom>
            <a:avLst/>
            <a:gdLst/>
            <a:ahLst/>
            <a:cxnLst/>
            <a:rect l="l" t="t" r="r" b="b"/>
            <a:pathLst>
              <a:path w="134620" h="131445">
                <a:moveTo>
                  <a:pt x="134289" y="0"/>
                </a:moveTo>
                <a:lnTo>
                  <a:pt x="0" y="0"/>
                </a:lnTo>
                <a:lnTo>
                  <a:pt x="0" y="131038"/>
                </a:lnTo>
                <a:lnTo>
                  <a:pt x="67322" y="131038"/>
                </a:lnTo>
                <a:lnTo>
                  <a:pt x="134289" y="131038"/>
                </a:lnTo>
                <a:lnTo>
                  <a:pt x="134289" y="0"/>
                </a:lnTo>
                <a:close/>
              </a:path>
            </a:pathLst>
          </a:custGeom>
          <a:solidFill>
            <a:srgbClr val="00007C"/>
          </a:solidFill>
        </p:spPr>
        <p:txBody>
          <a:bodyPr wrap="square" lIns="0" tIns="0" rIns="0" bIns="0" rtlCol="0"/>
          <a:lstStyle/>
          <a:p>
            <a:endParaRPr/>
          </a:p>
        </p:txBody>
      </p:sp>
      <p:sp>
        <p:nvSpPr>
          <p:cNvPr id="22" name="bg object 22"/>
          <p:cNvSpPr/>
          <p:nvPr/>
        </p:nvSpPr>
        <p:spPr>
          <a:xfrm>
            <a:off x="274675" y="271449"/>
            <a:ext cx="266065" cy="267970"/>
          </a:xfrm>
          <a:custGeom>
            <a:avLst/>
            <a:gdLst/>
            <a:ahLst/>
            <a:cxnLst/>
            <a:rect l="l" t="t" r="r" b="b"/>
            <a:pathLst>
              <a:path w="266065" h="267970">
                <a:moveTo>
                  <a:pt x="129603" y="138226"/>
                </a:moveTo>
                <a:lnTo>
                  <a:pt x="0" y="138226"/>
                </a:lnTo>
                <a:lnTo>
                  <a:pt x="0" y="267830"/>
                </a:lnTo>
                <a:lnTo>
                  <a:pt x="64808" y="267830"/>
                </a:lnTo>
                <a:lnTo>
                  <a:pt x="129603" y="267830"/>
                </a:lnTo>
                <a:lnTo>
                  <a:pt x="129603" y="138226"/>
                </a:lnTo>
                <a:close/>
              </a:path>
              <a:path w="266065" h="267970">
                <a:moveTo>
                  <a:pt x="266039" y="0"/>
                </a:moveTo>
                <a:lnTo>
                  <a:pt x="135001" y="0"/>
                </a:lnTo>
                <a:lnTo>
                  <a:pt x="135001" y="131025"/>
                </a:lnTo>
                <a:lnTo>
                  <a:pt x="200520" y="131025"/>
                </a:lnTo>
                <a:lnTo>
                  <a:pt x="266039" y="131025"/>
                </a:lnTo>
                <a:lnTo>
                  <a:pt x="266039" y="0"/>
                </a:lnTo>
                <a:close/>
              </a:path>
            </a:pathLst>
          </a:custGeom>
          <a:solidFill>
            <a:srgbClr val="9999CC"/>
          </a:solidFill>
        </p:spPr>
        <p:txBody>
          <a:bodyPr wrap="square" lIns="0" tIns="0" rIns="0" bIns="0" rtlCol="0"/>
          <a:lstStyle/>
          <a:p>
            <a:endParaRPr/>
          </a:p>
        </p:txBody>
      </p:sp>
      <p:sp>
        <p:nvSpPr>
          <p:cNvPr id="2" name="Holder 2"/>
          <p:cNvSpPr>
            <a:spLocks noGrp="1"/>
          </p:cNvSpPr>
          <p:nvPr>
            <p:ph type="title"/>
          </p:nvPr>
        </p:nvSpPr>
        <p:spPr>
          <a:xfrm>
            <a:off x="534504" y="793699"/>
            <a:ext cx="5055235" cy="695960"/>
          </a:xfrm>
          <a:prstGeom prst="rect">
            <a:avLst/>
          </a:prstGeom>
        </p:spPr>
        <p:txBody>
          <a:bodyPr wrap="square" lIns="0" tIns="0" rIns="0" bIns="0">
            <a:spAutoFit/>
          </a:bodyPr>
          <a:lstStyle>
            <a:lvl1pPr>
              <a:defRPr sz="4400" b="0" i="0">
                <a:solidFill>
                  <a:schemeClr val="tx1"/>
                </a:solidFill>
                <a:latin typeface="Arial MT"/>
                <a:cs typeface="Arial MT"/>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5C4110-A8DD-4359-BDEF-D960891EE31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1A8E99-7EA2-46AF-B01E-FA0CC6994A8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D7E9DF-7781-4F54-AA06-6BE29C64247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6/29/2026</a:t>
            </a:fld>
            <a:endParaRPr lang="en-US"/>
          </a:p>
        </p:txBody>
      </p:sp>
      <p:sp>
        <p:nvSpPr>
          <p:cNvPr id="5" name="Footer Placeholder 4">
            <a:extLst>
              <a:ext uri="{FF2B5EF4-FFF2-40B4-BE49-F238E27FC236}">
                <a16:creationId xmlns:a16="http://schemas.microsoft.com/office/drawing/2014/main" id="{D26802B6-6D78-44EA-BA38-FCC59DEF423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FFC9F3-539D-4A2E-B312-67D4808887C6}"/>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10416352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9104" y="2270785"/>
            <a:ext cx="3560445" cy="452755"/>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FFFFFF"/>
                </a:solidFill>
                <a:latin typeface="Arial MT"/>
                <a:cs typeface="Arial MT"/>
              </a:rPr>
              <a:t>Multimedia</a:t>
            </a:r>
            <a:r>
              <a:rPr sz="2800" spc="-160" dirty="0">
                <a:solidFill>
                  <a:srgbClr val="FFFFFF"/>
                </a:solidFill>
                <a:latin typeface="Arial MT"/>
                <a:cs typeface="Arial MT"/>
              </a:rPr>
              <a:t> </a:t>
            </a:r>
            <a:r>
              <a:rPr sz="2800" spc="-10" dirty="0">
                <a:solidFill>
                  <a:srgbClr val="FFFFFF"/>
                </a:solidFill>
                <a:latin typeface="Arial MT"/>
                <a:cs typeface="Arial MT"/>
              </a:rPr>
              <a:t>Computing</a:t>
            </a:r>
            <a:endParaRPr sz="2800">
              <a:latin typeface="Arial MT"/>
              <a:cs typeface="Arial MT"/>
            </a:endParaRPr>
          </a:p>
        </p:txBody>
      </p:sp>
      <p:sp>
        <p:nvSpPr>
          <p:cNvPr id="3" name="object 3" descr="$PPTXTitle"/>
          <p:cNvSpPr txBox="1">
            <a:spLocks noGrp="1"/>
          </p:cNvSpPr>
          <p:nvPr>
            <p:ph type="title"/>
          </p:nvPr>
        </p:nvSpPr>
        <p:spPr>
          <a:xfrm>
            <a:off x="3049104" y="2752102"/>
            <a:ext cx="47244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rPr>
              <a:t>Lecture</a:t>
            </a:r>
            <a:r>
              <a:rPr sz="3600" spc="-20" dirty="0">
                <a:solidFill>
                  <a:srgbClr val="FFFFFF"/>
                </a:solidFill>
              </a:rPr>
              <a:t> </a:t>
            </a:r>
            <a:r>
              <a:rPr sz="3600" dirty="0">
                <a:solidFill>
                  <a:srgbClr val="FFFFFF"/>
                </a:solidFill>
              </a:rPr>
              <a:t>1</a:t>
            </a:r>
            <a:r>
              <a:rPr sz="3600" spc="-10" dirty="0">
                <a:solidFill>
                  <a:srgbClr val="FFFFFF"/>
                </a:solidFill>
              </a:rPr>
              <a:t> </a:t>
            </a:r>
            <a:r>
              <a:rPr sz="3600" dirty="0">
                <a:solidFill>
                  <a:srgbClr val="FFFFFF"/>
                </a:solidFill>
              </a:rPr>
              <a:t>-</a:t>
            </a:r>
            <a:r>
              <a:rPr sz="3600" spc="-10" dirty="0">
                <a:solidFill>
                  <a:srgbClr val="FFFFFF"/>
                </a:solidFill>
              </a:rPr>
              <a:t> Introduction</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D157-CBA1-4795-8805-A34C677D4241}"/>
              </a:ext>
            </a:extLst>
          </p:cNvPr>
          <p:cNvSpPr>
            <a:spLocks noGrp="1"/>
          </p:cNvSpPr>
          <p:nvPr>
            <p:ph type="title"/>
          </p:nvPr>
        </p:nvSpPr>
        <p:spPr>
          <a:xfrm>
            <a:off x="228600" y="457200"/>
            <a:ext cx="8686800" cy="6771084"/>
          </a:xfrm>
        </p:spPr>
        <p:txBody>
          <a:bodyPr/>
          <a:lstStyle/>
          <a:p>
            <a:r>
              <a:rPr lang="en-US" sz="2000" b="1" dirty="0">
                <a:latin typeface="+mn-lt"/>
              </a:rPr>
              <a:t>Scope of Multimedia Computing Courses in Today's World</a:t>
            </a:r>
            <a:br>
              <a:rPr lang="en-US" sz="2000" b="1" dirty="0">
                <a:latin typeface="+mn-lt"/>
              </a:rPr>
            </a:br>
            <a:r>
              <a:rPr lang="en-US" sz="2000" b="1" dirty="0">
                <a:latin typeface="+mn-lt"/>
              </a:rPr>
              <a:t>Multimedia Computing</a:t>
            </a:r>
            <a:r>
              <a:rPr lang="en-US" sz="2000" dirty="0">
                <a:latin typeface="+mn-lt"/>
              </a:rPr>
              <a:t> is an interdisciplinary field that combines computer science, graphics, animation, audio/video processing, web technologies, artificial intelligence, virtual reality, and interactive media. With the rapid growth of digital content and emerging technologies, multimedia computing has become one of the most promising career fields.</a:t>
            </a:r>
            <a:br>
              <a:rPr lang="en-US" sz="2000" dirty="0">
                <a:latin typeface="+mn-lt"/>
              </a:rPr>
            </a:br>
            <a:r>
              <a:rPr lang="en-US" sz="2000" b="1" dirty="0"/>
              <a:t>Importance of Multimedia Computing</a:t>
            </a:r>
            <a:br>
              <a:rPr lang="en-US" sz="2000" b="1" dirty="0"/>
            </a:br>
            <a:r>
              <a:rPr lang="en-US" sz="2000" dirty="0"/>
              <a:t>Modern organizations increasingly rely on multimedia technologies for communication, education, entertainment, marketing, healthcare, and business operations. The demand for professionals who can create, manage, and analyze digital content is growing worldwide.</a:t>
            </a:r>
            <a:br>
              <a:rPr lang="en-US" sz="2000" dirty="0"/>
            </a:br>
            <a:r>
              <a:rPr lang="en-US" sz="2000" b="1" dirty="0"/>
              <a:t>Key Areas</a:t>
            </a:r>
            <a:br>
              <a:rPr lang="en-US" sz="2000" b="1" dirty="0"/>
            </a:br>
            <a:r>
              <a:rPr lang="en-US" sz="2000" dirty="0"/>
              <a:t>Digital Media Production </a:t>
            </a:r>
            <a:br>
              <a:rPr lang="en-US" sz="2000" dirty="0"/>
            </a:br>
            <a:r>
              <a:rPr lang="en-US" sz="2000" dirty="0"/>
              <a:t>Animation and Graphics Design </a:t>
            </a:r>
            <a:br>
              <a:rPr lang="en-US" sz="2000" dirty="0"/>
            </a:br>
            <a:r>
              <a:rPr lang="en-US" sz="2000" dirty="0"/>
              <a:t>Web and Mobile Application Development </a:t>
            </a:r>
            <a:br>
              <a:rPr lang="en-US" sz="2000" dirty="0"/>
            </a:br>
            <a:r>
              <a:rPr lang="en-US" sz="2000" dirty="0"/>
              <a:t>Game Development </a:t>
            </a:r>
            <a:br>
              <a:rPr lang="en-US" sz="2000" dirty="0"/>
            </a:br>
            <a:r>
              <a:rPr lang="en-US" sz="2000" dirty="0"/>
              <a:t>Artificial Intelligence in Media </a:t>
            </a:r>
            <a:br>
              <a:rPr lang="en-US" sz="2000" dirty="0"/>
            </a:br>
            <a:r>
              <a:rPr lang="en-US" sz="2000" dirty="0"/>
              <a:t>Virtual Reality (VR) and Augmented Reality (AR) </a:t>
            </a:r>
            <a:br>
              <a:rPr lang="en-US" sz="2000" dirty="0"/>
            </a:br>
            <a:r>
              <a:rPr lang="en-US" sz="2000" dirty="0"/>
              <a:t>Digital Marketing and Content Creation </a:t>
            </a:r>
            <a:br>
              <a:rPr lang="en-US" sz="2000" dirty="0"/>
            </a:br>
            <a:r>
              <a:rPr lang="en-US" sz="2000" dirty="0"/>
              <a:t>Human-Computer Interaction (HCI)</a:t>
            </a:r>
            <a:br>
              <a:rPr lang="en-US" sz="2000" dirty="0"/>
            </a:br>
            <a:br>
              <a:rPr lang="en-US" sz="2000" dirty="0">
                <a:latin typeface="+mn-lt"/>
              </a:rPr>
            </a:br>
            <a:endParaRPr lang="en-US" sz="2000" dirty="0">
              <a:latin typeface="+mn-lt"/>
            </a:endParaRPr>
          </a:p>
        </p:txBody>
      </p:sp>
    </p:spTree>
    <p:extLst>
      <p:ext uri="{BB962C8B-B14F-4D97-AF65-F5344CB8AC3E}">
        <p14:creationId xmlns:p14="http://schemas.microsoft.com/office/powerpoint/2010/main" val="1191690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C2B41-4F25-49C4-8FB3-0553BEC6C8CE}"/>
              </a:ext>
            </a:extLst>
          </p:cNvPr>
          <p:cNvSpPr>
            <a:spLocks noGrp="1"/>
          </p:cNvSpPr>
          <p:nvPr>
            <p:ph type="title"/>
          </p:nvPr>
        </p:nvSpPr>
        <p:spPr>
          <a:xfrm>
            <a:off x="381000" y="533400"/>
            <a:ext cx="7923696" cy="7078861"/>
          </a:xfrm>
        </p:spPr>
        <p:txBody>
          <a:bodyPr/>
          <a:lstStyle/>
          <a:p>
            <a:r>
              <a:rPr lang="en-US" sz="2000" b="1" dirty="0"/>
              <a:t>B. Graphics and Animation</a:t>
            </a:r>
            <a:br>
              <a:rPr lang="en-US" sz="2000" b="1" dirty="0"/>
            </a:br>
            <a:r>
              <a:rPr lang="en-US" sz="2000" dirty="0"/>
              <a:t>Graphic Designer </a:t>
            </a:r>
            <a:br>
              <a:rPr lang="en-US" sz="2000" dirty="0"/>
            </a:br>
            <a:r>
              <a:rPr lang="en-US" sz="2000" dirty="0"/>
              <a:t>2D/3D Animator </a:t>
            </a:r>
            <a:br>
              <a:rPr lang="en-US" sz="2000" dirty="0"/>
            </a:br>
            <a:r>
              <a:rPr lang="en-US" sz="2000" dirty="0"/>
              <a:t>Motion Graphics Designer </a:t>
            </a:r>
            <a:br>
              <a:rPr lang="en-US" sz="2000" dirty="0"/>
            </a:br>
            <a:r>
              <a:rPr lang="en-US" sz="2000" dirty="0"/>
              <a:t>Visual Effects (VFX) Artist </a:t>
            </a:r>
            <a:br>
              <a:rPr lang="en-US" sz="2000" dirty="0"/>
            </a:br>
            <a:r>
              <a:rPr lang="en-US" sz="2000" dirty="0"/>
              <a:t>Digital Illustrator </a:t>
            </a:r>
            <a:br>
              <a:rPr lang="en-US" sz="2000" dirty="0"/>
            </a:br>
            <a:r>
              <a:rPr lang="en-US" sz="2000" b="1" dirty="0"/>
              <a:t>C. Gaming Industry</a:t>
            </a:r>
            <a:br>
              <a:rPr lang="en-US" sz="2000" b="1" dirty="0"/>
            </a:br>
            <a:r>
              <a:rPr lang="en-US" sz="2000" dirty="0"/>
              <a:t>Game Developer </a:t>
            </a:r>
            <a:br>
              <a:rPr lang="en-US" sz="2000" dirty="0"/>
            </a:br>
            <a:r>
              <a:rPr lang="en-US" sz="2000" dirty="0"/>
              <a:t>Game Designer </a:t>
            </a:r>
            <a:br>
              <a:rPr lang="en-US" sz="2000" dirty="0"/>
            </a:br>
            <a:r>
              <a:rPr lang="en-US" sz="2000" dirty="0"/>
              <a:t>AR/VR Developer </a:t>
            </a:r>
            <a:br>
              <a:rPr lang="en-US" sz="2000" dirty="0"/>
            </a:br>
            <a:r>
              <a:rPr lang="en-US" sz="2000" dirty="0"/>
              <a:t>Interactive Media Designer </a:t>
            </a:r>
            <a:br>
              <a:rPr lang="en-US" sz="2000" dirty="0"/>
            </a:br>
            <a:r>
              <a:rPr lang="en-US" sz="2000" b="1" dirty="0"/>
              <a:t>D. Media and Entertainment</a:t>
            </a:r>
            <a:br>
              <a:rPr lang="en-US" sz="2000" b="1" dirty="0"/>
            </a:br>
            <a:r>
              <a:rPr lang="en-US" sz="2000" dirty="0"/>
              <a:t>Video Editor </a:t>
            </a:r>
            <a:br>
              <a:rPr lang="en-US" sz="2000" dirty="0"/>
            </a:br>
            <a:r>
              <a:rPr lang="en-US" sz="2000" dirty="0"/>
              <a:t>Multimedia Producer </a:t>
            </a:r>
            <a:br>
              <a:rPr lang="en-US" sz="2000" dirty="0"/>
            </a:br>
            <a:r>
              <a:rPr lang="en-US" sz="2000" dirty="0"/>
              <a:t>Content Creator </a:t>
            </a:r>
            <a:br>
              <a:rPr lang="en-US" sz="2000" dirty="0"/>
            </a:br>
            <a:r>
              <a:rPr lang="en-US" sz="2000" dirty="0"/>
              <a:t>Film and Animation Specialist </a:t>
            </a:r>
            <a:br>
              <a:rPr lang="en-US" sz="2000" dirty="0"/>
            </a:br>
            <a:r>
              <a:rPr lang="en-US" sz="2000" b="1" dirty="0"/>
              <a:t>E. Artificial Intelligence and Data Analytics</a:t>
            </a:r>
            <a:br>
              <a:rPr lang="en-US" sz="2000" b="1" dirty="0"/>
            </a:br>
            <a:r>
              <a:rPr lang="en-US" sz="2000" dirty="0"/>
              <a:t>Computer Vision Engineer </a:t>
            </a:r>
            <a:br>
              <a:rPr lang="en-US" sz="2000" dirty="0"/>
            </a:br>
            <a:r>
              <a:rPr lang="en-US" sz="2000" dirty="0"/>
              <a:t>Multimedia Data Analyst </a:t>
            </a:r>
            <a:br>
              <a:rPr lang="en-US" sz="2000" dirty="0"/>
            </a:br>
            <a:r>
              <a:rPr lang="en-US" sz="2000" dirty="0"/>
              <a:t>AI Content Developer </a:t>
            </a:r>
            <a:br>
              <a:rPr lang="en-US" sz="2000" dirty="0"/>
            </a:br>
            <a:r>
              <a:rPr lang="en-US" sz="2000" dirty="0"/>
              <a:t>Image and Video Processing Specialist</a:t>
            </a:r>
            <a:br>
              <a:rPr lang="en-US" sz="2000" dirty="0"/>
            </a:br>
            <a:endParaRPr lang="en-US" sz="2000" dirty="0"/>
          </a:p>
        </p:txBody>
      </p:sp>
    </p:spTree>
    <p:extLst>
      <p:ext uri="{BB962C8B-B14F-4D97-AF65-F5344CB8AC3E}">
        <p14:creationId xmlns:p14="http://schemas.microsoft.com/office/powerpoint/2010/main" val="566132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14718" y="1847875"/>
            <a:ext cx="8284945" cy="24727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241554" y="1828076"/>
            <a:ext cx="8503417" cy="28523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28248" y="2207045"/>
            <a:ext cx="8365288" cy="18150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6CB6E-4730-4339-AE6F-DB78F0D90984}"/>
              </a:ext>
            </a:extLst>
          </p:cNvPr>
          <p:cNvSpPr>
            <a:spLocks noGrp="1"/>
          </p:cNvSpPr>
          <p:nvPr>
            <p:ph type="ctrTitle"/>
          </p:nvPr>
        </p:nvSpPr>
        <p:spPr>
          <a:xfrm>
            <a:off x="914400" y="815760"/>
            <a:ext cx="7772400" cy="6065431"/>
          </a:xfrm>
        </p:spPr>
        <p:txBody>
          <a:bodyPr/>
          <a:lstStyle/>
          <a:p>
            <a:pPr marL="0" marR="0">
              <a:lnSpc>
                <a:spcPct val="107000"/>
              </a:lnSpc>
              <a:spcBef>
                <a:spcPts val="0"/>
              </a:spcBef>
              <a:spcAft>
                <a:spcPts val="800"/>
              </a:spcAf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Multimedia Computing is the integration of multiple forms of digital media and computing technologies to process, manage, and communicate information effectively.</a:t>
            </a:r>
            <a:b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Multimedia Computing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is the field of computer science that deals with the creation, processing, storage, transmission, and presentation of information in multiple media formats such as:</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Text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Images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Audio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Video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Animation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Graphics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Interactive content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It combines computing technologies with digital media to create rich and interactive user experiences.</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endParaRPr lang="en-US" sz="2400" dirty="0"/>
          </a:p>
        </p:txBody>
      </p:sp>
    </p:spTree>
    <p:extLst>
      <p:ext uri="{BB962C8B-B14F-4D97-AF65-F5344CB8AC3E}">
        <p14:creationId xmlns:p14="http://schemas.microsoft.com/office/powerpoint/2010/main" val="2829039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6CB6E-4730-4339-AE6F-DB78F0D90984}"/>
              </a:ext>
            </a:extLst>
          </p:cNvPr>
          <p:cNvSpPr>
            <a:spLocks noGrp="1"/>
          </p:cNvSpPr>
          <p:nvPr>
            <p:ph type="ctrTitle"/>
          </p:nvPr>
        </p:nvSpPr>
        <p:spPr>
          <a:xfrm>
            <a:off x="381000" y="609600"/>
            <a:ext cx="8763000" cy="6689203"/>
          </a:xfrm>
        </p:spPr>
        <p:txBody>
          <a:bodyPr/>
          <a:lstStyle/>
          <a:p>
            <a:pPr marL="0" marR="0">
              <a:lnSpc>
                <a:spcPct val="107000"/>
              </a:lnSpc>
              <a:spcBef>
                <a:spcPts val="0"/>
              </a:spcBef>
              <a:spcAft>
                <a:spcPts val="800"/>
              </a:spcAf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2. Evolution of Multimedia Computing</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Early Era (1960s–1980s)</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Text-based computer systems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Limited graphics capability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No multimedia integration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Multimedia Era (1990s)</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Introduction of CDs and DVDs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Audio and video playback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Interactive educational software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Modern Era (2000–Present)</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High-speed internet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Streaming services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Virtual Reality (VR)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Artificial Intelligence (AI)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Augmented Reality (AR)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Cloud Computing </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endParaRPr lang="en-US" sz="2400" dirty="0"/>
          </a:p>
        </p:txBody>
      </p:sp>
    </p:spTree>
    <p:extLst>
      <p:ext uri="{BB962C8B-B14F-4D97-AF65-F5344CB8AC3E}">
        <p14:creationId xmlns:p14="http://schemas.microsoft.com/office/powerpoint/2010/main" val="1402885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012BA-5B6E-4B2A-8911-AF23B0EA4CBD}"/>
              </a:ext>
            </a:extLst>
          </p:cNvPr>
          <p:cNvSpPr>
            <a:spLocks noGrp="1"/>
          </p:cNvSpPr>
          <p:nvPr>
            <p:ph type="ctrTitle"/>
          </p:nvPr>
        </p:nvSpPr>
        <p:spPr>
          <a:xfrm>
            <a:off x="685800" y="304800"/>
            <a:ext cx="7772400" cy="5710025"/>
          </a:xfrm>
        </p:spPr>
        <p:txBody>
          <a:bodyPr/>
          <a:lstStyle/>
          <a:p>
            <a:pPr marL="0" marR="0">
              <a:lnSpc>
                <a:spcPct val="107000"/>
              </a:lnSpc>
              <a:spcBef>
                <a:spcPts val="0"/>
              </a:spcBef>
              <a:spcAft>
                <a:spcPts val="800"/>
              </a:spcAft>
            </a:pPr>
            <a:br>
              <a:rPr lang="en-US" sz="1800" b="1" kern="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1800" dirty="0">
                <a:effectLst/>
                <a:latin typeface="Times New Roman" panose="02020603050405020304" pitchFamily="18" charset="0"/>
                <a:ea typeface="Times New Roman" panose="02020603050405020304" pitchFamily="18" charset="0"/>
                <a:cs typeface="Times New Roman" panose="02020603050405020304" pitchFamily="18" charset="0"/>
              </a:rPr>
              <a:t>Multimedia System Characteristics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multimedia system should provide:</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Integration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Different media types work together.</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Interactivity</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Users can interact with content.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Digital Representation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 media are stored digitally.</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Synchronization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Audio and video remain aligned.</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Example</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Online Zoom classes synchronize:</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Video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Audio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Text chat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Screen sharing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D1BCDBDD-0936-4408-8FBE-F393CE81EA9E}"/>
              </a:ext>
            </a:extLst>
          </p:cNvPr>
          <p:cNvSpPr>
            <a:spLocks noGrp="1"/>
          </p:cNvSpPr>
          <p:nvPr>
            <p:ph type="subTitle" idx="4"/>
          </p:nvPr>
        </p:nvSpPr>
        <p:spPr/>
        <p:txBody>
          <a:bodyPr/>
          <a:lstStyle/>
          <a:p>
            <a:endParaRPr lang="en-US"/>
          </a:p>
        </p:txBody>
      </p:sp>
    </p:spTree>
    <p:extLst>
      <p:ext uri="{BB962C8B-B14F-4D97-AF65-F5344CB8AC3E}">
        <p14:creationId xmlns:p14="http://schemas.microsoft.com/office/powerpoint/2010/main" val="3562621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Why</a:t>
            </a:r>
            <a:r>
              <a:rPr spc="-5" dirty="0"/>
              <a:t> </a:t>
            </a:r>
            <a:r>
              <a:rPr spc="-10" dirty="0"/>
              <a:t>multimedia?</a:t>
            </a:r>
          </a:p>
        </p:txBody>
      </p:sp>
      <p:pic>
        <p:nvPicPr>
          <p:cNvPr id="3" name="object 3"/>
          <p:cNvPicPr/>
          <p:nvPr/>
        </p:nvPicPr>
        <p:blipFill>
          <a:blip r:embed="rId2" cstate="print"/>
          <a:stretch>
            <a:fillRect/>
          </a:stretch>
        </p:blipFill>
        <p:spPr>
          <a:xfrm>
            <a:off x="228600" y="766432"/>
            <a:ext cx="7541996" cy="54871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Why</a:t>
            </a:r>
            <a:r>
              <a:rPr spc="-5" dirty="0"/>
              <a:t> </a:t>
            </a:r>
            <a:r>
              <a:rPr spc="-10" dirty="0"/>
              <a:t>multimedia?</a:t>
            </a:r>
          </a:p>
        </p:txBody>
      </p:sp>
      <p:pic>
        <p:nvPicPr>
          <p:cNvPr id="3" name="object 3"/>
          <p:cNvPicPr/>
          <p:nvPr/>
        </p:nvPicPr>
        <p:blipFill>
          <a:blip r:embed="rId2" cstate="print"/>
          <a:stretch>
            <a:fillRect/>
          </a:stretch>
        </p:blipFill>
        <p:spPr>
          <a:xfrm>
            <a:off x="228600" y="708482"/>
            <a:ext cx="7084796" cy="56390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Why</a:t>
            </a:r>
            <a:r>
              <a:rPr spc="-5" dirty="0"/>
              <a:t> </a:t>
            </a:r>
            <a:r>
              <a:rPr spc="-10" dirty="0"/>
              <a:t>multimedia?</a:t>
            </a:r>
          </a:p>
        </p:txBody>
      </p:sp>
      <p:pic>
        <p:nvPicPr>
          <p:cNvPr id="3" name="object 3"/>
          <p:cNvPicPr/>
          <p:nvPr/>
        </p:nvPicPr>
        <p:blipFill>
          <a:blip r:embed="rId2" cstate="print"/>
          <a:stretch>
            <a:fillRect/>
          </a:stretch>
        </p:blipFill>
        <p:spPr>
          <a:xfrm>
            <a:off x="287997" y="913688"/>
            <a:ext cx="8396998" cy="546299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Why</a:t>
            </a:r>
            <a:r>
              <a:rPr spc="-5" dirty="0"/>
              <a:t> </a:t>
            </a:r>
            <a:r>
              <a:rPr spc="-10" dirty="0"/>
              <a:t>multimedia?</a:t>
            </a:r>
          </a:p>
        </p:txBody>
      </p:sp>
      <p:pic>
        <p:nvPicPr>
          <p:cNvPr id="3" name="object 3"/>
          <p:cNvPicPr/>
          <p:nvPr/>
        </p:nvPicPr>
        <p:blipFill>
          <a:blip r:embed="rId2" cstate="print"/>
          <a:stretch>
            <a:fillRect/>
          </a:stretch>
        </p:blipFill>
        <p:spPr>
          <a:xfrm>
            <a:off x="228955" y="685444"/>
            <a:ext cx="7084441" cy="5722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Why</a:t>
            </a:r>
            <a:r>
              <a:rPr spc="-5" dirty="0"/>
              <a:t> </a:t>
            </a:r>
            <a:r>
              <a:rPr spc="-10" dirty="0"/>
              <a:t>multimedia?</a:t>
            </a:r>
          </a:p>
        </p:txBody>
      </p:sp>
      <p:pic>
        <p:nvPicPr>
          <p:cNvPr id="3" name="object 3"/>
          <p:cNvPicPr/>
          <p:nvPr/>
        </p:nvPicPr>
        <p:blipFill>
          <a:blip r:embed="rId2" cstate="print"/>
          <a:stretch>
            <a:fillRect/>
          </a:stretch>
        </p:blipFill>
        <p:spPr>
          <a:xfrm>
            <a:off x="457200" y="685444"/>
            <a:ext cx="7084796" cy="5448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Why</a:t>
            </a:r>
            <a:r>
              <a:rPr spc="-5" dirty="0"/>
              <a:t> </a:t>
            </a:r>
            <a:r>
              <a:rPr spc="-10" dirty="0"/>
              <a:t>multimedia?</a:t>
            </a:r>
          </a:p>
        </p:txBody>
      </p:sp>
      <p:pic>
        <p:nvPicPr>
          <p:cNvPr id="3" name="object 3"/>
          <p:cNvPicPr/>
          <p:nvPr/>
        </p:nvPicPr>
        <p:blipFill>
          <a:blip r:embed="rId2" cstate="print"/>
          <a:stretch>
            <a:fillRect/>
          </a:stretch>
        </p:blipFill>
        <p:spPr>
          <a:xfrm>
            <a:off x="228600" y="685076"/>
            <a:ext cx="7770596" cy="59774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Why</a:t>
            </a:r>
            <a:r>
              <a:rPr spc="-5" dirty="0"/>
              <a:t> </a:t>
            </a:r>
            <a:r>
              <a:rPr spc="-10" dirty="0"/>
              <a:t>multimedia?</a:t>
            </a:r>
          </a:p>
        </p:txBody>
      </p:sp>
      <p:pic>
        <p:nvPicPr>
          <p:cNvPr id="3" name="object 3"/>
          <p:cNvPicPr/>
          <p:nvPr/>
        </p:nvPicPr>
        <p:blipFill>
          <a:blip r:embed="rId2" cstate="print"/>
          <a:stretch>
            <a:fillRect/>
          </a:stretch>
        </p:blipFill>
        <p:spPr>
          <a:xfrm>
            <a:off x="228600" y="685444"/>
            <a:ext cx="7313396" cy="59065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390956" y="615950"/>
            <a:ext cx="7151039" cy="55224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228600" y="456844"/>
            <a:ext cx="7608239" cy="46843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371881" y="752398"/>
            <a:ext cx="7855915" cy="49604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Hypertext</a:t>
            </a:r>
          </a:p>
        </p:txBody>
      </p:sp>
      <p:pic>
        <p:nvPicPr>
          <p:cNvPr id="3" name="object 3"/>
          <p:cNvPicPr/>
          <p:nvPr/>
        </p:nvPicPr>
        <p:blipFill>
          <a:blip r:embed="rId2" cstate="print"/>
          <a:stretch>
            <a:fillRect/>
          </a:stretch>
        </p:blipFill>
        <p:spPr>
          <a:xfrm>
            <a:off x="190804" y="1599844"/>
            <a:ext cx="6399676" cy="47292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Hypertext</a:t>
            </a:r>
          </a:p>
        </p:txBody>
      </p:sp>
      <p:pic>
        <p:nvPicPr>
          <p:cNvPr id="3" name="object 3"/>
          <p:cNvPicPr/>
          <p:nvPr/>
        </p:nvPicPr>
        <p:blipFill>
          <a:blip r:embed="rId2" cstate="print"/>
          <a:stretch>
            <a:fillRect/>
          </a:stretch>
        </p:blipFill>
        <p:spPr>
          <a:xfrm>
            <a:off x="675005" y="1717205"/>
            <a:ext cx="6622784" cy="41220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Hypermedia</a:t>
            </a:r>
          </a:p>
        </p:txBody>
      </p:sp>
      <p:pic>
        <p:nvPicPr>
          <p:cNvPr id="3" name="object 3"/>
          <p:cNvPicPr/>
          <p:nvPr/>
        </p:nvPicPr>
        <p:blipFill>
          <a:blip r:embed="rId2" cstate="print"/>
          <a:stretch>
            <a:fillRect/>
          </a:stretch>
        </p:blipFill>
        <p:spPr>
          <a:xfrm>
            <a:off x="228600" y="1970802"/>
            <a:ext cx="7727300" cy="456723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Multimedia</a:t>
            </a:r>
            <a:r>
              <a:rPr spc="-160" dirty="0"/>
              <a:t> </a:t>
            </a:r>
            <a:r>
              <a:rPr spc="-10" dirty="0"/>
              <a:t>System</a:t>
            </a:r>
          </a:p>
        </p:txBody>
      </p:sp>
      <p:pic>
        <p:nvPicPr>
          <p:cNvPr id="3" name="object 3"/>
          <p:cNvPicPr/>
          <p:nvPr/>
        </p:nvPicPr>
        <p:blipFill>
          <a:blip r:embed="rId2" cstate="print"/>
          <a:stretch>
            <a:fillRect/>
          </a:stretch>
        </p:blipFill>
        <p:spPr>
          <a:xfrm>
            <a:off x="626502" y="2037061"/>
            <a:ext cx="7936260" cy="310498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Multimedia</a:t>
            </a:r>
            <a:r>
              <a:rPr spc="-160" dirty="0"/>
              <a:t> </a:t>
            </a:r>
            <a:r>
              <a:rPr spc="-10" dirty="0"/>
              <a:t>System</a:t>
            </a:r>
          </a:p>
        </p:txBody>
      </p:sp>
      <p:pic>
        <p:nvPicPr>
          <p:cNvPr id="3" name="object 3"/>
          <p:cNvPicPr/>
          <p:nvPr/>
        </p:nvPicPr>
        <p:blipFill>
          <a:blip r:embed="rId2" cstate="print"/>
          <a:stretch>
            <a:fillRect/>
          </a:stretch>
        </p:blipFill>
        <p:spPr>
          <a:xfrm>
            <a:off x="343077" y="857161"/>
            <a:ext cx="7884718" cy="485567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Multimedia</a:t>
            </a:r>
            <a:r>
              <a:rPr spc="-160" dirty="0"/>
              <a:t> </a:t>
            </a:r>
            <a:r>
              <a:rPr spc="-10" dirty="0"/>
              <a:t>System</a:t>
            </a:r>
          </a:p>
        </p:txBody>
      </p:sp>
      <p:pic>
        <p:nvPicPr>
          <p:cNvPr id="3" name="object 3"/>
          <p:cNvPicPr/>
          <p:nvPr/>
        </p:nvPicPr>
        <p:blipFill>
          <a:blip r:embed="rId2" cstate="print"/>
          <a:stretch>
            <a:fillRect/>
          </a:stretch>
        </p:blipFill>
        <p:spPr>
          <a:xfrm>
            <a:off x="495719" y="456844"/>
            <a:ext cx="7274877" cy="4807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1600200"/>
            <a:ext cx="8170667" cy="315269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2659"/>
            <a:ext cx="7772400" cy="1470025"/>
          </a:xfrm>
        </p:spPr>
        <p:txBody>
          <a:bodyPr/>
          <a:lstStyle/>
          <a:p>
            <a:r>
              <a:rPr dirty="0"/>
              <a:t>Challenges of Multimedia Computing</a:t>
            </a:r>
          </a:p>
        </p:txBody>
      </p:sp>
      <p:sp>
        <p:nvSpPr>
          <p:cNvPr id="3" name="Subtitle 2"/>
          <p:cNvSpPr>
            <a:spLocks noGrp="1"/>
          </p:cNvSpPr>
          <p:nvPr>
            <p:ph type="subTitle" idx="1"/>
          </p:nvPr>
        </p:nvSpPr>
        <p:spPr>
          <a:xfrm>
            <a:off x="533400" y="2743200"/>
            <a:ext cx="7901609" cy="4356653"/>
          </a:xfrm>
        </p:spPr>
        <p:txBody>
          <a:bodyPr>
            <a:normAutofit/>
          </a:bodyPr>
          <a:lstStyle/>
          <a:p>
            <a:r>
              <a:rPr lang="en-US" sz="2400" dirty="0"/>
              <a:t>Challenges of Multimedia Computing Multimedia Computing combines text, images, audio, video, animation, graphics, and interactive technologies to create, process, store, and transmit digital content. Although it has revolutionized communication, education, entertainment, healthcare, and business, it also faces several technical, economic, security, and ethical challenges.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Large Data Storage</a:t>
            </a:r>
          </a:p>
        </p:txBody>
      </p:sp>
      <p:sp>
        <p:nvSpPr>
          <p:cNvPr id="3" name="Content Placeholder 2"/>
          <p:cNvSpPr>
            <a:spLocks noGrp="1"/>
          </p:cNvSpPr>
          <p:nvPr>
            <p:ph idx="1"/>
          </p:nvPr>
        </p:nvSpPr>
        <p:spPr>
          <a:xfrm>
            <a:off x="457200" y="1222514"/>
            <a:ext cx="8229600" cy="4903650"/>
          </a:xfrm>
        </p:spPr>
        <p:txBody>
          <a:bodyPr>
            <a:noAutofit/>
          </a:bodyPr>
          <a:lstStyle/>
          <a:p>
            <a:pPr>
              <a:defRPr sz="2200"/>
            </a:pPr>
            <a:r>
              <a:rPr sz="2000" dirty="0"/>
              <a:t>Huge files</a:t>
            </a:r>
          </a:p>
          <a:p>
            <a:pPr>
              <a:defRPr sz="2200"/>
            </a:pPr>
            <a:r>
              <a:rPr sz="2000" dirty="0"/>
              <a:t>Storage cost</a:t>
            </a:r>
          </a:p>
          <a:p>
            <a:pPr>
              <a:defRPr sz="2200"/>
            </a:pPr>
            <a:r>
              <a:rPr sz="2000" dirty="0"/>
              <a:t>Cloud storage</a:t>
            </a:r>
          </a:p>
          <a:p>
            <a:pPr>
              <a:defRPr sz="2200"/>
            </a:pPr>
            <a:r>
              <a:rPr sz="2000" dirty="0"/>
              <a:t>Compression</a:t>
            </a:r>
            <a:endParaRPr lang="en-US" sz="2000" dirty="0"/>
          </a:p>
          <a:p>
            <a:r>
              <a:rPr lang="en-US" sz="2000" dirty="0"/>
              <a:t>Multimedia files such as high-definition (HD), 4K, and 8K videos, high-resolution images, and 3D models require significant storage capacity.</a:t>
            </a:r>
          </a:p>
          <a:p>
            <a:r>
              <a:rPr lang="en-US" sz="2000" b="1" dirty="0"/>
              <a:t>Challenges</a:t>
            </a:r>
          </a:p>
          <a:p>
            <a:pPr>
              <a:buFont typeface="Arial" panose="020B0604020202020204" pitchFamily="34" charset="0"/>
              <a:buChar char="•"/>
            </a:pPr>
            <a:r>
              <a:rPr lang="en-US" sz="2000" dirty="0"/>
              <a:t>Large file sizes </a:t>
            </a:r>
          </a:p>
          <a:p>
            <a:pPr>
              <a:buFont typeface="Arial" panose="020B0604020202020204" pitchFamily="34" charset="0"/>
              <a:buChar char="•"/>
            </a:pPr>
            <a:r>
              <a:rPr lang="en-US" sz="2000" dirty="0"/>
              <a:t>Increased storage costs </a:t>
            </a:r>
          </a:p>
          <a:p>
            <a:pPr>
              <a:buFont typeface="Arial" panose="020B0604020202020204" pitchFamily="34" charset="0"/>
              <a:buChar char="•"/>
            </a:pPr>
            <a:r>
              <a:rPr lang="en-US" sz="2000" dirty="0"/>
              <a:t>Backup and recovery complexity </a:t>
            </a:r>
          </a:p>
          <a:p>
            <a:pPr>
              <a:buFont typeface="Arial" panose="020B0604020202020204" pitchFamily="34" charset="0"/>
              <a:buChar char="•"/>
            </a:pPr>
            <a:r>
              <a:rPr lang="en-US" sz="2000" dirty="0"/>
              <a:t>Efficient database management </a:t>
            </a:r>
          </a:p>
          <a:p>
            <a:r>
              <a:rPr lang="en-US" sz="2000" b="1" dirty="0"/>
              <a:t>Example</a:t>
            </a:r>
          </a:p>
          <a:p>
            <a:pPr>
              <a:buFont typeface="Arial" panose="020B0604020202020204" pitchFamily="34" charset="0"/>
              <a:buChar char="•"/>
            </a:pPr>
            <a:r>
              <a:rPr lang="en-US" sz="2000" dirty="0"/>
              <a:t>A one-hour 4K video can occupy </a:t>
            </a:r>
            <a:r>
              <a:rPr lang="en-US" sz="2000" b="1" dirty="0"/>
              <a:t>20–50 GB</a:t>
            </a:r>
            <a:r>
              <a:rPr lang="en-US" sz="2000" dirty="0"/>
              <a:t> depending on the compression format.</a:t>
            </a:r>
          </a:p>
          <a:p>
            <a:pPr marL="0" indent="0">
              <a:buNone/>
              <a:defRPr sz="2200"/>
            </a:pPr>
            <a:endParaRPr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Bandwidth</a:t>
            </a:r>
          </a:p>
        </p:txBody>
      </p:sp>
      <p:sp>
        <p:nvSpPr>
          <p:cNvPr id="3" name="Content Placeholder 2"/>
          <p:cNvSpPr>
            <a:spLocks noGrp="1"/>
          </p:cNvSpPr>
          <p:nvPr>
            <p:ph idx="1"/>
          </p:nvPr>
        </p:nvSpPr>
        <p:spPr/>
        <p:txBody>
          <a:bodyPr>
            <a:normAutofit/>
          </a:bodyPr>
          <a:lstStyle/>
          <a:p>
            <a:r>
              <a:rPr lang="en-US" dirty="0"/>
              <a:t>Multimedia applications require fast and reliable networks to transmit large amounts of data.</a:t>
            </a:r>
          </a:p>
          <a:p>
            <a:r>
              <a:rPr lang="en-US" b="1" dirty="0"/>
              <a:t>Challenges</a:t>
            </a:r>
          </a:p>
          <a:p>
            <a:pPr>
              <a:buFont typeface="Arial" panose="020B0604020202020204" pitchFamily="34" charset="0"/>
              <a:buChar char="•"/>
            </a:pPr>
            <a:r>
              <a:rPr lang="en-US" dirty="0"/>
              <a:t>Slow internet speeds </a:t>
            </a:r>
          </a:p>
          <a:p>
            <a:pPr>
              <a:buFont typeface="Arial" panose="020B0604020202020204" pitchFamily="34" charset="0"/>
              <a:buChar char="•"/>
            </a:pPr>
            <a:r>
              <a:rPr lang="en-US" dirty="0"/>
              <a:t>Network congestion </a:t>
            </a:r>
          </a:p>
          <a:p>
            <a:pPr>
              <a:buFont typeface="Arial" panose="020B0604020202020204" pitchFamily="34" charset="0"/>
              <a:buChar char="•"/>
            </a:pPr>
            <a:r>
              <a:rPr lang="en-US" dirty="0"/>
              <a:t>Buffering during video streaming </a:t>
            </a:r>
          </a:p>
          <a:p>
            <a:pPr>
              <a:buFont typeface="Arial" panose="020B0604020202020204" pitchFamily="34" charset="0"/>
              <a:buChar char="•"/>
            </a:pPr>
            <a:r>
              <a:rPr lang="en-US" dirty="0"/>
              <a:t>Packet loss </a:t>
            </a:r>
          </a:p>
          <a:p>
            <a:r>
              <a:rPr lang="en-US" b="1" dirty="0"/>
              <a:t>Example</a:t>
            </a:r>
          </a:p>
          <a:p>
            <a:pPr>
              <a:buFont typeface="Arial" panose="020B0604020202020204" pitchFamily="34" charset="0"/>
              <a:buChar char="•"/>
            </a:pPr>
            <a:r>
              <a:rPr lang="en-US" dirty="0"/>
              <a:t>Live video conferencing requires stable bandwidth to maintain video and audio quality.</a:t>
            </a:r>
          </a:p>
          <a:p>
            <a:pPr marL="0" indent="0">
              <a:buNone/>
              <a:defRPr sz="2200"/>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Compression</a:t>
            </a:r>
          </a:p>
        </p:txBody>
      </p:sp>
      <p:sp>
        <p:nvSpPr>
          <p:cNvPr id="3" name="Content Placeholder 2"/>
          <p:cNvSpPr>
            <a:spLocks noGrp="1"/>
          </p:cNvSpPr>
          <p:nvPr>
            <p:ph idx="1"/>
          </p:nvPr>
        </p:nvSpPr>
        <p:spPr/>
        <p:txBody>
          <a:bodyPr>
            <a:normAutofit/>
          </a:bodyPr>
          <a:lstStyle/>
          <a:p>
            <a:r>
              <a:rPr lang="en-US" dirty="0"/>
              <a:t>Efficient compression is essential to reduce storage requirements and transmission time while maintaining acceptable quality.</a:t>
            </a:r>
          </a:p>
          <a:p>
            <a:r>
              <a:rPr lang="en-US" b="1" dirty="0"/>
              <a:t>Challenges</a:t>
            </a:r>
          </a:p>
          <a:p>
            <a:pPr>
              <a:buFont typeface="Arial" panose="020B0604020202020204" pitchFamily="34" charset="0"/>
              <a:buChar char="•"/>
            </a:pPr>
            <a:r>
              <a:rPr lang="en-US" dirty="0"/>
              <a:t>Balancing compression ratio and quality </a:t>
            </a:r>
          </a:p>
          <a:p>
            <a:pPr>
              <a:buFont typeface="Arial" panose="020B0604020202020204" pitchFamily="34" charset="0"/>
              <a:buChar char="•"/>
            </a:pPr>
            <a:r>
              <a:rPr lang="en-US" dirty="0"/>
              <a:t>Compression artifacts </a:t>
            </a:r>
          </a:p>
          <a:p>
            <a:pPr>
              <a:buFont typeface="Arial" panose="020B0604020202020204" pitchFamily="34" charset="0"/>
              <a:buChar char="•"/>
            </a:pPr>
            <a:r>
              <a:rPr lang="en-US" dirty="0"/>
              <a:t>Increased processing time </a:t>
            </a:r>
          </a:p>
          <a:p>
            <a:r>
              <a:rPr lang="en-US" b="1" dirty="0"/>
              <a:t>Common Compression Standards</a:t>
            </a:r>
          </a:p>
          <a:p>
            <a:pPr>
              <a:buFont typeface="Arial" panose="020B0604020202020204" pitchFamily="34" charset="0"/>
              <a:buChar char="•"/>
            </a:pPr>
            <a:r>
              <a:rPr lang="en-US" dirty="0"/>
              <a:t>Images: JPEG, PNG, </a:t>
            </a:r>
            <a:r>
              <a:rPr lang="en-US" dirty="0" err="1"/>
              <a:t>WebP</a:t>
            </a:r>
            <a:r>
              <a:rPr lang="en-US" dirty="0"/>
              <a:t> </a:t>
            </a:r>
          </a:p>
          <a:p>
            <a:pPr>
              <a:buFont typeface="Arial" panose="020B0604020202020204" pitchFamily="34" charset="0"/>
              <a:buChar char="•"/>
            </a:pPr>
            <a:r>
              <a:rPr lang="en-US" dirty="0"/>
              <a:t>Audio: MP3, AAC </a:t>
            </a:r>
          </a:p>
          <a:p>
            <a:pPr>
              <a:buFont typeface="Arial" panose="020B0604020202020204" pitchFamily="34" charset="0"/>
              <a:buChar char="•"/>
            </a:pPr>
            <a:r>
              <a:rPr lang="en-US" dirty="0"/>
              <a:t>Video: H.264, H.265 (HEVC), AV1</a:t>
            </a:r>
          </a:p>
          <a:p>
            <a:pPr>
              <a:defRPr sz="2200"/>
            </a:pP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Real-Time Processing</a:t>
            </a:r>
          </a:p>
        </p:txBody>
      </p:sp>
      <p:sp>
        <p:nvSpPr>
          <p:cNvPr id="3" name="Content Placeholder 2"/>
          <p:cNvSpPr>
            <a:spLocks noGrp="1"/>
          </p:cNvSpPr>
          <p:nvPr>
            <p:ph idx="1"/>
          </p:nvPr>
        </p:nvSpPr>
        <p:spPr/>
        <p:txBody>
          <a:bodyPr>
            <a:normAutofit/>
          </a:bodyPr>
          <a:lstStyle/>
          <a:p>
            <a:r>
              <a:rPr lang="en-US" dirty="0"/>
              <a:t>Many multimedia applications require immediate processing and delivery.</a:t>
            </a:r>
          </a:p>
          <a:p>
            <a:r>
              <a:rPr lang="en-US" b="1" dirty="0"/>
              <a:t>Applications</a:t>
            </a:r>
          </a:p>
          <a:p>
            <a:pPr>
              <a:buFont typeface="Arial" panose="020B0604020202020204" pitchFamily="34" charset="0"/>
              <a:buChar char="•"/>
            </a:pPr>
            <a:r>
              <a:rPr lang="en-US" dirty="0"/>
              <a:t>Video conferencing </a:t>
            </a:r>
          </a:p>
          <a:p>
            <a:pPr>
              <a:buFont typeface="Arial" panose="020B0604020202020204" pitchFamily="34" charset="0"/>
              <a:buChar char="•"/>
            </a:pPr>
            <a:r>
              <a:rPr lang="en-US" dirty="0"/>
              <a:t>Online gaming </a:t>
            </a:r>
          </a:p>
          <a:p>
            <a:pPr>
              <a:buFont typeface="Arial" panose="020B0604020202020204" pitchFamily="34" charset="0"/>
              <a:buChar char="•"/>
            </a:pPr>
            <a:r>
              <a:rPr lang="en-US" dirty="0"/>
              <a:t>Live broadcasting </a:t>
            </a:r>
          </a:p>
          <a:p>
            <a:pPr>
              <a:buFont typeface="Arial" panose="020B0604020202020204" pitchFamily="34" charset="0"/>
              <a:buChar char="•"/>
            </a:pPr>
            <a:r>
              <a:rPr lang="en-US" dirty="0"/>
              <a:t>Virtual Reality (VR) </a:t>
            </a:r>
          </a:p>
          <a:p>
            <a:r>
              <a:rPr lang="en-US" b="1" dirty="0"/>
              <a:t>Challenges</a:t>
            </a:r>
          </a:p>
          <a:p>
            <a:pPr>
              <a:buFont typeface="Arial" panose="020B0604020202020204" pitchFamily="34" charset="0"/>
              <a:buChar char="•"/>
            </a:pPr>
            <a:r>
              <a:rPr lang="en-US" dirty="0"/>
              <a:t>Low latency </a:t>
            </a:r>
          </a:p>
          <a:p>
            <a:pPr>
              <a:buFont typeface="Arial" panose="020B0604020202020204" pitchFamily="34" charset="0"/>
              <a:buChar char="•"/>
            </a:pPr>
            <a:r>
              <a:rPr lang="en-US" dirty="0"/>
              <a:t>Synchronization </a:t>
            </a:r>
          </a:p>
          <a:p>
            <a:pPr>
              <a:buFont typeface="Arial" panose="020B0604020202020204" pitchFamily="34" charset="0"/>
              <a:buChar char="•"/>
            </a:pPr>
            <a:r>
              <a:rPr lang="en-US" dirty="0"/>
              <a:t>High computational requirements</a:t>
            </a:r>
          </a:p>
          <a:p>
            <a:pPr>
              <a:defRPr sz="2200"/>
            </a:pP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Synchronization</a:t>
            </a:r>
          </a:p>
        </p:txBody>
      </p:sp>
      <p:sp>
        <p:nvSpPr>
          <p:cNvPr id="3" name="Content Placeholder 2"/>
          <p:cNvSpPr>
            <a:spLocks noGrp="1"/>
          </p:cNvSpPr>
          <p:nvPr>
            <p:ph idx="1"/>
          </p:nvPr>
        </p:nvSpPr>
        <p:spPr/>
        <p:txBody>
          <a:bodyPr>
            <a:normAutofit/>
          </a:bodyPr>
          <a:lstStyle/>
          <a:p>
            <a:r>
              <a:rPr lang="en-US" dirty="0"/>
              <a:t>Audio and video streams must remain synchronized during playback.</a:t>
            </a:r>
          </a:p>
          <a:p>
            <a:r>
              <a:rPr lang="en-US" b="1" dirty="0"/>
              <a:t>Challenges</a:t>
            </a:r>
          </a:p>
          <a:p>
            <a:pPr>
              <a:buFont typeface="Arial" panose="020B0604020202020204" pitchFamily="34" charset="0"/>
              <a:buChar char="•"/>
            </a:pPr>
            <a:r>
              <a:rPr lang="en-US" dirty="0"/>
              <a:t>Network delays </a:t>
            </a:r>
          </a:p>
          <a:p>
            <a:pPr>
              <a:buFont typeface="Arial" panose="020B0604020202020204" pitchFamily="34" charset="0"/>
              <a:buChar char="•"/>
            </a:pPr>
            <a:r>
              <a:rPr lang="en-US" dirty="0"/>
              <a:t>Buffering </a:t>
            </a:r>
          </a:p>
          <a:p>
            <a:pPr>
              <a:buFont typeface="Arial" panose="020B0604020202020204" pitchFamily="34" charset="0"/>
              <a:buChar char="•"/>
            </a:pPr>
            <a:r>
              <a:rPr lang="en-US" dirty="0"/>
              <a:t>Clock synchronization errors </a:t>
            </a:r>
          </a:p>
          <a:p>
            <a:r>
              <a:rPr lang="en-US" b="1" dirty="0"/>
              <a:t>Example</a:t>
            </a:r>
          </a:p>
          <a:p>
            <a:pPr>
              <a:buFont typeface="Arial" panose="020B0604020202020204" pitchFamily="34" charset="0"/>
              <a:buChar char="•"/>
            </a:pPr>
            <a:r>
              <a:rPr lang="en-US" dirty="0"/>
              <a:t>A speaker's lips move before the audio is heard.</a:t>
            </a:r>
          </a:p>
          <a:p>
            <a:pPr>
              <a:defRPr sz="2200"/>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a:t>
            </a:r>
          </a:p>
        </p:txBody>
      </p:sp>
      <p:sp>
        <p:nvSpPr>
          <p:cNvPr id="3" name="Content Placeholder 2"/>
          <p:cNvSpPr>
            <a:spLocks noGrp="1"/>
          </p:cNvSpPr>
          <p:nvPr>
            <p:ph idx="1"/>
          </p:nvPr>
        </p:nvSpPr>
        <p:spPr/>
        <p:txBody>
          <a:bodyPr>
            <a:normAutofit/>
          </a:bodyPr>
          <a:lstStyle/>
          <a:p>
            <a:r>
              <a:rPr lang="en-US" dirty="0"/>
              <a:t>Multimedia data often contains sensitive personal and organizational information.</a:t>
            </a:r>
          </a:p>
          <a:p>
            <a:r>
              <a:rPr lang="en-US" b="1" dirty="0"/>
              <a:t>Security Issues</a:t>
            </a:r>
          </a:p>
          <a:p>
            <a:pPr>
              <a:buFont typeface="Arial" panose="020B0604020202020204" pitchFamily="34" charset="0"/>
              <a:buChar char="•"/>
            </a:pPr>
            <a:r>
              <a:rPr lang="en-US" dirty="0"/>
              <a:t>Unauthorized access </a:t>
            </a:r>
          </a:p>
          <a:p>
            <a:pPr>
              <a:buFont typeface="Arial" panose="020B0604020202020204" pitchFamily="34" charset="0"/>
              <a:buChar char="•"/>
            </a:pPr>
            <a:r>
              <a:rPr lang="en-US" dirty="0"/>
              <a:t>Data theft </a:t>
            </a:r>
          </a:p>
          <a:p>
            <a:pPr>
              <a:buFont typeface="Arial" panose="020B0604020202020204" pitchFamily="34" charset="0"/>
              <a:buChar char="•"/>
            </a:pPr>
            <a:r>
              <a:rPr lang="en-US" dirty="0"/>
              <a:t>Copyright infringement </a:t>
            </a:r>
          </a:p>
          <a:p>
            <a:pPr>
              <a:buFont typeface="Arial" panose="020B0604020202020204" pitchFamily="34" charset="0"/>
              <a:buChar char="•"/>
            </a:pPr>
            <a:r>
              <a:rPr lang="en-US" dirty="0"/>
              <a:t>Piracy </a:t>
            </a:r>
          </a:p>
          <a:p>
            <a:pPr>
              <a:buFont typeface="Arial" panose="020B0604020202020204" pitchFamily="34" charset="0"/>
              <a:buChar char="•"/>
            </a:pPr>
            <a:r>
              <a:rPr lang="en-US" dirty="0"/>
              <a:t>Malware attacks</a:t>
            </a:r>
          </a:p>
          <a:p>
            <a:pPr>
              <a:defRPr sz="2200"/>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Copyright</a:t>
            </a:r>
          </a:p>
        </p:txBody>
      </p:sp>
      <p:sp>
        <p:nvSpPr>
          <p:cNvPr id="3" name="Content Placeholder 2"/>
          <p:cNvSpPr>
            <a:spLocks noGrp="1"/>
          </p:cNvSpPr>
          <p:nvPr>
            <p:ph idx="1"/>
          </p:nvPr>
        </p:nvSpPr>
        <p:spPr/>
        <p:txBody>
          <a:bodyPr>
            <a:normAutofit/>
          </a:bodyPr>
          <a:lstStyle/>
          <a:p>
            <a:r>
              <a:rPr lang="en-US" dirty="0"/>
              <a:t>Protecting digital content from unauthorized copying and distribution is increasingly difficult.</a:t>
            </a:r>
          </a:p>
          <a:p>
            <a:r>
              <a:rPr lang="en-US" b="1" dirty="0"/>
              <a:t>Challenges</a:t>
            </a:r>
          </a:p>
          <a:p>
            <a:pPr>
              <a:buFont typeface="Arial" panose="020B0604020202020204" pitchFamily="34" charset="0"/>
              <a:buChar char="•"/>
            </a:pPr>
            <a:r>
              <a:rPr lang="en-US" dirty="0"/>
              <a:t>Illegal downloads </a:t>
            </a:r>
          </a:p>
          <a:p>
            <a:pPr>
              <a:buFont typeface="Arial" panose="020B0604020202020204" pitchFamily="34" charset="0"/>
              <a:buChar char="•"/>
            </a:pPr>
            <a:r>
              <a:rPr lang="en-US" dirty="0"/>
              <a:t>Content piracy </a:t>
            </a:r>
          </a:p>
          <a:p>
            <a:pPr>
              <a:buFont typeface="Arial" panose="020B0604020202020204" pitchFamily="34" charset="0"/>
              <a:buChar char="•"/>
            </a:pPr>
            <a:r>
              <a:rPr lang="en-US" dirty="0"/>
              <a:t>Copyright violations </a:t>
            </a:r>
          </a:p>
          <a:p>
            <a:pPr>
              <a:buFont typeface="Arial" panose="020B0604020202020204" pitchFamily="34" charset="0"/>
              <a:buChar char="•"/>
            </a:pPr>
            <a:r>
              <a:rPr lang="en-US" dirty="0"/>
              <a:t>Unauthorized sharing </a:t>
            </a:r>
          </a:p>
          <a:p>
            <a:r>
              <a:rPr lang="en-US" b="1" dirty="0"/>
              <a:t>Solutions</a:t>
            </a:r>
          </a:p>
          <a:p>
            <a:pPr>
              <a:buFont typeface="Arial" panose="020B0604020202020204" pitchFamily="34" charset="0"/>
              <a:buChar char="•"/>
            </a:pPr>
            <a:r>
              <a:rPr lang="en-US" dirty="0"/>
              <a:t>Digital watermarking </a:t>
            </a:r>
          </a:p>
          <a:p>
            <a:pPr>
              <a:buFont typeface="Arial" panose="020B0604020202020204" pitchFamily="34" charset="0"/>
              <a:buChar char="•"/>
            </a:pPr>
            <a:r>
              <a:rPr lang="en-US" dirty="0"/>
              <a:t>Copyright management systems </a:t>
            </a:r>
          </a:p>
          <a:p>
            <a:pPr>
              <a:buFont typeface="Arial" panose="020B0604020202020204" pitchFamily="34" charset="0"/>
              <a:buChar char="•"/>
            </a:pPr>
            <a:r>
              <a:rPr lang="en-US" dirty="0"/>
              <a:t>Licensing agreements</a:t>
            </a:r>
          </a:p>
          <a:p>
            <a:pPr>
              <a:defRPr sz="2200"/>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integration</a:t>
            </a:r>
            <a:endParaRPr dirty="0"/>
          </a:p>
        </p:txBody>
      </p:sp>
      <p:sp>
        <p:nvSpPr>
          <p:cNvPr id="3" name="Content Placeholder 2"/>
          <p:cNvSpPr>
            <a:spLocks noGrp="1"/>
          </p:cNvSpPr>
          <p:nvPr>
            <p:ph idx="1"/>
          </p:nvPr>
        </p:nvSpPr>
        <p:spPr/>
        <p:txBody>
          <a:bodyPr>
            <a:normAutofit lnSpcReduction="10000"/>
          </a:bodyPr>
          <a:lstStyle/>
          <a:p>
            <a:r>
              <a:rPr lang="en-US" dirty="0"/>
              <a:t>AI enhances multimedia systems but introduces new complexities.</a:t>
            </a:r>
          </a:p>
          <a:p>
            <a:r>
              <a:rPr lang="en-US" b="1" dirty="0"/>
              <a:t>Challenges</a:t>
            </a:r>
          </a:p>
          <a:p>
            <a:pPr>
              <a:buFont typeface="Arial" panose="020B0604020202020204" pitchFamily="34" charset="0"/>
              <a:buChar char="•"/>
            </a:pPr>
            <a:r>
              <a:rPr lang="en-US" dirty="0"/>
              <a:t>Large training datasets </a:t>
            </a:r>
          </a:p>
          <a:p>
            <a:pPr>
              <a:buFont typeface="Arial" panose="020B0604020202020204" pitchFamily="34" charset="0"/>
              <a:buChar char="•"/>
            </a:pPr>
            <a:r>
              <a:rPr lang="en-US" dirty="0"/>
              <a:t>High computational costs </a:t>
            </a:r>
          </a:p>
          <a:p>
            <a:pPr>
              <a:buFont typeface="Arial" panose="020B0604020202020204" pitchFamily="34" charset="0"/>
              <a:buChar char="•"/>
            </a:pPr>
            <a:r>
              <a:rPr lang="en-US" dirty="0"/>
              <a:t>Model bias </a:t>
            </a:r>
          </a:p>
          <a:p>
            <a:pPr>
              <a:buFont typeface="Arial" panose="020B0604020202020204" pitchFamily="34" charset="0"/>
              <a:buChar char="•"/>
            </a:pPr>
            <a:r>
              <a:rPr lang="en-US" dirty="0"/>
              <a:t>Ethical concerns </a:t>
            </a:r>
          </a:p>
          <a:p>
            <a:pPr>
              <a:buFont typeface="Arial" panose="020B0604020202020204" pitchFamily="34" charset="0"/>
              <a:buChar char="•"/>
            </a:pPr>
            <a:r>
              <a:rPr lang="en-US" dirty="0" err="1"/>
              <a:t>Explainability</a:t>
            </a:r>
            <a:r>
              <a:rPr lang="en-US" dirty="0"/>
              <a:t> of AI decisions </a:t>
            </a:r>
          </a:p>
          <a:p>
            <a:r>
              <a:rPr lang="en-US" b="1" dirty="0"/>
              <a:t>Applications</a:t>
            </a:r>
          </a:p>
          <a:p>
            <a:pPr>
              <a:buFont typeface="Arial" panose="020B0604020202020204" pitchFamily="34" charset="0"/>
              <a:buChar char="•"/>
            </a:pPr>
            <a:r>
              <a:rPr lang="en-US" dirty="0"/>
              <a:t>Image recognition </a:t>
            </a:r>
          </a:p>
          <a:p>
            <a:pPr>
              <a:buFont typeface="Arial" panose="020B0604020202020204" pitchFamily="34" charset="0"/>
              <a:buChar char="•"/>
            </a:pPr>
            <a:r>
              <a:rPr lang="en-US" dirty="0"/>
              <a:t>Speech recognition </a:t>
            </a:r>
          </a:p>
          <a:p>
            <a:pPr>
              <a:buFont typeface="Arial" panose="020B0604020202020204" pitchFamily="34" charset="0"/>
              <a:buChar char="•"/>
            </a:pPr>
            <a:r>
              <a:rPr lang="en-US" dirty="0"/>
              <a:t>Video analytics </a:t>
            </a:r>
          </a:p>
          <a:p>
            <a:pPr>
              <a:buFont typeface="Arial" panose="020B0604020202020204" pitchFamily="34" charset="0"/>
              <a:buChar char="•"/>
            </a:pPr>
            <a:r>
              <a:rPr lang="en-US" dirty="0"/>
              <a:t>Generative AI</a:t>
            </a:r>
          </a:p>
          <a:p>
            <a:pPr>
              <a:defRPr sz="2200"/>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Desirable</a:t>
            </a:r>
            <a:r>
              <a:rPr spc="-200" dirty="0"/>
              <a:t> </a:t>
            </a:r>
            <a:r>
              <a:rPr spc="-10" dirty="0"/>
              <a:t>Features</a:t>
            </a:r>
          </a:p>
        </p:txBody>
      </p:sp>
      <p:pic>
        <p:nvPicPr>
          <p:cNvPr id="3" name="object 3"/>
          <p:cNvPicPr/>
          <p:nvPr/>
        </p:nvPicPr>
        <p:blipFill>
          <a:blip r:embed="rId2" cstate="print"/>
          <a:stretch>
            <a:fillRect/>
          </a:stretch>
        </p:blipFill>
        <p:spPr>
          <a:xfrm>
            <a:off x="240118" y="1540078"/>
            <a:ext cx="7800612" cy="450629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Desirable</a:t>
            </a:r>
            <a:r>
              <a:rPr spc="-200" dirty="0"/>
              <a:t> </a:t>
            </a:r>
            <a:r>
              <a:rPr spc="-10" dirty="0"/>
              <a:t>Features</a:t>
            </a:r>
          </a:p>
        </p:txBody>
      </p:sp>
      <p:pic>
        <p:nvPicPr>
          <p:cNvPr id="3" name="object 3"/>
          <p:cNvPicPr/>
          <p:nvPr/>
        </p:nvPicPr>
        <p:blipFill>
          <a:blip r:embed="rId2" cstate="print"/>
          <a:stretch>
            <a:fillRect/>
          </a:stretch>
        </p:blipFill>
        <p:spPr>
          <a:xfrm>
            <a:off x="513533" y="1599844"/>
            <a:ext cx="7797423" cy="479879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Desirable</a:t>
            </a:r>
            <a:r>
              <a:rPr spc="-200" dirty="0"/>
              <a:t> </a:t>
            </a:r>
            <a:r>
              <a:rPr spc="-10" dirty="0"/>
              <a:t>Features</a:t>
            </a:r>
          </a:p>
        </p:txBody>
      </p:sp>
      <p:pic>
        <p:nvPicPr>
          <p:cNvPr id="3" name="object 3"/>
          <p:cNvPicPr/>
          <p:nvPr/>
        </p:nvPicPr>
        <p:blipFill>
          <a:blip r:embed="rId2" cstate="print"/>
          <a:stretch>
            <a:fillRect/>
          </a:stretch>
        </p:blipFill>
        <p:spPr>
          <a:xfrm>
            <a:off x="251282" y="1599844"/>
            <a:ext cx="8003008" cy="493145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Components</a:t>
            </a:r>
          </a:p>
        </p:txBody>
      </p:sp>
      <p:pic>
        <p:nvPicPr>
          <p:cNvPr id="3" name="object 3"/>
          <p:cNvPicPr/>
          <p:nvPr/>
        </p:nvPicPr>
        <p:blipFill>
          <a:blip r:embed="rId2" cstate="print"/>
          <a:stretch>
            <a:fillRect/>
          </a:stretch>
        </p:blipFill>
        <p:spPr>
          <a:xfrm>
            <a:off x="513003" y="1828076"/>
            <a:ext cx="6745323" cy="472787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4504" y="793699"/>
            <a:ext cx="1050925" cy="695960"/>
          </a:xfrm>
          <a:prstGeom prst="rect">
            <a:avLst/>
          </a:prstGeom>
        </p:spPr>
        <p:txBody>
          <a:bodyPr vert="horz" wrap="square" lIns="0" tIns="12700" rIns="0" bIns="0" rtlCol="0">
            <a:spAutoFit/>
          </a:bodyPr>
          <a:lstStyle/>
          <a:p>
            <a:pPr marL="12700">
              <a:lnSpc>
                <a:spcPct val="100000"/>
              </a:lnSpc>
              <a:spcBef>
                <a:spcPts val="100"/>
              </a:spcBef>
            </a:pPr>
            <a:r>
              <a:rPr spc="-114" dirty="0"/>
              <a:t>Text</a:t>
            </a:r>
          </a:p>
        </p:txBody>
      </p:sp>
      <p:pic>
        <p:nvPicPr>
          <p:cNvPr id="3" name="object 3"/>
          <p:cNvPicPr/>
          <p:nvPr/>
        </p:nvPicPr>
        <p:blipFill>
          <a:blip r:embed="rId2" cstate="print"/>
          <a:stretch>
            <a:fillRect/>
          </a:stretch>
        </p:blipFill>
        <p:spPr>
          <a:xfrm>
            <a:off x="1015808" y="1828444"/>
            <a:ext cx="6287433" cy="411264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Graphics</a:t>
            </a:r>
          </a:p>
        </p:txBody>
      </p:sp>
      <p:pic>
        <p:nvPicPr>
          <p:cNvPr id="3" name="object 3"/>
          <p:cNvPicPr/>
          <p:nvPr/>
        </p:nvPicPr>
        <p:blipFill>
          <a:blip r:embed="rId2" cstate="print"/>
          <a:stretch>
            <a:fillRect/>
          </a:stretch>
        </p:blipFill>
        <p:spPr>
          <a:xfrm>
            <a:off x="1130298" y="1856339"/>
            <a:ext cx="6476946" cy="385228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Image</a:t>
            </a:r>
          </a:p>
        </p:txBody>
      </p:sp>
      <p:pic>
        <p:nvPicPr>
          <p:cNvPr id="3" name="object 3"/>
          <p:cNvPicPr/>
          <p:nvPr/>
        </p:nvPicPr>
        <p:blipFill>
          <a:blip r:embed="rId2" cstate="print"/>
          <a:stretch>
            <a:fillRect/>
          </a:stretch>
        </p:blipFill>
        <p:spPr>
          <a:xfrm>
            <a:off x="847801" y="1599844"/>
            <a:ext cx="6247135" cy="462527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Audio</a:t>
            </a:r>
          </a:p>
        </p:txBody>
      </p:sp>
      <p:pic>
        <p:nvPicPr>
          <p:cNvPr id="3" name="object 3"/>
          <p:cNvPicPr/>
          <p:nvPr/>
        </p:nvPicPr>
        <p:blipFill>
          <a:blip r:embed="rId2" cstate="print"/>
          <a:stretch>
            <a:fillRect/>
          </a:stretch>
        </p:blipFill>
        <p:spPr>
          <a:xfrm>
            <a:off x="685800" y="1771205"/>
            <a:ext cx="7119768" cy="371048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4504" y="793699"/>
            <a:ext cx="1444625" cy="695960"/>
          </a:xfrm>
          <a:prstGeom prst="rect">
            <a:avLst/>
          </a:prstGeom>
        </p:spPr>
        <p:txBody>
          <a:bodyPr vert="horz" wrap="square" lIns="0" tIns="12700" rIns="0" bIns="0" rtlCol="0">
            <a:spAutoFit/>
          </a:bodyPr>
          <a:lstStyle/>
          <a:p>
            <a:pPr marL="12700">
              <a:lnSpc>
                <a:spcPct val="100000"/>
              </a:lnSpc>
              <a:spcBef>
                <a:spcPts val="100"/>
              </a:spcBef>
            </a:pPr>
            <a:r>
              <a:rPr spc="-10" dirty="0"/>
              <a:t>Video</a:t>
            </a:r>
          </a:p>
        </p:txBody>
      </p:sp>
      <p:pic>
        <p:nvPicPr>
          <p:cNvPr id="3" name="object 3"/>
          <p:cNvPicPr/>
          <p:nvPr/>
        </p:nvPicPr>
        <p:blipFill>
          <a:blip r:embed="rId2" cstate="print"/>
          <a:stretch>
            <a:fillRect/>
          </a:stretch>
        </p:blipFill>
        <p:spPr>
          <a:xfrm>
            <a:off x="895324" y="1707832"/>
            <a:ext cx="6053257" cy="442224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561962" y="809282"/>
            <a:ext cx="6065278" cy="444600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914031"/>
            <a:ext cx="6855841" cy="427140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914044"/>
            <a:ext cx="8059318" cy="456984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28764" y="837730"/>
            <a:ext cx="7347966" cy="487475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333362" y="704519"/>
            <a:ext cx="6065278" cy="409356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914044"/>
            <a:ext cx="6274803" cy="399851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790206"/>
            <a:ext cx="6608165" cy="400787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228600" y="685444"/>
            <a:ext cx="6684479" cy="396971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542874" y="914044"/>
            <a:ext cx="6541554" cy="417923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38124" y="780846"/>
            <a:ext cx="6646316" cy="401723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228600" y="456844"/>
            <a:ext cx="8783281" cy="548459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11632" y="1393413"/>
            <a:ext cx="7218979" cy="425665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2"/>
            <a:ext cx="9143276" cy="636010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2"/>
            <a:ext cx="9143276" cy="630862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8935" y="914389"/>
            <a:ext cx="6514496" cy="36188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1768</TotalTime>
  <Words>985</Words>
  <Application>Microsoft Office PowerPoint</Application>
  <PresentationFormat>On-screen Show (4:3)</PresentationFormat>
  <Paragraphs>131</Paragraphs>
  <Slides>59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59</vt:i4>
      </vt:variant>
    </vt:vector>
  </HeadingPairs>
  <TitlesOfParts>
    <vt:vector size="66" baseType="lpstr">
      <vt:lpstr>Arial</vt:lpstr>
      <vt:lpstr>Arial MT</vt:lpstr>
      <vt:lpstr>Calibri</vt:lpstr>
      <vt:lpstr>Calibri Light</vt:lpstr>
      <vt:lpstr>Times New Roman</vt:lpstr>
      <vt:lpstr>Office Theme</vt:lpstr>
      <vt:lpstr>1_Office Theme</vt:lpstr>
      <vt:lpstr>Lecture 1 - Introduction</vt:lpstr>
      <vt:lpstr>Scope of Multimedia Computing Courses in Today's World Multimedia Computing is an interdisciplinary field that combines computer science, graphics, animation, audio/video processing, web technologies, artificial intelligence, virtual reality, and interactive media. With the rapid growth of digital content and emerging technologies, multimedia computing has become one of the most promising career fields. Importance of Multimedia Computing Modern organizations increasingly rely on multimedia technologies for communication, education, entertainment, marketing, healthcare, and business operations. The demand for professionals who can create, manage, and analyze digital content is growing worldwide. Key Areas Digital Media Production  Animation and Graphics Design  Web and Mobile Application Development  Game Development  Artificial Intelligence in Media  Virtual Reality (VR) and Augmented Reality (AR)  Digital Marketing and Content Creation  Human-Computer Interaction (HCI)  </vt:lpstr>
      <vt:lpstr>B. Graphics and Animation Graphic Designer  2D/3D Animator  Motion Graphics Designer  Visual Effects (VFX) Artist  Digital Illustrator  C. Gaming Industry Game Developer  Game Designer  AR/VR Developer  Interactive Media Designer  D. Media and Entertainment Video Editor  Multimedia Producer  Content Creator  Film and Animation Specialist  E. Artificial Intelligence and Data Analytics Computer Vision Engineer  Multimedia Data Analyst  AI Content Developer  Image and Video Processing Specialist </vt:lpstr>
      <vt:lpstr>What is multimedia?</vt:lpstr>
      <vt:lpstr>What is multimedia?</vt:lpstr>
      <vt:lpstr>What is multimedia?</vt:lpstr>
      <vt:lpstr>Multimedia Computing is the integration of multiple forms of digital media and computing technologies to process, manage, and communicate information effectively. Multimedia Computing is the field of computer science that deals with the creation, processing, storage, transmission, and presentation of information in multiple media formats such as: Text  Images  Audio  Video  Animation  Graphics  Interactive content  It combines computing technologies with digital media to create rich and interactive user experiences. </vt:lpstr>
      <vt:lpstr>2. Evolution of Multimedia Computing Early Era (1960s–1980s) Text-based computer systems  Limited graphics capability  No multimedia integration  Multimedia Era (1990s) Introduction of CDs and DVDs  Audio and video playback  Interactive educational software  Modern Era (2000–Present) High-speed internet  Streaming services  Virtual Reality (VR)  Artificial Intelligence (AI)  Augmented Reality (AR)  Cloud Computing  </vt:lpstr>
      <vt:lpstr> Multimedia System Characteristics A multimedia system should provide: Integration Different media types work together. Interactivity Users can interact with content. Digital Representation All media are stored digitally. Synchronization Audio and video remain aligned. Example Online Zoom classes synchronize: Video  Audio  Text chat  Screen sharing  </vt:lpstr>
      <vt:lpstr>Why multimedia?</vt:lpstr>
      <vt:lpstr>Why multimedia?</vt:lpstr>
      <vt:lpstr>Why multimedia?</vt:lpstr>
      <vt:lpstr>Why multimedia?</vt:lpstr>
      <vt:lpstr>Why multimedia?</vt:lpstr>
      <vt:lpstr>Why multimedia?</vt:lpstr>
      <vt:lpstr>Why multimedia?</vt:lpstr>
      <vt:lpstr>What is multimedia?</vt:lpstr>
      <vt:lpstr>What is multimedia?</vt:lpstr>
      <vt:lpstr>What is multimedia?</vt:lpstr>
      <vt:lpstr>Hypertext</vt:lpstr>
      <vt:lpstr>Hypertext</vt:lpstr>
      <vt:lpstr>Hypermedia</vt:lpstr>
      <vt:lpstr>Multimedia System</vt:lpstr>
      <vt:lpstr>Multimedia System</vt:lpstr>
      <vt:lpstr>Multimedia System</vt:lpstr>
      <vt:lpstr>PowerPoint Presentation</vt:lpstr>
      <vt:lpstr>Challenges of Multimedia Computing</vt:lpstr>
      <vt:lpstr>Large Data Storage</vt:lpstr>
      <vt:lpstr>Bandwidth</vt:lpstr>
      <vt:lpstr>Compression</vt:lpstr>
      <vt:lpstr>Real-Time Processing</vt:lpstr>
      <vt:lpstr>Synchronization</vt:lpstr>
      <vt:lpstr>Security</vt:lpstr>
      <vt:lpstr>Copyright</vt:lpstr>
      <vt:lpstr>AI integration</vt:lpstr>
      <vt:lpstr>Desirable Features</vt:lpstr>
      <vt:lpstr>Desirable Features</vt:lpstr>
      <vt:lpstr>Desirable Features</vt:lpstr>
      <vt:lpstr>Components</vt:lpstr>
      <vt:lpstr>Text</vt:lpstr>
      <vt:lpstr>Graphics</vt:lpstr>
      <vt:lpstr>Image</vt:lpstr>
      <vt:lpstr>Audio</vt:lpstr>
      <vt:lpstr>Video</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Rubin RC</cp:lastModifiedBy>
  <cp:revision>11</cp:revision>
  <dcterms:created xsi:type="dcterms:W3CDTF">2026-06-24T05:53:51Z</dcterms:created>
  <dcterms:modified xsi:type="dcterms:W3CDTF">2026-06-29T06:46:02Z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2024-07-08T00:00:00Z</vt:filetime>
  </property>
  <property fmtid="{D5CDD505-2E9C-101B-9397-08002B2CF9AE}" pid="4" name="Creator">
    <vt:lpwstr>Impress</vt:lpwstr>
  </property>
  <property fmtid="{D5CDD505-2E9C-101B-9397-08002B2CF9AE}" pid="5" name="LastSaved">
    <vt:filetime>2026-06-24T00:00:00Z</vt:filetime>
  </property>
  <property fmtid="{D5CDD505-2E9C-101B-9397-08002B2CF9AE}" pid="6" name="Producer">
    <vt:lpwstr>3.0.37 (5.1.21) </vt:lpwstr>
  </property>
</Properties>
</file>