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8" r:id="rId3"/>
    <p:sldId id="284" r:id="rId4"/>
    <p:sldId id="285" r:id="rId5"/>
    <p:sldId id="286" r:id="rId6"/>
    <p:sldId id="287" r:id="rId7"/>
    <p:sldId id="289" r:id="rId8"/>
    <p:sldId id="295" r:id="rId9"/>
    <p:sldId id="296" r:id="rId10"/>
    <p:sldId id="297" r:id="rId11"/>
    <p:sldId id="298" r:id="rId12"/>
    <p:sldId id="299" r:id="rId13"/>
    <p:sldId id="288" r:id="rId14"/>
    <p:sldId id="290" r:id="rId15"/>
    <p:sldId id="291" r:id="rId16"/>
    <p:sldId id="292" r:id="rId17"/>
    <p:sldId id="293" r:id="rId18"/>
    <p:sldId id="29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7" autoAdjust="0"/>
    <p:restoredTop sz="94660"/>
  </p:normalViewPr>
  <p:slideViewPr>
    <p:cSldViewPr snapToGrid="0">
      <p:cViewPr>
        <p:scale>
          <a:sx n="66" d="100"/>
          <a:sy n="66" d="100"/>
        </p:scale>
        <p:origin x="576" y="-96"/>
      </p:cViewPr>
      <p:guideLst/>
    </p:cSldViewPr>
  </p:slideViewPr>
  <p:notesTextViewPr>
    <p:cViewPr>
      <p:scale>
        <a:sx n="1" d="1"/>
        <a:sy n="1" d="1"/>
      </p:scale>
      <p:origin x="0" y="0"/>
    </p:cViewPr>
  </p:notesTextViewPr>
  <p:sorterViewPr>
    <p:cViewPr>
      <p:scale>
        <a:sx n="100" d="100"/>
        <a:sy n="100" d="100"/>
      </p:scale>
      <p:origin x="0" y="-147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916ADA-B750-409D-8E54-6EE6A2D934BC}" type="datetimeFigureOut">
              <a:rPr lang="en-US" smtClean="0"/>
              <a:t>12/12/2023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56F189-5BBA-40BB-9A0F-95B964CFEDC4}" type="slidenum">
              <a:rPr lang="en-US" smtClean="0"/>
              <a:t>‹#›</a:t>
            </a:fld>
            <a:endParaRPr lang="en-US"/>
          </a:p>
        </p:txBody>
      </p:sp>
    </p:spTree>
    <p:extLst>
      <p:ext uri="{BB962C8B-B14F-4D97-AF65-F5344CB8AC3E}">
        <p14:creationId xmlns:p14="http://schemas.microsoft.com/office/powerpoint/2010/main" val="3736419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B56F189-5BBA-40BB-9A0F-95B964CFEDC4}" type="slidenum">
              <a:rPr lang="en-US" smtClean="0"/>
              <a:t>1</a:t>
            </a:fld>
            <a:endParaRPr lang="en-US"/>
          </a:p>
        </p:txBody>
      </p:sp>
    </p:spTree>
    <p:extLst>
      <p:ext uri="{BB962C8B-B14F-4D97-AF65-F5344CB8AC3E}">
        <p14:creationId xmlns:p14="http://schemas.microsoft.com/office/powerpoint/2010/main" val="1154595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B56F189-5BBA-40BB-9A0F-95B964CFEDC4}" type="slidenum">
              <a:rPr lang="en-US" smtClean="0"/>
              <a:t>2</a:t>
            </a:fld>
            <a:endParaRPr lang="en-US"/>
          </a:p>
        </p:txBody>
      </p:sp>
    </p:spTree>
    <p:extLst>
      <p:ext uri="{BB962C8B-B14F-4D97-AF65-F5344CB8AC3E}">
        <p14:creationId xmlns:p14="http://schemas.microsoft.com/office/powerpoint/2010/main" val="2847465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B56F189-5BBA-40BB-9A0F-95B964CFEDC4}" type="slidenum">
              <a:rPr lang="en-US" smtClean="0"/>
              <a:t>3</a:t>
            </a:fld>
            <a:endParaRPr lang="en-US"/>
          </a:p>
        </p:txBody>
      </p:sp>
    </p:spTree>
    <p:extLst>
      <p:ext uri="{BB962C8B-B14F-4D97-AF65-F5344CB8AC3E}">
        <p14:creationId xmlns:p14="http://schemas.microsoft.com/office/powerpoint/2010/main" val="163872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1B60FFE-2A09-4515-B590-E66C8F5A50AA}" type="datetime1">
              <a:rPr lang="en-US" smtClean="0"/>
              <a:t>12/12/2023</a:t>
            </a:fld>
            <a:endParaRPr lang="en-US"/>
          </a:p>
        </p:txBody>
      </p:sp>
      <p:sp>
        <p:nvSpPr>
          <p:cNvPr id="5" name="Footer Placeholder 4"/>
          <p:cNvSpPr>
            <a:spLocks noGrp="1"/>
          </p:cNvSpPr>
          <p:nvPr>
            <p:ph type="ftr" sz="quarter" idx="11"/>
          </p:nvPr>
        </p:nvSpPr>
        <p:spPr/>
        <p:txBody>
          <a:bodyPr/>
          <a:lstStyle/>
          <a:p>
            <a:r>
              <a:rPr lang="en-US" smtClean="0"/>
              <a:t>Prepared By:-P.B.Jha </a:t>
            </a:r>
            <a:endParaRPr lang="en-US"/>
          </a:p>
        </p:txBody>
      </p:sp>
      <p:sp>
        <p:nvSpPr>
          <p:cNvPr id="6" name="Slide Number Placeholder 5"/>
          <p:cNvSpPr>
            <a:spLocks noGrp="1"/>
          </p:cNvSpPr>
          <p:nvPr>
            <p:ph type="sldNum" sz="quarter" idx="12"/>
          </p:nvPr>
        </p:nvSpPr>
        <p:spPr/>
        <p:txBody>
          <a:bodyPr/>
          <a:lstStyle/>
          <a:p>
            <a:fld id="{419AD9F6-4EE7-4800-9942-E27E009E2221}" type="slidenum">
              <a:rPr lang="en-US" smtClean="0"/>
              <a:t>‹#›</a:t>
            </a:fld>
            <a:endParaRPr lang="en-US"/>
          </a:p>
        </p:txBody>
      </p:sp>
    </p:spTree>
    <p:extLst>
      <p:ext uri="{BB962C8B-B14F-4D97-AF65-F5344CB8AC3E}">
        <p14:creationId xmlns:p14="http://schemas.microsoft.com/office/powerpoint/2010/main" val="1582980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B7A578-DD63-44D4-91CF-40CB41565B93}" type="datetime1">
              <a:rPr lang="en-US" smtClean="0"/>
              <a:t>12/12/2023</a:t>
            </a:fld>
            <a:endParaRPr lang="en-US"/>
          </a:p>
        </p:txBody>
      </p:sp>
      <p:sp>
        <p:nvSpPr>
          <p:cNvPr id="5" name="Footer Placeholder 4"/>
          <p:cNvSpPr>
            <a:spLocks noGrp="1"/>
          </p:cNvSpPr>
          <p:nvPr>
            <p:ph type="ftr" sz="quarter" idx="11"/>
          </p:nvPr>
        </p:nvSpPr>
        <p:spPr/>
        <p:txBody>
          <a:bodyPr/>
          <a:lstStyle/>
          <a:p>
            <a:r>
              <a:rPr lang="en-US" smtClean="0"/>
              <a:t>Prepared By:-P.B.Jha </a:t>
            </a:r>
            <a:endParaRPr lang="en-US"/>
          </a:p>
        </p:txBody>
      </p:sp>
      <p:sp>
        <p:nvSpPr>
          <p:cNvPr id="6" name="Slide Number Placeholder 5"/>
          <p:cNvSpPr>
            <a:spLocks noGrp="1"/>
          </p:cNvSpPr>
          <p:nvPr>
            <p:ph type="sldNum" sz="quarter" idx="12"/>
          </p:nvPr>
        </p:nvSpPr>
        <p:spPr/>
        <p:txBody>
          <a:bodyPr/>
          <a:lstStyle/>
          <a:p>
            <a:fld id="{419AD9F6-4EE7-4800-9942-E27E009E2221}" type="slidenum">
              <a:rPr lang="en-US" smtClean="0"/>
              <a:t>‹#›</a:t>
            </a:fld>
            <a:endParaRPr lang="en-US"/>
          </a:p>
        </p:txBody>
      </p:sp>
    </p:spTree>
    <p:extLst>
      <p:ext uri="{BB962C8B-B14F-4D97-AF65-F5344CB8AC3E}">
        <p14:creationId xmlns:p14="http://schemas.microsoft.com/office/powerpoint/2010/main" val="2111285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DB58619-770B-4342-BF3B-46DDE8643394}" type="datetime1">
              <a:rPr lang="en-US" smtClean="0"/>
              <a:t>12/12/2023</a:t>
            </a:fld>
            <a:endParaRPr lang="en-US"/>
          </a:p>
        </p:txBody>
      </p:sp>
      <p:sp>
        <p:nvSpPr>
          <p:cNvPr id="5" name="Footer Placeholder 4"/>
          <p:cNvSpPr>
            <a:spLocks noGrp="1"/>
          </p:cNvSpPr>
          <p:nvPr>
            <p:ph type="ftr" sz="quarter" idx="11"/>
          </p:nvPr>
        </p:nvSpPr>
        <p:spPr/>
        <p:txBody>
          <a:bodyPr/>
          <a:lstStyle/>
          <a:p>
            <a:r>
              <a:rPr lang="en-US" smtClean="0"/>
              <a:t>Prepared By:-P.B.Jha </a:t>
            </a:r>
            <a:endParaRPr lang="en-US"/>
          </a:p>
        </p:txBody>
      </p:sp>
      <p:sp>
        <p:nvSpPr>
          <p:cNvPr id="6" name="Slide Number Placeholder 5"/>
          <p:cNvSpPr>
            <a:spLocks noGrp="1"/>
          </p:cNvSpPr>
          <p:nvPr>
            <p:ph type="sldNum" sz="quarter" idx="12"/>
          </p:nvPr>
        </p:nvSpPr>
        <p:spPr/>
        <p:txBody>
          <a:bodyPr/>
          <a:lstStyle/>
          <a:p>
            <a:fld id="{419AD9F6-4EE7-4800-9942-E27E009E2221}" type="slidenum">
              <a:rPr lang="en-US" smtClean="0"/>
              <a:t>‹#›</a:t>
            </a:fld>
            <a:endParaRPr lang="en-US"/>
          </a:p>
        </p:txBody>
      </p:sp>
    </p:spTree>
    <p:extLst>
      <p:ext uri="{BB962C8B-B14F-4D97-AF65-F5344CB8AC3E}">
        <p14:creationId xmlns:p14="http://schemas.microsoft.com/office/powerpoint/2010/main" val="2984300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1D29E50-6958-4B69-8252-89C4F09549F8}" type="datetime1">
              <a:rPr lang="en-US" smtClean="0"/>
              <a:t>12/12/2023</a:t>
            </a:fld>
            <a:endParaRPr lang="en-US"/>
          </a:p>
        </p:txBody>
      </p:sp>
      <p:sp>
        <p:nvSpPr>
          <p:cNvPr id="6" name="Footer Placeholder 5"/>
          <p:cNvSpPr>
            <a:spLocks noGrp="1"/>
          </p:cNvSpPr>
          <p:nvPr>
            <p:ph type="ftr" sz="quarter" idx="11"/>
          </p:nvPr>
        </p:nvSpPr>
        <p:spPr/>
        <p:txBody>
          <a:bodyPr/>
          <a:lstStyle/>
          <a:p>
            <a:r>
              <a:rPr lang="en-US" smtClean="0"/>
              <a:t>Prepared By:-P.B.Jha </a:t>
            </a:r>
            <a:endParaRPr lang="en-US"/>
          </a:p>
        </p:txBody>
      </p:sp>
      <p:sp>
        <p:nvSpPr>
          <p:cNvPr id="7" name="Slide Number Placeholder 6"/>
          <p:cNvSpPr>
            <a:spLocks noGrp="1"/>
          </p:cNvSpPr>
          <p:nvPr>
            <p:ph type="sldNum" sz="quarter" idx="12"/>
          </p:nvPr>
        </p:nvSpPr>
        <p:spPr/>
        <p:txBody>
          <a:bodyPr/>
          <a:lstStyle/>
          <a:p>
            <a:fld id="{419AD9F6-4EE7-4800-9942-E27E009E2221}" type="slidenum">
              <a:rPr lang="en-US" smtClean="0"/>
              <a:t>‹#›</a:t>
            </a:fld>
            <a:endParaRPr lang="en-US"/>
          </a:p>
        </p:txBody>
      </p:sp>
    </p:spTree>
    <p:extLst>
      <p:ext uri="{BB962C8B-B14F-4D97-AF65-F5344CB8AC3E}">
        <p14:creationId xmlns:p14="http://schemas.microsoft.com/office/powerpoint/2010/main" val="3401413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4622395-7DE3-423F-B885-36F8771A5031}" type="datetime1">
              <a:rPr lang="en-US" smtClean="0"/>
              <a:t>12/12/2023</a:t>
            </a:fld>
            <a:endParaRPr lang="en-US"/>
          </a:p>
        </p:txBody>
      </p:sp>
      <p:sp>
        <p:nvSpPr>
          <p:cNvPr id="8" name="Footer Placeholder 7"/>
          <p:cNvSpPr>
            <a:spLocks noGrp="1"/>
          </p:cNvSpPr>
          <p:nvPr>
            <p:ph type="ftr" sz="quarter" idx="11"/>
          </p:nvPr>
        </p:nvSpPr>
        <p:spPr/>
        <p:txBody>
          <a:bodyPr/>
          <a:lstStyle/>
          <a:p>
            <a:r>
              <a:rPr lang="en-US" smtClean="0"/>
              <a:t>Prepared By:-P.B.Jha </a:t>
            </a:r>
            <a:endParaRPr lang="en-US"/>
          </a:p>
        </p:txBody>
      </p:sp>
      <p:sp>
        <p:nvSpPr>
          <p:cNvPr id="9" name="Slide Number Placeholder 8"/>
          <p:cNvSpPr>
            <a:spLocks noGrp="1"/>
          </p:cNvSpPr>
          <p:nvPr>
            <p:ph type="sldNum" sz="quarter" idx="12"/>
          </p:nvPr>
        </p:nvSpPr>
        <p:spPr/>
        <p:txBody>
          <a:bodyPr/>
          <a:lstStyle/>
          <a:p>
            <a:fld id="{419AD9F6-4EE7-4800-9942-E27E009E2221}" type="slidenum">
              <a:rPr lang="en-US" smtClean="0"/>
              <a:t>‹#›</a:t>
            </a:fld>
            <a:endParaRPr lang="en-US"/>
          </a:p>
        </p:txBody>
      </p:sp>
    </p:spTree>
    <p:extLst>
      <p:ext uri="{BB962C8B-B14F-4D97-AF65-F5344CB8AC3E}">
        <p14:creationId xmlns:p14="http://schemas.microsoft.com/office/powerpoint/2010/main" val="2480032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FCEAB31-9DA0-4CB7-898C-7EAE4ADB495F}" type="datetime1">
              <a:rPr lang="en-US" smtClean="0"/>
              <a:t>12/12/2023</a:t>
            </a:fld>
            <a:endParaRPr lang="en-US"/>
          </a:p>
        </p:txBody>
      </p:sp>
      <p:sp>
        <p:nvSpPr>
          <p:cNvPr id="4" name="Footer Placeholder 3"/>
          <p:cNvSpPr>
            <a:spLocks noGrp="1"/>
          </p:cNvSpPr>
          <p:nvPr>
            <p:ph type="ftr" sz="quarter" idx="11"/>
          </p:nvPr>
        </p:nvSpPr>
        <p:spPr/>
        <p:txBody>
          <a:bodyPr/>
          <a:lstStyle/>
          <a:p>
            <a:r>
              <a:rPr lang="en-US" smtClean="0"/>
              <a:t>Prepared By:-P.B.Jha </a:t>
            </a:r>
            <a:endParaRPr lang="en-US"/>
          </a:p>
        </p:txBody>
      </p:sp>
      <p:sp>
        <p:nvSpPr>
          <p:cNvPr id="5" name="Slide Number Placeholder 4"/>
          <p:cNvSpPr>
            <a:spLocks noGrp="1"/>
          </p:cNvSpPr>
          <p:nvPr>
            <p:ph type="sldNum" sz="quarter" idx="12"/>
          </p:nvPr>
        </p:nvSpPr>
        <p:spPr/>
        <p:txBody>
          <a:bodyPr/>
          <a:lstStyle/>
          <a:p>
            <a:fld id="{419AD9F6-4EE7-4800-9942-E27E009E2221}" type="slidenum">
              <a:rPr lang="en-US" smtClean="0"/>
              <a:t>‹#›</a:t>
            </a:fld>
            <a:endParaRPr lang="en-US"/>
          </a:p>
        </p:txBody>
      </p:sp>
    </p:spTree>
    <p:extLst>
      <p:ext uri="{BB962C8B-B14F-4D97-AF65-F5344CB8AC3E}">
        <p14:creationId xmlns:p14="http://schemas.microsoft.com/office/powerpoint/2010/main" val="2384413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A64ABB-10D5-4ECE-9B6C-BF244EB65344}" type="datetime1">
              <a:rPr lang="en-US" smtClean="0"/>
              <a:t>12/12/2023</a:t>
            </a:fld>
            <a:endParaRPr lang="en-US"/>
          </a:p>
        </p:txBody>
      </p:sp>
      <p:sp>
        <p:nvSpPr>
          <p:cNvPr id="3" name="Footer Placeholder 2"/>
          <p:cNvSpPr>
            <a:spLocks noGrp="1"/>
          </p:cNvSpPr>
          <p:nvPr>
            <p:ph type="ftr" sz="quarter" idx="11"/>
          </p:nvPr>
        </p:nvSpPr>
        <p:spPr/>
        <p:txBody>
          <a:bodyPr/>
          <a:lstStyle/>
          <a:p>
            <a:r>
              <a:rPr lang="en-US" smtClean="0"/>
              <a:t>Prepared By:-P.B.Jha </a:t>
            </a:r>
            <a:endParaRPr lang="en-US"/>
          </a:p>
        </p:txBody>
      </p:sp>
      <p:sp>
        <p:nvSpPr>
          <p:cNvPr id="4" name="Slide Number Placeholder 3"/>
          <p:cNvSpPr>
            <a:spLocks noGrp="1"/>
          </p:cNvSpPr>
          <p:nvPr>
            <p:ph type="sldNum" sz="quarter" idx="12"/>
          </p:nvPr>
        </p:nvSpPr>
        <p:spPr/>
        <p:txBody>
          <a:bodyPr/>
          <a:lstStyle/>
          <a:p>
            <a:fld id="{419AD9F6-4EE7-4800-9942-E27E009E2221}" type="slidenum">
              <a:rPr lang="en-US" smtClean="0"/>
              <a:t>‹#›</a:t>
            </a:fld>
            <a:endParaRPr lang="en-US"/>
          </a:p>
        </p:txBody>
      </p:sp>
    </p:spTree>
    <p:extLst>
      <p:ext uri="{BB962C8B-B14F-4D97-AF65-F5344CB8AC3E}">
        <p14:creationId xmlns:p14="http://schemas.microsoft.com/office/powerpoint/2010/main" val="1964045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BF0C84-3C13-49E6-805A-98347ED0A08F}" type="datetime1">
              <a:rPr lang="en-US" smtClean="0"/>
              <a:t>12/12/2023</a:t>
            </a:fld>
            <a:endParaRPr lang="en-US"/>
          </a:p>
        </p:txBody>
      </p:sp>
      <p:sp>
        <p:nvSpPr>
          <p:cNvPr id="6" name="Footer Placeholder 5"/>
          <p:cNvSpPr>
            <a:spLocks noGrp="1"/>
          </p:cNvSpPr>
          <p:nvPr>
            <p:ph type="ftr" sz="quarter" idx="11"/>
          </p:nvPr>
        </p:nvSpPr>
        <p:spPr/>
        <p:txBody>
          <a:bodyPr/>
          <a:lstStyle/>
          <a:p>
            <a:r>
              <a:rPr lang="en-US" smtClean="0"/>
              <a:t>Prepared By:-P.B.Jha </a:t>
            </a:r>
            <a:endParaRPr lang="en-US"/>
          </a:p>
        </p:txBody>
      </p:sp>
      <p:sp>
        <p:nvSpPr>
          <p:cNvPr id="7" name="Slide Number Placeholder 6"/>
          <p:cNvSpPr>
            <a:spLocks noGrp="1"/>
          </p:cNvSpPr>
          <p:nvPr>
            <p:ph type="sldNum" sz="quarter" idx="12"/>
          </p:nvPr>
        </p:nvSpPr>
        <p:spPr/>
        <p:txBody>
          <a:bodyPr/>
          <a:lstStyle/>
          <a:p>
            <a:fld id="{419AD9F6-4EE7-4800-9942-E27E009E2221}" type="slidenum">
              <a:rPr lang="en-US" smtClean="0"/>
              <a:t>‹#›</a:t>
            </a:fld>
            <a:endParaRPr lang="en-US"/>
          </a:p>
        </p:txBody>
      </p:sp>
    </p:spTree>
    <p:extLst>
      <p:ext uri="{BB962C8B-B14F-4D97-AF65-F5344CB8AC3E}">
        <p14:creationId xmlns:p14="http://schemas.microsoft.com/office/powerpoint/2010/main" val="113380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7FCC87-2BD8-4768-93AE-30E522E23520}" type="datetime1">
              <a:rPr lang="en-US" smtClean="0"/>
              <a:t>12/12/2023</a:t>
            </a:fld>
            <a:endParaRPr lang="en-US"/>
          </a:p>
        </p:txBody>
      </p:sp>
      <p:sp>
        <p:nvSpPr>
          <p:cNvPr id="6" name="Footer Placeholder 5"/>
          <p:cNvSpPr>
            <a:spLocks noGrp="1"/>
          </p:cNvSpPr>
          <p:nvPr>
            <p:ph type="ftr" sz="quarter" idx="11"/>
          </p:nvPr>
        </p:nvSpPr>
        <p:spPr/>
        <p:txBody>
          <a:bodyPr/>
          <a:lstStyle/>
          <a:p>
            <a:r>
              <a:rPr lang="en-US" smtClean="0"/>
              <a:t>Prepared By:-P.B.Jha </a:t>
            </a:r>
            <a:endParaRPr lang="en-US"/>
          </a:p>
        </p:txBody>
      </p:sp>
      <p:sp>
        <p:nvSpPr>
          <p:cNvPr id="7" name="Slide Number Placeholder 6"/>
          <p:cNvSpPr>
            <a:spLocks noGrp="1"/>
          </p:cNvSpPr>
          <p:nvPr>
            <p:ph type="sldNum" sz="quarter" idx="12"/>
          </p:nvPr>
        </p:nvSpPr>
        <p:spPr/>
        <p:txBody>
          <a:bodyPr/>
          <a:lstStyle/>
          <a:p>
            <a:fld id="{419AD9F6-4EE7-4800-9942-E27E009E2221}" type="slidenum">
              <a:rPr lang="en-US" smtClean="0"/>
              <a:t>‹#›</a:t>
            </a:fld>
            <a:endParaRPr lang="en-US"/>
          </a:p>
        </p:txBody>
      </p:sp>
    </p:spTree>
    <p:extLst>
      <p:ext uri="{BB962C8B-B14F-4D97-AF65-F5344CB8AC3E}">
        <p14:creationId xmlns:p14="http://schemas.microsoft.com/office/powerpoint/2010/main" val="1824658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7559373-9943-4FE8-8E96-29A39D68C328}" type="datetime1">
              <a:rPr lang="en-US" smtClean="0"/>
              <a:t>12/12/2023</a:t>
            </a:fld>
            <a:endParaRPr lang="en-US"/>
          </a:p>
        </p:txBody>
      </p:sp>
      <p:sp>
        <p:nvSpPr>
          <p:cNvPr id="5" name="Footer Placeholder 4"/>
          <p:cNvSpPr>
            <a:spLocks noGrp="1"/>
          </p:cNvSpPr>
          <p:nvPr>
            <p:ph type="ftr" sz="quarter" idx="11"/>
          </p:nvPr>
        </p:nvSpPr>
        <p:spPr/>
        <p:txBody>
          <a:bodyPr/>
          <a:lstStyle/>
          <a:p>
            <a:r>
              <a:rPr lang="en-US" smtClean="0"/>
              <a:t>Prepared By:-P.B.Jha </a:t>
            </a:r>
            <a:endParaRPr lang="en-US"/>
          </a:p>
        </p:txBody>
      </p:sp>
      <p:sp>
        <p:nvSpPr>
          <p:cNvPr id="6" name="Slide Number Placeholder 5"/>
          <p:cNvSpPr>
            <a:spLocks noGrp="1"/>
          </p:cNvSpPr>
          <p:nvPr>
            <p:ph type="sldNum" sz="quarter" idx="12"/>
          </p:nvPr>
        </p:nvSpPr>
        <p:spPr/>
        <p:txBody>
          <a:bodyPr/>
          <a:lstStyle/>
          <a:p>
            <a:fld id="{419AD9F6-4EE7-4800-9942-E27E009E2221}" type="slidenum">
              <a:rPr lang="en-US" smtClean="0"/>
              <a:t>‹#›</a:t>
            </a:fld>
            <a:endParaRPr lang="en-US"/>
          </a:p>
        </p:txBody>
      </p:sp>
    </p:spTree>
    <p:extLst>
      <p:ext uri="{BB962C8B-B14F-4D97-AF65-F5344CB8AC3E}">
        <p14:creationId xmlns:p14="http://schemas.microsoft.com/office/powerpoint/2010/main" val="1852401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E289B7F-6736-4D98-ACBF-725E40243921}" type="datetime1">
              <a:rPr lang="en-US" smtClean="0"/>
              <a:t>12/12/2023</a:t>
            </a:fld>
            <a:endParaRPr lang="en-US"/>
          </a:p>
        </p:txBody>
      </p:sp>
      <p:sp>
        <p:nvSpPr>
          <p:cNvPr id="5" name="Footer Placeholder 4"/>
          <p:cNvSpPr>
            <a:spLocks noGrp="1"/>
          </p:cNvSpPr>
          <p:nvPr>
            <p:ph type="ftr" sz="quarter" idx="11"/>
          </p:nvPr>
        </p:nvSpPr>
        <p:spPr/>
        <p:txBody>
          <a:bodyPr/>
          <a:lstStyle/>
          <a:p>
            <a:r>
              <a:rPr lang="en-US" smtClean="0"/>
              <a:t>Prepared By:-P.B.Jha </a:t>
            </a:r>
            <a:endParaRPr lang="en-US"/>
          </a:p>
        </p:txBody>
      </p:sp>
      <p:sp>
        <p:nvSpPr>
          <p:cNvPr id="6" name="Slide Number Placeholder 5"/>
          <p:cNvSpPr>
            <a:spLocks noGrp="1"/>
          </p:cNvSpPr>
          <p:nvPr>
            <p:ph type="sldNum" sz="quarter" idx="12"/>
          </p:nvPr>
        </p:nvSpPr>
        <p:spPr/>
        <p:txBody>
          <a:bodyPr/>
          <a:lstStyle/>
          <a:p>
            <a:fld id="{419AD9F6-4EE7-4800-9942-E27E009E2221}" type="slidenum">
              <a:rPr lang="en-US" smtClean="0"/>
              <a:t>‹#›</a:t>
            </a:fld>
            <a:endParaRPr lang="en-US"/>
          </a:p>
        </p:txBody>
      </p:sp>
    </p:spTree>
    <p:extLst>
      <p:ext uri="{BB962C8B-B14F-4D97-AF65-F5344CB8AC3E}">
        <p14:creationId xmlns:p14="http://schemas.microsoft.com/office/powerpoint/2010/main" val="2062180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C85EA9-9756-4B02-A59A-06A766FF7E6F}" type="datetime1">
              <a:rPr lang="en-US" smtClean="0"/>
              <a:t>12/12/2023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Prepared By:-P.B.Jha </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9AD9F6-4EE7-4800-9942-E27E009E2221}" type="slidenum">
              <a:rPr lang="en-US" smtClean="0"/>
              <a:t>‹#›</a:t>
            </a:fld>
            <a:endParaRPr lang="en-US"/>
          </a:p>
        </p:txBody>
      </p:sp>
    </p:spTree>
    <p:extLst>
      <p:ext uri="{BB962C8B-B14F-4D97-AF65-F5344CB8AC3E}">
        <p14:creationId xmlns:p14="http://schemas.microsoft.com/office/powerpoint/2010/main" val="16877573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r>
              <a:rPr lang="en-US" b="1" dirty="0" smtClean="0"/>
              <a:t>Prepared By:-</a:t>
            </a:r>
            <a:r>
              <a:rPr lang="en-US" b="1" dirty="0" err="1" smtClean="0"/>
              <a:t>P.B.Jha</a:t>
            </a:r>
            <a:r>
              <a:rPr lang="en-US" b="1" dirty="0" smtClean="0"/>
              <a:t> </a:t>
            </a:r>
            <a:endParaRPr lang="en-US" b="1" dirty="0"/>
          </a:p>
        </p:txBody>
      </p:sp>
      <p:sp>
        <p:nvSpPr>
          <p:cNvPr id="2" name="Rectangle 1"/>
          <p:cNvSpPr/>
          <p:nvPr/>
        </p:nvSpPr>
        <p:spPr>
          <a:xfrm>
            <a:off x="633661" y="385011"/>
            <a:ext cx="10924675" cy="3231654"/>
          </a:xfrm>
          <a:prstGeom prst="rect">
            <a:avLst/>
          </a:prstGeom>
        </p:spPr>
        <p:txBody>
          <a:bodyPr wrap="square">
            <a:spAutoFit/>
          </a:bodyPr>
          <a:lstStyle/>
          <a:p>
            <a:pPr algn="ctr"/>
            <a:r>
              <a:rPr lang="en-US" sz="2400" b="1" dirty="0">
                <a:latin typeface="Times New Roman" panose="02020603050405020304" pitchFamily="18" charset="0"/>
                <a:cs typeface="Times New Roman" panose="02020603050405020304" pitchFamily="18" charset="0"/>
              </a:rPr>
              <a:t>Unit 6:  Three-Dimensional Object Representation and Curve Modeling (6 Hrs</a:t>
            </a:r>
            <a:r>
              <a:rPr lang="en-US" sz="2400" b="1" dirty="0" smtClean="0">
                <a:latin typeface="Times New Roman" panose="02020603050405020304" pitchFamily="18" charset="0"/>
                <a:cs typeface="Times New Roman" panose="02020603050405020304" pitchFamily="18" charset="0"/>
              </a:rPr>
              <a:t>.)</a:t>
            </a:r>
          </a:p>
          <a:p>
            <a:pPr marL="285750" indent="-285750">
              <a:lnSpc>
                <a:spcPct val="200000"/>
              </a:lnSpc>
              <a:buFont typeface="Arial" panose="020B0604020202020204" pitchFamily="34" charset="0"/>
              <a:buChar char="•"/>
            </a:pPr>
            <a:r>
              <a:rPr lang="en-US" b="1" dirty="0" smtClean="0">
                <a:latin typeface="Times New Roman" panose="02020603050405020304" pitchFamily="18" charset="0"/>
                <a:cs typeface="Times New Roman" panose="02020603050405020304" pitchFamily="18" charset="0"/>
              </a:rPr>
              <a:t>Boundary  </a:t>
            </a:r>
            <a:r>
              <a:rPr lang="en-US" b="1" dirty="0">
                <a:latin typeface="Times New Roman" panose="02020603050405020304" pitchFamily="18" charset="0"/>
                <a:cs typeface="Times New Roman" panose="02020603050405020304" pitchFamily="18" charset="0"/>
              </a:rPr>
              <a:t>Surface  Representation  </a:t>
            </a:r>
            <a:r>
              <a:rPr lang="en-US" b="1" dirty="0" err="1">
                <a:latin typeface="Times New Roman" panose="02020603050405020304" pitchFamily="18" charset="0"/>
                <a:cs typeface="Times New Roman" panose="02020603050405020304" pitchFamily="18" charset="0"/>
              </a:rPr>
              <a:t>Vs</a:t>
            </a:r>
            <a:r>
              <a:rPr lang="en-US" b="1" dirty="0">
                <a:latin typeface="Times New Roman" panose="02020603050405020304" pitchFamily="18" charset="0"/>
                <a:cs typeface="Times New Roman" panose="02020603050405020304" pitchFamily="18" charset="0"/>
              </a:rPr>
              <a:t> Space  Partitioning  </a:t>
            </a:r>
            <a:r>
              <a:rPr lang="en-US" b="1" dirty="0" smtClean="0">
                <a:latin typeface="Times New Roman" panose="02020603050405020304" pitchFamily="18" charset="0"/>
                <a:cs typeface="Times New Roman" panose="02020603050405020304" pitchFamily="18" charset="0"/>
              </a:rPr>
              <a:t>Representation</a:t>
            </a:r>
          </a:p>
          <a:p>
            <a:pPr marL="285750" indent="-285750">
              <a:lnSpc>
                <a:spcPct val="200000"/>
              </a:lnSpc>
              <a:buFont typeface="Arial" panose="020B0604020202020204" pitchFamily="34" charset="0"/>
              <a:buChar char="•"/>
            </a:pPr>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Polygon  Surface Representation: Polygon Table and Polygon Meshes, Wireframe and Sweep Representation, </a:t>
            </a:r>
            <a:r>
              <a:rPr lang="en-US" b="1" dirty="0" err="1">
                <a:latin typeface="Times New Roman" panose="02020603050405020304" pitchFamily="18" charset="0"/>
                <a:cs typeface="Times New Roman" panose="02020603050405020304" pitchFamily="18" charset="0"/>
              </a:rPr>
              <a:t>Octree</a:t>
            </a:r>
            <a:r>
              <a:rPr lang="en-US" b="1" dirty="0">
                <a:latin typeface="Times New Roman" panose="02020603050405020304" pitchFamily="18" charset="0"/>
                <a:cs typeface="Times New Roman" panose="02020603050405020304" pitchFamily="18" charset="0"/>
              </a:rPr>
              <a:t> Representation, Bezier Curve, B-Spline Curve</a:t>
            </a:r>
            <a:r>
              <a:rPr lang="en-US" b="1" dirty="0" smtClean="0">
                <a:latin typeface="Times New Roman" panose="02020603050405020304" pitchFamily="18" charset="0"/>
                <a:cs typeface="Times New Roman" panose="02020603050405020304" pitchFamily="18" charset="0"/>
              </a:rPr>
              <a:t>,</a:t>
            </a:r>
          </a:p>
          <a:p>
            <a:pPr marL="285750" indent="-285750">
              <a:lnSpc>
                <a:spcPct val="200000"/>
              </a:lnSpc>
              <a:buFont typeface="Arial" panose="020B0604020202020204" pitchFamily="34" charset="0"/>
              <a:buChar char="•"/>
            </a:pPr>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Fractal-Geometry: Fractal Dimension, Koch Curve</a:t>
            </a:r>
            <a:r>
              <a:rPr lang="en-US" b="1" dirty="0" smtClean="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72473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a:solidFill>
            <a:schemeClr val="accent1">
              <a:lumMod val="60000"/>
              <a:lumOff val="40000"/>
            </a:schemeClr>
          </a:solidFill>
        </p:spPr>
        <p:txBody>
          <a:bodyPr/>
          <a:lstStyle/>
          <a:p>
            <a:r>
              <a:rPr lang="en-US" sz="1600" b="1" dirty="0" smtClean="0">
                <a:solidFill>
                  <a:srgbClr val="FF0000"/>
                </a:solidFill>
                <a:latin typeface="Times New Roman" panose="02020603050405020304" pitchFamily="18" charset="0"/>
                <a:cs typeface="Times New Roman" panose="02020603050405020304" pitchFamily="18" charset="0"/>
              </a:rPr>
              <a:t>Prepared By:-</a:t>
            </a:r>
            <a:r>
              <a:rPr lang="en-US" sz="1600" b="1" dirty="0" err="1" smtClean="0">
                <a:solidFill>
                  <a:srgbClr val="FF0000"/>
                </a:solidFill>
                <a:latin typeface="Times New Roman" panose="02020603050405020304" pitchFamily="18" charset="0"/>
                <a:cs typeface="Times New Roman" panose="02020603050405020304" pitchFamily="18" charset="0"/>
              </a:rPr>
              <a:t>P.B.Jha</a:t>
            </a:r>
            <a:r>
              <a:rPr lang="en-US" sz="1600" b="1" dirty="0" smtClean="0">
                <a:solidFill>
                  <a:srgbClr val="FF0000"/>
                </a:solidFill>
                <a:latin typeface="Times New Roman" panose="02020603050405020304" pitchFamily="18" charset="0"/>
                <a:cs typeface="Times New Roman" panose="02020603050405020304" pitchFamily="18" charset="0"/>
              </a:rPr>
              <a:t> </a:t>
            </a:r>
            <a:endParaRPr lang="en-US" sz="1600" b="1" dirty="0">
              <a:solidFill>
                <a:srgbClr val="FF0000"/>
              </a:solidFill>
              <a:latin typeface="Times New Roman" panose="02020603050405020304" pitchFamily="18" charset="0"/>
              <a:cs typeface="Times New Roman" panose="02020603050405020304" pitchFamily="18" charset="0"/>
            </a:endParaRPr>
          </a:p>
        </p:txBody>
      </p:sp>
      <p:sp>
        <p:nvSpPr>
          <p:cNvPr id="2" name="Rectangle 1"/>
          <p:cNvSpPr/>
          <p:nvPr/>
        </p:nvSpPr>
        <p:spPr>
          <a:xfrm>
            <a:off x="3360909" y="469050"/>
            <a:ext cx="3641381" cy="369332"/>
          </a:xfrm>
          <a:prstGeom prst="rect">
            <a:avLst/>
          </a:prstGeom>
        </p:spPr>
        <p:txBody>
          <a:bodyPr wrap="none">
            <a:spAutoFit/>
          </a:bodyPr>
          <a:lstStyle/>
          <a:p>
            <a:r>
              <a:rPr lang="en-US" dirty="0">
                <a:solidFill>
                  <a:srgbClr val="FF0000"/>
                </a:solidFill>
              </a:rPr>
              <a:t>B-Spline Curve in Computer Graphics</a:t>
            </a:r>
          </a:p>
        </p:txBody>
      </p:sp>
      <p:sp>
        <p:nvSpPr>
          <p:cNvPr id="4" name="Rectangle 3"/>
          <p:cNvSpPr/>
          <p:nvPr/>
        </p:nvSpPr>
        <p:spPr>
          <a:xfrm>
            <a:off x="433137" y="1239576"/>
            <a:ext cx="11261558" cy="3970318"/>
          </a:xfrm>
          <a:prstGeom prst="rect">
            <a:avLst/>
          </a:prstGeom>
        </p:spPr>
        <p:txBody>
          <a:bodyPr wrap="square">
            <a:spAutoFit/>
          </a:bodyPr>
          <a:lstStyle/>
          <a:p>
            <a:pPr marL="285750" indent="-285750">
              <a:lnSpc>
                <a:spcPct val="200000"/>
              </a:lnSpc>
              <a:buFont typeface="Wingdings" panose="05000000000000000000" pitchFamily="2" charset="2"/>
              <a:buChar char="§"/>
            </a:pPr>
            <a:r>
              <a:rPr lang="en-US" dirty="0"/>
              <a:t>Concept of B-spline curve came to resolve the disadvantages having by Bezier curve, as we all know that both curves are parametric in nature</a:t>
            </a:r>
            <a:r>
              <a:rPr lang="en-US" dirty="0" smtClean="0"/>
              <a:t>.</a:t>
            </a:r>
          </a:p>
          <a:p>
            <a:pPr marL="285750" indent="-285750">
              <a:lnSpc>
                <a:spcPct val="200000"/>
              </a:lnSpc>
              <a:buFont typeface="Wingdings" panose="05000000000000000000" pitchFamily="2" charset="2"/>
              <a:buChar char="§"/>
            </a:pPr>
            <a:r>
              <a:rPr lang="en-US" dirty="0" smtClean="0"/>
              <a:t> </a:t>
            </a:r>
            <a:r>
              <a:rPr lang="en-US" dirty="0"/>
              <a:t>In Bezier curve we face a problem, when we change any of the control point respective location the whole curve shape gets change. But here in B-spline curve, the only a specific segment of the curve-shape gets changes or affected by the changing of the corresponding location of the control points</a:t>
            </a:r>
            <a:r>
              <a:rPr lang="en-US" dirty="0" smtClean="0"/>
              <a:t>.</a:t>
            </a:r>
            <a:endParaRPr lang="en-US" dirty="0"/>
          </a:p>
          <a:p>
            <a:pPr marL="285750" indent="-285750">
              <a:lnSpc>
                <a:spcPct val="200000"/>
              </a:lnSpc>
              <a:buFont typeface="Wingdings" panose="05000000000000000000" pitchFamily="2" charset="2"/>
              <a:buChar char="§"/>
            </a:pPr>
            <a:r>
              <a:rPr lang="en-US" dirty="0"/>
              <a:t>In the B-spline curve, the control points impart local control over the curve-shape rather than the global control like Bezier-curve.</a:t>
            </a:r>
          </a:p>
        </p:txBody>
      </p:sp>
    </p:spTree>
    <p:extLst>
      <p:ext uri="{BB962C8B-B14F-4D97-AF65-F5344CB8AC3E}">
        <p14:creationId xmlns:p14="http://schemas.microsoft.com/office/powerpoint/2010/main" val="24764309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a:solidFill>
            <a:schemeClr val="accent1">
              <a:lumMod val="60000"/>
              <a:lumOff val="40000"/>
            </a:schemeClr>
          </a:solidFill>
        </p:spPr>
        <p:txBody>
          <a:bodyPr/>
          <a:lstStyle/>
          <a:p>
            <a:r>
              <a:rPr lang="en-US" sz="1600" b="1" dirty="0" smtClean="0">
                <a:solidFill>
                  <a:srgbClr val="FF0000"/>
                </a:solidFill>
                <a:latin typeface="Times New Roman" panose="02020603050405020304" pitchFamily="18" charset="0"/>
                <a:cs typeface="Times New Roman" panose="02020603050405020304" pitchFamily="18" charset="0"/>
              </a:rPr>
              <a:t>Prepared By:-</a:t>
            </a:r>
            <a:r>
              <a:rPr lang="en-US" sz="1600" b="1" dirty="0" err="1" smtClean="0">
                <a:solidFill>
                  <a:srgbClr val="FF0000"/>
                </a:solidFill>
                <a:latin typeface="Times New Roman" panose="02020603050405020304" pitchFamily="18" charset="0"/>
                <a:cs typeface="Times New Roman" panose="02020603050405020304" pitchFamily="18" charset="0"/>
              </a:rPr>
              <a:t>P.B.Jha</a:t>
            </a:r>
            <a:r>
              <a:rPr lang="en-US" sz="1600" b="1" dirty="0" smtClean="0">
                <a:solidFill>
                  <a:srgbClr val="FF0000"/>
                </a:solidFill>
                <a:latin typeface="Times New Roman" panose="02020603050405020304" pitchFamily="18" charset="0"/>
                <a:cs typeface="Times New Roman" panose="02020603050405020304" pitchFamily="18" charset="0"/>
              </a:rPr>
              <a:t> </a:t>
            </a:r>
            <a:endParaRPr lang="en-US" sz="1600" b="1" dirty="0">
              <a:solidFill>
                <a:srgbClr val="FF0000"/>
              </a:solidFill>
              <a:latin typeface="Times New Roman" panose="02020603050405020304" pitchFamily="18" charset="0"/>
              <a:cs typeface="Times New Roman" panose="02020603050405020304" pitchFamily="18" charset="0"/>
            </a:endParaRPr>
          </a:p>
        </p:txBody>
      </p:sp>
      <p:sp>
        <p:nvSpPr>
          <p:cNvPr id="2" name="Rectangle 1"/>
          <p:cNvSpPr/>
          <p:nvPr/>
        </p:nvSpPr>
        <p:spPr>
          <a:xfrm>
            <a:off x="465221" y="763687"/>
            <a:ext cx="6930190" cy="369332"/>
          </a:xfrm>
          <a:prstGeom prst="rect">
            <a:avLst/>
          </a:prstGeom>
        </p:spPr>
        <p:txBody>
          <a:bodyPr wrap="square">
            <a:spAutoFit/>
          </a:bodyPr>
          <a:lstStyle/>
          <a:p>
            <a:r>
              <a:rPr lang="en-US" dirty="0"/>
              <a:t>B-spline curve shape before changing the position of control point P1 –</a:t>
            </a:r>
          </a:p>
        </p:txBody>
      </p:sp>
      <p:pic>
        <p:nvPicPr>
          <p:cNvPr id="3" name="Picture 2"/>
          <p:cNvPicPr>
            <a:picLocks noChangeAspect="1"/>
          </p:cNvPicPr>
          <p:nvPr/>
        </p:nvPicPr>
        <p:blipFill>
          <a:blip r:embed="rId3"/>
          <a:stretch>
            <a:fillRect/>
          </a:stretch>
        </p:blipFill>
        <p:spPr>
          <a:xfrm>
            <a:off x="624639" y="1496428"/>
            <a:ext cx="4813634" cy="2727726"/>
          </a:xfrm>
          <a:prstGeom prst="rect">
            <a:avLst/>
          </a:prstGeom>
        </p:spPr>
      </p:pic>
      <p:sp>
        <p:nvSpPr>
          <p:cNvPr id="4" name="Rectangle 3"/>
          <p:cNvSpPr/>
          <p:nvPr/>
        </p:nvSpPr>
        <p:spPr>
          <a:xfrm>
            <a:off x="7395411" y="973208"/>
            <a:ext cx="5085347" cy="523220"/>
          </a:xfrm>
          <a:prstGeom prst="rect">
            <a:avLst/>
          </a:prstGeom>
        </p:spPr>
        <p:txBody>
          <a:bodyPr wrap="square">
            <a:spAutoFit/>
          </a:bodyPr>
          <a:lstStyle/>
          <a:p>
            <a:r>
              <a:rPr lang="en-US" sz="1400" b="1" dirty="0">
                <a:solidFill>
                  <a:srgbClr val="273239"/>
                </a:solidFill>
                <a:latin typeface="Nunito"/>
              </a:rPr>
              <a:t>B-spline curve shape after changing the position of control point P</a:t>
            </a:r>
            <a:r>
              <a:rPr lang="en-US" sz="1400" b="1" baseline="-25000" dirty="0">
                <a:solidFill>
                  <a:srgbClr val="273239"/>
                </a:solidFill>
                <a:latin typeface="Nunito"/>
              </a:rPr>
              <a:t>1</a:t>
            </a:r>
            <a:r>
              <a:rPr lang="en-US" sz="1400" b="1" dirty="0">
                <a:solidFill>
                  <a:srgbClr val="273239"/>
                </a:solidFill>
                <a:latin typeface="Nunito"/>
              </a:rPr>
              <a:t> </a:t>
            </a:r>
            <a:endParaRPr lang="en-US" sz="1400" dirty="0"/>
          </a:p>
        </p:txBody>
      </p:sp>
      <p:pic>
        <p:nvPicPr>
          <p:cNvPr id="5" name="Picture 4"/>
          <p:cNvPicPr>
            <a:picLocks noChangeAspect="1"/>
          </p:cNvPicPr>
          <p:nvPr/>
        </p:nvPicPr>
        <p:blipFill>
          <a:blip r:embed="rId4"/>
          <a:stretch>
            <a:fillRect/>
          </a:stretch>
        </p:blipFill>
        <p:spPr>
          <a:xfrm>
            <a:off x="6929186" y="1705949"/>
            <a:ext cx="4987650" cy="2826335"/>
          </a:xfrm>
          <a:prstGeom prst="rect">
            <a:avLst/>
          </a:prstGeom>
        </p:spPr>
      </p:pic>
      <p:sp>
        <p:nvSpPr>
          <p:cNvPr id="6" name="Rectangle 5"/>
          <p:cNvSpPr/>
          <p:nvPr/>
        </p:nvSpPr>
        <p:spPr>
          <a:xfrm>
            <a:off x="5967664" y="4982652"/>
            <a:ext cx="6096000" cy="923330"/>
          </a:xfrm>
          <a:prstGeom prst="rect">
            <a:avLst/>
          </a:prstGeom>
        </p:spPr>
        <p:txBody>
          <a:bodyPr>
            <a:spAutoFit/>
          </a:bodyPr>
          <a:lstStyle/>
          <a:p>
            <a:r>
              <a:rPr lang="en-US" dirty="0"/>
              <a:t>You can see in the above figure that only the segment-1st shape as we have only changed the control point P1, and the shape of segment-2nd remains intact.</a:t>
            </a:r>
          </a:p>
        </p:txBody>
      </p:sp>
    </p:spTree>
    <p:extLst>
      <p:ext uri="{BB962C8B-B14F-4D97-AF65-F5344CB8AC3E}">
        <p14:creationId xmlns:p14="http://schemas.microsoft.com/office/powerpoint/2010/main" val="18328959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Prepared By:-P.B.Jha </a:t>
            </a:r>
            <a:endParaRPr lang="en-US"/>
          </a:p>
        </p:txBody>
      </p:sp>
      <p:sp>
        <p:nvSpPr>
          <p:cNvPr id="3" name="Rectangle 2"/>
          <p:cNvSpPr/>
          <p:nvPr/>
        </p:nvSpPr>
        <p:spPr>
          <a:xfrm>
            <a:off x="385010" y="205008"/>
            <a:ext cx="11421979" cy="2031325"/>
          </a:xfrm>
          <a:prstGeom prst="rect">
            <a:avLst/>
          </a:prstGeom>
        </p:spPr>
        <p:txBody>
          <a:bodyPr wrap="square">
            <a:spAutoFit/>
          </a:bodyPr>
          <a:lstStyle/>
          <a:p>
            <a:r>
              <a:rPr lang="en-US" dirty="0"/>
              <a:t>B-spline Curve :</a:t>
            </a:r>
          </a:p>
          <a:p>
            <a:pPr marL="285750" indent="-285750">
              <a:lnSpc>
                <a:spcPct val="150000"/>
              </a:lnSpc>
              <a:buFont typeface="Wingdings" panose="05000000000000000000" pitchFamily="2" charset="2"/>
              <a:buChar char="§"/>
            </a:pPr>
            <a:r>
              <a:rPr lang="en-US" dirty="0"/>
              <a:t>As we see above that the B-splines curves are independent of the number of control points and made up of joining the several segments smoothly, where each segment shape is decided by some specific control points that come in that region of segment. Consider a curve given below –</a:t>
            </a:r>
          </a:p>
          <a:p>
            <a:pPr marL="285750" indent="-285750">
              <a:lnSpc>
                <a:spcPct val="150000"/>
              </a:lnSpc>
              <a:buFont typeface="Wingdings" panose="05000000000000000000" pitchFamily="2" charset="2"/>
              <a:buChar char="§"/>
            </a:pPr>
            <a:r>
              <a:rPr lang="en-US" dirty="0"/>
              <a:t> </a:t>
            </a:r>
          </a:p>
        </p:txBody>
      </p:sp>
      <p:pic>
        <p:nvPicPr>
          <p:cNvPr id="4" name="Picture 3"/>
          <p:cNvPicPr>
            <a:picLocks noChangeAspect="1"/>
          </p:cNvPicPr>
          <p:nvPr/>
        </p:nvPicPr>
        <p:blipFill>
          <a:blip r:embed="rId2"/>
          <a:stretch>
            <a:fillRect/>
          </a:stretch>
        </p:blipFill>
        <p:spPr>
          <a:xfrm>
            <a:off x="328507" y="2928417"/>
            <a:ext cx="5494777" cy="1864894"/>
          </a:xfrm>
          <a:prstGeom prst="rect">
            <a:avLst/>
          </a:prstGeom>
        </p:spPr>
      </p:pic>
      <p:sp>
        <p:nvSpPr>
          <p:cNvPr id="5" name="Rectangle 4"/>
          <p:cNvSpPr/>
          <p:nvPr/>
        </p:nvSpPr>
        <p:spPr>
          <a:xfrm>
            <a:off x="5823284" y="1940867"/>
            <a:ext cx="6096000" cy="4524315"/>
          </a:xfrm>
          <a:prstGeom prst="rect">
            <a:avLst/>
          </a:prstGeom>
        </p:spPr>
        <p:txBody>
          <a:bodyPr>
            <a:spAutoFit/>
          </a:bodyPr>
          <a:lstStyle/>
          <a:p>
            <a:r>
              <a:rPr lang="en-US" dirty="0"/>
              <a:t>Attributes of this curve are </a:t>
            </a:r>
            <a:r>
              <a:rPr lang="en-US" dirty="0" smtClean="0"/>
              <a:t>–</a:t>
            </a:r>
            <a:endParaRPr lang="en-US" dirty="0"/>
          </a:p>
          <a:p>
            <a:pPr marL="285750" indent="-285750">
              <a:lnSpc>
                <a:spcPct val="150000"/>
              </a:lnSpc>
              <a:buFont typeface="Arial" panose="020B0604020202020204" pitchFamily="34" charset="0"/>
              <a:buChar char="•"/>
            </a:pPr>
            <a:r>
              <a:rPr lang="en-US" dirty="0"/>
              <a:t>We have “n+1” control points in the above, so, n+1=8, so n=7.</a:t>
            </a:r>
          </a:p>
          <a:p>
            <a:pPr marL="285750" indent="-285750">
              <a:lnSpc>
                <a:spcPct val="150000"/>
              </a:lnSpc>
              <a:buFont typeface="Arial" panose="020B0604020202020204" pitchFamily="34" charset="0"/>
              <a:buChar char="•"/>
            </a:pPr>
            <a:r>
              <a:rPr lang="en-US" dirty="0"/>
              <a:t>Let’s assume that the order of this curve is ‘k’, so the curve that we get will be of a polynomial degree of “k-1”. Conventionally it’s said that the value of ‘k’ must be in the range: 2 ≤ k ≤ n+1. So, let us assume k=4, so the curve degree will be k-1 = 3.</a:t>
            </a:r>
          </a:p>
          <a:p>
            <a:pPr marL="285750" indent="-285750">
              <a:lnSpc>
                <a:spcPct val="150000"/>
              </a:lnSpc>
              <a:buFont typeface="Arial" panose="020B0604020202020204" pitchFamily="34" charset="0"/>
              <a:buChar char="•"/>
            </a:pPr>
            <a:r>
              <a:rPr lang="en-US" dirty="0"/>
              <a:t>The total number of segments for this curve will be calculated through the following formula –</a:t>
            </a:r>
          </a:p>
          <a:p>
            <a:pPr marL="285750" indent="-285750">
              <a:lnSpc>
                <a:spcPct val="150000"/>
              </a:lnSpc>
              <a:buFont typeface="Arial" panose="020B0604020202020204" pitchFamily="34" charset="0"/>
              <a:buChar char="•"/>
            </a:pPr>
            <a:r>
              <a:rPr lang="en-US" dirty="0"/>
              <a:t>Total no. of </a:t>
            </a:r>
            <a:r>
              <a:rPr lang="en-US" dirty="0" err="1"/>
              <a:t>seg</a:t>
            </a:r>
            <a:r>
              <a:rPr lang="en-US" dirty="0"/>
              <a:t> = n – k + 2 = 7 – 4 + 2 = 5.</a:t>
            </a:r>
          </a:p>
        </p:txBody>
      </p:sp>
    </p:spTree>
    <p:extLst>
      <p:ext uri="{BB962C8B-B14F-4D97-AF65-F5344CB8AC3E}">
        <p14:creationId xmlns:p14="http://schemas.microsoft.com/office/powerpoint/2010/main" val="26772638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Prepared By:-P.B.Jha </a:t>
            </a:r>
            <a:endParaRPr lang="en-US"/>
          </a:p>
        </p:txBody>
      </p:sp>
      <p:sp>
        <p:nvSpPr>
          <p:cNvPr id="3" name="Rectangle 2"/>
          <p:cNvSpPr/>
          <p:nvPr/>
        </p:nvSpPr>
        <p:spPr>
          <a:xfrm>
            <a:off x="625642" y="787206"/>
            <a:ext cx="3978442" cy="2542363"/>
          </a:xfrm>
          <a:prstGeom prst="rect">
            <a:avLst/>
          </a:prstGeom>
        </p:spPr>
        <p:txBody>
          <a:bodyPr wrap="square">
            <a:spAutoFit/>
          </a:bodyPr>
          <a:lstStyle/>
          <a:p>
            <a:pPr>
              <a:lnSpc>
                <a:spcPct val="150000"/>
              </a:lnSpc>
            </a:pPr>
            <a:r>
              <a:rPr lang="en-US" dirty="0"/>
              <a:t>Segments	Control points	Parameter</a:t>
            </a:r>
          </a:p>
          <a:p>
            <a:pPr>
              <a:lnSpc>
                <a:spcPct val="150000"/>
              </a:lnSpc>
            </a:pPr>
            <a:r>
              <a:rPr lang="en-US" dirty="0"/>
              <a:t>S0	P0,P1,P2,P3	0≤t≤2</a:t>
            </a:r>
          </a:p>
          <a:p>
            <a:pPr>
              <a:lnSpc>
                <a:spcPct val="150000"/>
              </a:lnSpc>
            </a:pPr>
            <a:r>
              <a:rPr lang="en-US" dirty="0"/>
              <a:t>S1	P1,P2,P3,P4	2≤t≤3</a:t>
            </a:r>
          </a:p>
          <a:p>
            <a:pPr>
              <a:lnSpc>
                <a:spcPct val="150000"/>
              </a:lnSpc>
            </a:pPr>
            <a:r>
              <a:rPr lang="en-US" dirty="0"/>
              <a:t>S2	P2,P3,P4,P5	3≤t≤4</a:t>
            </a:r>
          </a:p>
          <a:p>
            <a:pPr>
              <a:lnSpc>
                <a:spcPct val="150000"/>
              </a:lnSpc>
            </a:pPr>
            <a:r>
              <a:rPr lang="en-US" dirty="0"/>
              <a:t>S3	P3,P4,P5,P6	4≤t≤5</a:t>
            </a:r>
          </a:p>
          <a:p>
            <a:pPr>
              <a:lnSpc>
                <a:spcPct val="150000"/>
              </a:lnSpc>
            </a:pPr>
            <a:r>
              <a:rPr lang="en-US" dirty="0"/>
              <a:t>S4	P4,P5,P6,P7	5≤t≤6</a:t>
            </a:r>
          </a:p>
        </p:txBody>
      </p:sp>
      <p:sp>
        <p:nvSpPr>
          <p:cNvPr id="4" name="Rectangle 3"/>
          <p:cNvSpPr/>
          <p:nvPr/>
        </p:nvSpPr>
        <p:spPr>
          <a:xfrm>
            <a:off x="5261810" y="475436"/>
            <a:ext cx="6609347" cy="3693319"/>
          </a:xfrm>
          <a:prstGeom prst="rect">
            <a:avLst/>
          </a:prstGeom>
        </p:spPr>
        <p:txBody>
          <a:bodyPr wrap="square">
            <a:spAutoFit/>
          </a:bodyPr>
          <a:lstStyle/>
          <a:p>
            <a:r>
              <a:rPr lang="en-US" b="1" dirty="0"/>
              <a:t>Knots in B-spline Curve : </a:t>
            </a:r>
          </a:p>
          <a:p>
            <a:r>
              <a:rPr lang="en-US" dirty="0"/>
              <a:t>The point between two segments of a curve that joins each other such points are known as knots in B-spline curve. In the case of the cubic polynomial degree curve, the knots are “n+4”. But in other common cases, we have “n+k+1” knots. So, for the above curve, the total knots vectors will be –</a:t>
            </a:r>
          </a:p>
          <a:p>
            <a:endParaRPr lang="en-US" dirty="0"/>
          </a:p>
          <a:p>
            <a:r>
              <a:rPr lang="en-US" dirty="0"/>
              <a:t>Total knots = n+k+1 = 7 + 4 + 1 = 12</a:t>
            </a:r>
          </a:p>
          <a:p>
            <a:r>
              <a:rPr lang="en-US" dirty="0"/>
              <a:t>These knot vectors could be of three types –</a:t>
            </a:r>
          </a:p>
          <a:p>
            <a:endParaRPr lang="en-US" dirty="0"/>
          </a:p>
          <a:p>
            <a:r>
              <a:rPr lang="en-US" dirty="0"/>
              <a:t>Uniform (periodic)</a:t>
            </a:r>
          </a:p>
          <a:p>
            <a:r>
              <a:rPr lang="en-US" dirty="0"/>
              <a:t>Open-Uniform</a:t>
            </a:r>
          </a:p>
          <a:p>
            <a:r>
              <a:rPr lang="en-US" dirty="0"/>
              <a:t>Non-Uniform</a:t>
            </a:r>
          </a:p>
        </p:txBody>
      </p:sp>
      <p:pic>
        <p:nvPicPr>
          <p:cNvPr id="5" name="Picture 4"/>
          <p:cNvPicPr>
            <a:picLocks noChangeAspect="1"/>
          </p:cNvPicPr>
          <p:nvPr/>
        </p:nvPicPr>
        <p:blipFill>
          <a:blip r:embed="rId2"/>
          <a:stretch>
            <a:fillRect/>
          </a:stretch>
        </p:blipFill>
        <p:spPr>
          <a:xfrm>
            <a:off x="3084109" y="3329569"/>
            <a:ext cx="8482249" cy="2878824"/>
          </a:xfrm>
          <a:prstGeom prst="rect">
            <a:avLst/>
          </a:prstGeom>
        </p:spPr>
      </p:pic>
    </p:spTree>
    <p:extLst>
      <p:ext uri="{BB962C8B-B14F-4D97-AF65-F5344CB8AC3E}">
        <p14:creationId xmlns:p14="http://schemas.microsoft.com/office/powerpoint/2010/main" val="40869575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Prepared By:-P.B.Jha </a:t>
            </a:r>
            <a:endParaRPr lang="en-US"/>
          </a:p>
        </p:txBody>
      </p:sp>
      <p:sp>
        <p:nvSpPr>
          <p:cNvPr id="4" name="AutoShape 4" descr="\mathbf{Q(t)=\sum^n_{i=o} P_i* N_{i,k}(t)}\\ \textbf{Where \,}\mathbf{N_{i,k}}\textbf{ \,is Basis function of B-splne curve.}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Rectangle 4"/>
          <p:cNvSpPr/>
          <p:nvPr/>
        </p:nvSpPr>
        <p:spPr>
          <a:xfrm>
            <a:off x="460374" y="587225"/>
            <a:ext cx="9004467" cy="369332"/>
          </a:xfrm>
          <a:prstGeom prst="rect">
            <a:avLst/>
          </a:prstGeom>
        </p:spPr>
        <p:txBody>
          <a:bodyPr wrap="square">
            <a:spAutoFit/>
          </a:bodyPr>
          <a:lstStyle/>
          <a:p>
            <a:r>
              <a:rPr lang="en-US" dirty="0"/>
              <a:t>B-spline Curve Equation : The equation of the spline-curve is as follows –</a:t>
            </a:r>
          </a:p>
        </p:txBody>
      </p:sp>
      <mc:AlternateContent xmlns:mc="http://schemas.openxmlformats.org/markup-compatibility/2006" xmlns:a14="http://schemas.microsoft.com/office/drawing/2010/main">
        <mc:Choice Requires="a14">
          <p:sp>
            <p:nvSpPr>
              <p:cNvPr id="3" name="TextBox 2"/>
              <p:cNvSpPr txBox="1"/>
              <p:nvPr/>
            </p:nvSpPr>
            <p:spPr>
              <a:xfrm>
                <a:off x="4752816" y="2986266"/>
                <a:ext cx="1869999" cy="7564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m:t>
                      </m:r>
                      <m:nary>
                        <m:naryPr>
                          <m:chr m:val="∑"/>
                          <m:ctrlPr>
                            <a:rPr lang="pt-BR" i="1" smtClean="0">
                              <a:latin typeface="Cambria Math" panose="02040503050406030204" pitchFamily="18" charset="0"/>
                            </a:rPr>
                          </m:ctrlPr>
                        </m:naryPr>
                        <m:sub>
                          <m:r>
                            <a:rPr lang="pt-BR" i="1" smtClean="0">
                              <a:latin typeface="Cambria Math" panose="02040503050406030204" pitchFamily="18" charset="0"/>
                            </a:rPr>
                            <m:t>𝑘</m:t>
                          </m:r>
                          <m:r>
                            <a:rPr lang="pt-BR" i="1" smtClean="0">
                              <a:latin typeface="Cambria Math" panose="02040503050406030204" pitchFamily="18" charset="0"/>
                            </a:rPr>
                            <m:t>=0</m:t>
                          </m:r>
                        </m:sub>
                        <m:sup>
                          <m:r>
                            <a:rPr lang="pt-BR" i="1" smtClean="0">
                              <a:latin typeface="Cambria Math" panose="02040503050406030204" pitchFamily="18" charset="0"/>
                            </a:rPr>
                            <m:t>𝑛</m:t>
                          </m:r>
                        </m:sup>
                        <m:e>
                          <m:d>
                            <m:dPr>
                              <m:ctrlPr>
                                <a:rPr lang="pt-BR" i="1" smtClean="0">
                                  <a:latin typeface="Cambria Math" panose="02040503050406030204" pitchFamily="18" charset="0"/>
                                </a:rPr>
                              </m:ctrlPr>
                            </m:dPr>
                            <m:e>
                              <m:f>
                                <m:fPr>
                                  <m:type m:val="noBar"/>
                                  <m:ctrlPr>
                                    <a:rPr lang="pt-BR" i="1" smtClean="0">
                                      <a:latin typeface="Cambria Math" panose="02040503050406030204" pitchFamily="18" charset="0"/>
                                    </a:rPr>
                                  </m:ctrlPr>
                                </m:fPr>
                                <m:num>
                                  <m:r>
                                    <a:rPr lang="pt-BR" i="1" smtClean="0">
                                      <a:latin typeface="Cambria Math" panose="02040503050406030204" pitchFamily="18" charset="0"/>
                                    </a:rPr>
                                    <m:t>𝑛</m:t>
                                  </m:r>
                                </m:num>
                                <m:den/>
                              </m:f>
                            </m:e>
                          </m:d>
                          <m:sSup>
                            <m:sSupPr>
                              <m:ctrlPr>
                                <a:rPr lang="pt-BR" i="1" smtClean="0">
                                  <a:latin typeface="Cambria Math" panose="02040503050406030204" pitchFamily="18" charset="0"/>
                                </a:rPr>
                              </m:ctrlPr>
                            </m:sSupPr>
                            <m:e>
                              <m:r>
                                <a:rPr lang="pt-BR" i="1" smtClean="0">
                                  <a:latin typeface="Cambria Math" panose="02040503050406030204" pitchFamily="18" charset="0"/>
                                </a:rPr>
                                <m:t>𝑥</m:t>
                              </m:r>
                            </m:e>
                            <m:sup>
                              <m:r>
                                <a:rPr lang="pt-BR" i="1" smtClean="0">
                                  <a:latin typeface="Cambria Math" panose="02040503050406030204" pitchFamily="18" charset="0"/>
                                </a:rPr>
                                <m:t>𝑘</m:t>
                              </m:r>
                            </m:sup>
                          </m:sSup>
                          <m:sSup>
                            <m:sSupPr>
                              <m:ctrlPr>
                                <a:rPr lang="pt-BR" i="1" smtClean="0">
                                  <a:latin typeface="Cambria Math" panose="02040503050406030204" pitchFamily="18" charset="0"/>
                                </a:rPr>
                              </m:ctrlPr>
                            </m:sSupPr>
                            <m:e>
                              <m:r>
                                <a:rPr lang="pt-BR" i="1" smtClean="0">
                                  <a:latin typeface="Cambria Math" panose="02040503050406030204" pitchFamily="18" charset="0"/>
                                </a:rPr>
                                <m:t>𝑎</m:t>
                              </m:r>
                            </m:e>
                            <m:sup>
                              <m:r>
                                <a:rPr lang="pt-BR" i="1" smtClean="0">
                                  <a:latin typeface="Cambria Math" panose="02040503050406030204" pitchFamily="18" charset="0"/>
                                </a:rPr>
                                <m:t>𝑛</m:t>
                              </m:r>
                              <m:r>
                                <a:rPr lang="pt-BR" i="1" smtClean="0">
                                  <a:latin typeface="Cambria Math" panose="02040503050406030204" pitchFamily="18" charset="0"/>
                                </a:rPr>
                                <m:t>−</m:t>
                              </m:r>
                              <m:r>
                                <a:rPr lang="pt-BR" i="1" smtClean="0">
                                  <a:latin typeface="Cambria Math" panose="02040503050406030204" pitchFamily="18" charset="0"/>
                                </a:rPr>
                                <m:t>𝑘</m:t>
                              </m:r>
                            </m:sup>
                          </m:sSup>
                        </m:e>
                      </m:nary>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4752816" y="2986266"/>
                <a:ext cx="1869999" cy="756426"/>
              </a:xfrm>
              <a:prstGeom prst="rect">
                <a:avLst/>
              </a:prstGeom>
              <a:blipFill rotWithShape="0">
                <a:blip r:embed="rId2"/>
                <a:stretch>
                  <a:fillRect/>
                </a:stretch>
              </a:blipFill>
            </p:spPr>
            <p:txBody>
              <a:bodyPr/>
              <a:lstStyle/>
              <a:p>
                <a:r>
                  <a:rPr lang="en-US">
                    <a:noFill/>
                  </a:rPr>
                  <a:t> </a:t>
                </a:r>
              </a:p>
            </p:txBody>
          </p:sp>
        </mc:Fallback>
      </mc:AlternateContent>
      <p:sp>
        <p:nvSpPr>
          <p:cNvPr id="10" name="Rectangle 9"/>
          <p:cNvSpPr/>
          <p:nvPr/>
        </p:nvSpPr>
        <p:spPr>
          <a:xfrm>
            <a:off x="5004996" y="3244334"/>
            <a:ext cx="2182008" cy="369332"/>
          </a:xfrm>
          <a:prstGeom prst="rect">
            <a:avLst/>
          </a:prstGeom>
        </p:spPr>
        <p:txBody>
          <a:bodyPr wrap="none">
            <a:spAutoFit/>
          </a:bodyPr>
          <a:lstStyle/>
          <a:p>
            <a:r>
              <a:rPr lang="en-US" dirty="0"/>
              <a:t>P(t) = </a:t>
            </a:r>
            <a:r>
              <a:rPr lang="en-US" dirty="0" err="1"/>
              <a:t>Xn</a:t>
            </a:r>
            <a:r>
              <a:rPr lang="en-US" dirty="0"/>
              <a:t> </a:t>
            </a:r>
            <a:r>
              <a:rPr lang="en-US" dirty="0" err="1"/>
              <a:t>i</a:t>
            </a:r>
            <a:r>
              <a:rPr lang="en-US" dirty="0"/>
              <a:t>=0 </a:t>
            </a:r>
            <a:r>
              <a:rPr lang="en-US" dirty="0" err="1"/>
              <a:t>PiNi,k</a:t>
            </a:r>
            <a:r>
              <a:rPr lang="en-US" dirty="0"/>
              <a:t>(t) </a:t>
            </a:r>
          </a:p>
        </p:txBody>
      </p:sp>
      <p:pic>
        <p:nvPicPr>
          <p:cNvPr id="11" name="Picture 10"/>
          <p:cNvPicPr>
            <a:picLocks noChangeAspect="1"/>
          </p:cNvPicPr>
          <p:nvPr/>
        </p:nvPicPr>
        <p:blipFill>
          <a:blip r:embed="rId3">
            <a:biLevel thresh="75000"/>
          </a:blip>
          <a:stretch>
            <a:fillRect/>
          </a:stretch>
        </p:blipFill>
        <p:spPr>
          <a:xfrm>
            <a:off x="460374" y="1094877"/>
            <a:ext cx="10830344" cy="5208728"/>
          </a:xfrm>
          <a:prstGeom prst="rect">
            <a:avLst/>
          </a:prstGeom>
        </p:spPr>
      </p:pic>
    </p:spTree>
    <p:extLst>
      <p:ext uri="{BB962C8B-B14F-4D97-AF65-F5344CB8AC3E}">
        <p14:creationId xmlns:p14="http://schemas.microsoft.com/office/powerpoint/2010/main" val="24421585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Prepared By:-P.B.Jha </a:t>
            </a:r>
            <a:endParaRPr lang="en-US"/>
          </a:p>
        </p:txBody>
      </p:sp>
      <mc:AlternateContent xmlns:mc="http://schemas.openxmlformats.org/markup-compatibility/2006" xmlns:a14="http://schemas.microsoft.com/office/drawing/2010/main">
        <mc:Choice Requires="a14">
          <p:sp>
            <p:nvSpPr>
              <p:cNvPr id="3" name="TextBox 2"/>
              <p:cNvSpPr txBox="1"/>
              <p:nvPr/>
            </p:nvSpPr>
            <p:spPr>
              <a:xfrm>
                <a:off x="208548" y="620054"/>
                <a:ext cx="5048910" cy="117660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𝑥</m:t>
                      </m:r>
                      <m:r>
                        <a:rPr lang="en-US" sz="2800" b="0" i="1" smtClean="0">
                          <a:latin typeface="Cambria Math" panose="02040503050406030204" pitchFamily="18" charset="0"/>
                        </a:rPr>
                        <m:t>(</m:t>
                      </m:r>
                      <m:r>
                        <a:rPr lang="en-US" sz="2800" b="0" i="1" smtClean="0">
                          <a:latin typeface="Cambria Math" panose="02040503050406030204" pitchFamily="18" charset="0"/>
                        </a:rPr>
                        <m:t>𝑢</m:t>
                      </m:r>
                      <m:r>
                        <a:rPr lang="en-US" sz="2800" b="0" i="1" smtClean="0">
                          <a:latin typeface="Cambria Math" panose="02040503050406030204" pitchFamily="18" charset="0"/>
                        </a:rPr>
                        <m:t>)=</m:t>
                      </m:r>
                      <m:nary>
                        <m:naryPr>
                          <m:chr m:val="∑"/>
                          <m:ctrlPr>
                            <a:rPr lang="pt-BR" sz="2800" i="1" smtClean="0">
                              <a:latin typeface="Cambria Math" panose="02040503050406030204" pitchFamily="18" charset="0"/>
                            </a:rPr>
                          </m:ctrlPr>
                        </m:naryPr>
                        <m:sub>
                          <m:r>
                            <m:rPr>
                              <m:brk m:alnAt="23"/>
                            </m:rPr>
                            <a:rPr lang="en-US" sz="2800" b="0" i="1" smtClean="0">
                              <a:latin typeface="Cambria Math" panose="02040503050406030204" pitchFamily="18" charset="0"/>
                            </a:rPr>
                            <m:t>𝑖</m:t>
                          </m:r>
                          <m:r>
                            <a:rPr lang="pt-BR" sz="2800" i="1" smtClean="0">
                              <a:latin typeface="Cambria Math" panose="02040503050406030204" pitchFamily="18" charset="0"/>
                            </a:rPr>
                            <m:t>=0</m:t>
                          </m:r>
                        </m:sub>
                        <m:sup>
                          <m:r>
                            <a:rPr lang="pt-BR" sz="2800" i="1" smtClean="0">
                              <a:latin typeface="Cambria Math" panose="02040503050406030204" pitchFamily="18" charset="0"/>
                            </a:rPr>
                            <m:t>𝑛</m:t>
                          </m:r>
                        </m:sup>
                        <m:e>
                          <m:r>
                            <a:rPr lang="en-US" sz="2800" b="0" i="1" smtClean="0">
                              <a:latin typeface="Cambria Math" panose="02040503050406030204" pitchFamily="18" charset="0"/>
                            </a:rPr>
                            <m:t>𝑥</m:t>
                          </m:r>
                          <m:r>
                            <a:rPr lang="en-US" sz="2800" b="0" i="1" baseline="-25000" smtClean="0">
                              <a:latin typeface="Cambria Math" panose="02040503050406030204" pitchFamily="18" charset="0"/>
                            </a:rPr>
                            <m:t>𝑖</m:t>
                          </m:r>
                        </m:e>
                      </m:nary>
                      <m:sSup>
                        <m:sSupPr>
                          <m:ctrlPr>
                            <a:rPr lang="pt-BR" sz="2800" i="1" smtClean="0">
                              <a:latin typeface="Cambria Math" panose="02040503050406030204" pitchFamily="18" charset="0"/>
                            </a:rPr>
                          </m:ctrlPr>
                        </m:sSupPr>
                        <m:e>
                          <m:r>
                            <a:rPr lang="en-US" sz="2800" i="1">
                              <a:latin typeface="Cambria Math" panose="02040503050406030204" pitchFamily="18" charset="0"/>
                            </a:rPr>
                            <m:t>𝑁</m:t>
                          </m:r>
                          <m:r>
                            <a:rPr lang="en-US" sz="2800" i="1" baseline="-25000">
                              <a:latin typeface="Cambria Math" panose="02040503050406030204" pitchFamily="18" charset="0"/>
                            </a:rPr>
                            <m:t>𝑖</m:t>
                          </m:r>
                          <m:r>
                            <a:rPr lang="en-US" sz="2800" i="1" baseline="-25000">
                              <a:latin typeface="Cambria Math" panose="02040503050406030204" pitchFamily="18" charset="0"/>
                            </a:rPr>
                            <m:t>,</m:t>
                          </m:r>
                          <m:r>
                            <a:rPr lang="en-US" sz="2800" i="1" baseline="-25000">
                              <a:latin typeface="Cambria Math" panose="02040503050406030204" pitchFamily="18" charset="0"/>
                            </a:rPr>
                            <m:t>𝑘</m:t>
                          </m:r>
                          <m:r>
                            <a:rPr lang="en-US" sz="2800" i="1">
                              <a:latin typeface="Cambria Math" panose="02040503050406030204" pitchFamily="18" charset="0"/>
                            </a:rPr>
                            <m:t>(</m:t>
                          </m:r>
                          <m:r>
                            <a:rPr lang="en-US" sz="2800" i="1">
                              <a:latin typeface="Cambria Math" panose="02040503050406030204" pitchFamily="18" charset="0"/>
                            </a:rPr>
                            <m:t>𝑢</m:t>
                          </m:r>
                          <m:r>
                            <a:rPr lang="en-US" sz="2800" i="1">
                              <a:latin typeface="Cambria Math" panose="02040503050406030204" pitchFamily="18" charset="0"/>
                            </a:rPr>
                            <m:t>)</m:t>
                          </m:r>
                        </m:e>
                        <m:sup/>
                      </m:sSup>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208548" y="620054"/>
                <a:ext cx="5048910" cy="1176604"/>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667656" y="2274681"/>
                <a:ext cx="6270173" cy="753540"/>
              </a:xfrm>
              <a:prstGeom prst="rect">
                <a:avLst/>
              </a:prstGeom>
              <a:noFill/>
            </p:spPr>
            <p:txBody>
              <a:bodyPr wrap="square" lIns="0" tIns="0" rIns="0" bIns="0" rtlCol="0">
                <a:spAutoFit/>
              </a:bodyPr>
              <a:lstStyle/>
              <a:p>
                <a:pPr/>
                <a:r>
                  <a:rPr lang="en-US" sz="2800" b="0" dirty="0" smtClean="0"/>
                  <a:t>y</a:t>
                </a:r>
                <a14:m>
                  <m:oMath xmlns:m="http://schemas.openxmlformats.org/officeDocument/2006/math">
                    <m:r>
                      <a:rPr lang="en-US" sz="4400" b="0" i="1" smtClean="0">
                        <a:latin typeface="Cambria Math" panose="02040503050406030204" pitchFamily="18" charset="0"/>
                      </a:rPr>
                      <m:t>(</m:t>
                    </m:r>
                    <m:r>
                      <a:rPr lang="en-US" sz="4400" b="0" i="1" smtClean="0">
                        <a:latin typeface="Cambria Math" panose="02040503050406030204" pitchFamily="18" charset="0"/>
                      </a:rPr>
                      <m:t>𝑢</m:t>
                    </m:r>
                    <m:r>
                      <a:rPr lang="en-US" sz="4400" b="0" i="1" smtClean="0">
                        <a:latin typeface="Cambria Math" panose="02040503050406030204" pitchFamily="18" charset="0"/>
                      </a:rPr>
                      <m:t>)=</m:t>
                    </m:r>
                    <m:nary>
                      <m:naryPr>
                        <m:chr m:val="∑"/>
                        <m:ctrlPr>
                          <a:rPr lang="pt-BR" sz="4400" i="1" smtClean="0">
                            <a:latin typeface="Cambria Math" panose="02040503050406030204" pitchFamily="18" charset="0"/>
                          </a:rPr>
                        </m:ctrlPr>
                      </m:naryPr>
                      <m:sub>
                        <m:r>
                          <m:rPr>
                            <m:brk m:alnAt="23"/>
                          </m:rPr>
                          <a:rPr lang="en-US" sz="4400" b="0" i="1" smtClean="0">
                            <a:latin typeface="Cambria Math" panose="02040503050406030204" pitchFamily="18" charset="0"/>
                          </a:rPr>
                          <m:t>𝑖</m:t>
                        </m:r>
                        <m:r>
                          <a:rPr lang="pt-BR" sz="4400" i="1" smtClean="0">
                            <a:latin typeface="Cambria Math" panose="02040503050406030204" pitchFamily="18" charset="0"/>
                          </a:rPr>
                          <m:t>=0</m:t>
                        </m:r>
                      </m:sub>
                      <m:sup>
                        <m:r>
                          <a:rPr lang="pt-BR" sz="4400" i="1" smtClean="0">
                            <a:latin typeface="Cambria Math" panose="02040503050406030204" pitchFamily="18" charset="0"/>
                          </a:rPr>
                          <m:t>𝑛</m:t>
                        </m:r>
                      </m:sup>
                      <m:e>
                        <m:r>
                          <a:rPr lang="en-US" sz="4400" b="0" i="1" smtClean="0">
                            <a:latin typeface="Cambria Math" panose="02040503050406030204" pitchFamily="18" charset="0"/>
                          </a:rPr>
                          <m:t>𝑦</m:t>
                        </m:r>
                        <m:r>
                          <a:rPr lang="en-US" sz="4400" b="0" i="1" baseline="-25000" smtClean="0">
                            <a:latin typeface="Cambria Math" panose="02040503050406030204" pitchFamily="18" charset="0"/>
                          </a:rPr>
                          <m:t>𝑖</m:t>
                        </m:r>
                      </m:e>
                    </m:nary>
                    <m:sSup>
                      <m:sSupPr>
                        <m:ctrlPr>
                          <a:rPr lang="pt-BR" sz="4400" i="1" smtClean="0">
                            <a:latin typeface="Cambria Math" panose="02040503050406030204" pitchFamily="18" charset="0"/>
                          </a:rPr>
                        </m:ctrlPr>
                      </m:sSupPr>
                      <m:e>
                        <m:r>
                          <a:rPr lang="en-US" sz="4400" i="1">
                            <a:latin typeface="Cambria Math" panose="02040503050406030204" pitchFamily="18" charset="0"/>
                          </a:rPr>
                          <m:t>𝑁</m:t>
                        </m:r>
                        <m:r>
                          <a:rPr lang="en-US" sz="4400" i="1" baseline="-25000">
                            <a:latin typeface="Cambria Math" panose="02040503050406030204" pitchFamily="18" charset="0"/>
                          </a:rPr>
                          <m:t>𝑖</m:t>
                        </m:r>
                        <m:r>
                          <a:rPr lang="en-US" sz="4400" i="1" baseline="-25000">
                            <a:latin typeface="Cambria Math" panose="02040503050406030204" pitchFamily="18" charset="0"/>
                          </a:rPr>
                          <m:t>,</m:t>
                        </m:r>
                        <m:r>
                          <a:rPr lang="en-US" sz="4400" i="1" baseline="-25000">
                            <a:latin typeface="Cambria Math" panose="02040503050406030204" pitchFamily="18" charset="0"/>
                          </a:rPr>
                          <m:t>𝑘</m:t>
                        </m:r>
                        <m:r>
                          <a:rPr lang="en-US" sz="4400" i="1">
                            <a:latin typeface="Cambria Math" panose="02040503050406030204" pitchFamily="18" charset="0"/>
                          </a:rPr>
                          <m:t>(</m:t>
                        </m:r>
                        <m:r>
                          <a:rPr lang="en-US" sz="4400" i="1">
                            <a:latin typeface="Cambria Math" panose="02040503050406030204" pitchFamily="18" charset="0"/>
                          </a:rPr>
                          <m:t>𝑢</m:t>
                        </m:r>
                        <m:r>
                          <a:rPr lang="en-US" sz="4400" i="1">
                            <a:latin typeface="Cambria Math" panose="02040503050406030204" pitchFamily="18" charset="0"/>
                          </a:rPr>
                          <m:t>)</m:t>
                        </m:r>
                      </m:e>
                      <m:sup/>
                    </m:sSup>
                  </m:oMath>
                </a14:m>
                <a:endParaRPr lang="en-US" dirty="0"/>
              </a:p>
            </p:txBody>
          </p:sp>
        </mc:Choice>
        <mc:Fallback>
          <p:sp>
            <p:nvSpPr>
              <p:cNvPr id="4" name="TextBox 3"/>
              <p:cNvSpPr txBox="1">
                <a:spLocks noRot="1" noChangeAspect="1" noMove="1" noResize="1" noEditPoints="1" noAdjustHandles="1" noChangeArrowheads="1" noChangeShapeType="1" noTextEdit="1"/>
              </p:cNvSpPr>
              <p:nvPr/>
            </p:nvSpPr>
            <p:spPr>
              <a:xfrm>
                <a:off x="667656" y="2274681"/>
                <a:ext cx="6270173" cy="753540"/>
              </a:xfrm>
              <a:prstGeom prst="rect">
                <a:avLst/>
              </a:prstGeom>
              <a:blipFill rotWithShape="0">
                <a:blip r:embed="rId3"/>
                <a:stretch>
                  <a:fillRect l="-3502" b="-2177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p:cNvSpPr txBox="1"/>
              <p:nvPr/>
            </p:nvSpPr>
            <p:spPr>
              <a:xfrm>
                <a:off x="667656" y="3609995"/>
                <a:ext cx="6270173" cy="753540"/>
              </a:xfrm>
              <a:prstGeom prst="rect">
                <a:avLst/>
              </a:prstGeom>
              <a:noFill/>
            </p:spPr>
            <p:txBody>
              <a:bodyPr wrap="square" lIns="0" tIns="0" rIns="0" bIns="0" rtlCol="0">
                <a:spAutoFit/>
              </a:bodyPr>
              <a:lstStyle/>
              <a:p>
                <a:pPr/>
                <a:r>
                  <a:rPr lang="en-US" sz="2800" dirty="0" smtClean="0"/>
                  <a:t>Z</a:t>
                </a:r>
                <a14:m>
                  <m:oMath xmlns:m="http://schemas.openxmlformats.org/officeDocument/2006/math">
                    <m:r>
                      <a:rPr lang="en-US" sz="4400" b="0" i="1" smtClean="0">
                        <a:latin typeface="Cambria Math" panose="02040503050406030204" pitchFamily="18" charset="0"/>
                      </a:rPr>
                      <m:t>(</m:t>
                    </m:r>
                    <m:r>
                      <a:rPr lang="en-US" sz="4400" b="0" i="1" smtClean="0">
                        <a:latin typeface="Cambria Math" panose="02040503050406030204" pitchFamily="18" charset="0"/>
                      </a:rPr>
                      <m:t>𝑢</m:t>
                    </m:r>
                    <m:r>
                      <a:rPr lang="en-US" sz="4400" b="0" i="1" smtClean="0">
                        <a:latin typeface="Cambria Math" panose="02040503050406030204" pitchFamily="18" charset="0"/>
                      </a:rPr>
                      <m:t>)=</m:t>
                    </m:r>
                    <m:nary>
                      <m:naryPr>
                        <m:chr m:val="∑"/>
                        <m:ctrlPr>
                          <a:rPr lang="pt-BR" sz="4400" i="1" smtClean="0">
                            <a:latin typeface="Cambria Math" panose="02040503050406030204" pitchFamily="18" charset="0"/>
                          </a:rPr>
                        </m:ctrlPr>
                      </m:naryPr>
                      <m:sub>
                        <m:r>
                          <m:rPr>
                            <m:brk m:alnAt="23"/>
                          </m:rPr>
                          <a:rPr lang="en-US" sz="4400" b="0" i="1" smtClean="0">
                            <a:latin typeface="Cambria Math" panose="02040503050406030204" pitchFamily="18" charset="0"/>
                          </a:rPr>
                          <m:t>𝑖</m:t>
                        </m:r>
                        <m:r>
                          <a:rPr lang="pt-BR" sz="4400" i="1" smtClean="0">
                            <a:latin typeface="Cambria Math" panose="02040503050406030204" pitchFamily="18" charset="0"/>
                          </a:rPr>
                          <m:t>=0</m:t>
                        </m:r>
                      </m:sub>
                      <m:sup>
                        <m:r>
                          <a:rPr lang="pt-BR" sz="4400" i="1" smtClean="0">
                            <a:latin typeface="Cambria Math" panose="02040503050406030204" pitchFamily="18" charset="0"/>
                          </a:rPr>
                          <m:t>𝑛</m:t>
                        </m:r>
                      </m:sup>
                      <m:e>
                        <m:r>
                          <a:rPr lang="en-US" sz="4400" b="0" i="1" smtClean="0">
                            <a:latin typeface="Cambria Math" panose="02040503050406030204" pitchFamily="18" charset="0"/>
                          </a:rPr>
                          <m:t>𝑍</m:t>
                        </m:r>
                        <m:r>
                          <a:rPr lang="en-US" sz="4400" b="0" i="1" baseline="-25000" smtClean="0">
                            <a:latin typeface="Cambria Math" panose="02040503050406030204" pitchFamily="18" charset="0"/>
                          </a:rPr>
                          <m:t>𝑖</m:t>
                        </m:r>
                      </m:e>
                    </m:nary>
                    <m:sSup>
                      <m:sSupPr>
                        <m:ctrlPr>
                          <a:rPr lang="pt-BR" sz="4400" i="1" smtClean="0">
                            <a:latin typeface="Cambria Math" panose="02040503050406030204" pitchFamily="18" charset="0"/>
                          </a:rPr>
                        </m:ctrlPr>
                      </m:sSupPr>
                      <m:e>
                        <m:r>
                          <a:rPr lang="en-US" sz="4400" i="1">
                            <a:latin typeface="Cambria Math" panose="02040503050406030204" pitchFamily="18" charset="0"/>
                          </a:rPr>
                          <m:t>𝑁</m:t>
                        </m:r>
                        <m:r>
                          <a:rPr lang="en-US" sz="4400" i="1" baseline="-25000">
                            <a:latin typeface="Cambria Math" panose="02040503050406030204" pitchFamily="18" charset="0"/>
                          </a:rPr>
                          <m:t>𝑖</m:t>
                        </m:r>
                        <m:r>
                          <a:rPr lang="en-US" sz="4400" i="1" baseline="-25000">
                            <a:latin typeface="Cambria Math" panose="02040503050406030204" pitchFamily="18" charset="0"/>
                          </a:rPr>
                          <m:t>,</m:t>
                        </m:r>
                        <m:r>
                          <a:rPr lang="en-US" sz="4400" i="1" baseline="-25000">
                            <a:latin typeface="Cambria Math" panose="02040503050406030204" pitchFamily="18" charset="0"/>
                          </a:rPr>
                          <m:t>𝑘</m:t>
                        </m:r>
                        <m:r>
                          <a:rPr lang="en-US" sz="4400" i="1">
                            <a:latin typeface="Cambria Math" panose="02040503050406030204" pitchFamily="18" charset="0"/>
                          </a:rPr>
                          <m:t>(</m:t>
                        </m:r>
                        <m:r>
                          <a:rPr lang="en-US" sz="4400" i="1">
                            <a:latin typeface="Cambria Math" panose="02040503050406030204" pitchFamily="18" charset="0"/>
                          </a:rPr>
                          <m:t>𝑢</m:t>
                        </m:r>
                        <m:r>
                          <a:rPr lang="en-US" sz="4400" i="1">
                            <a:latin typeface="Cambria Math" panose="02040503050406030204" pitchFamily="18" charset="0"/>
                          </a:rPr>
                          <m:t>)</m:t>
                        </m:r>
                      </m:e>
                      <m:sup/>
                    </m:sSup>
                  </m:oMath>
                </a14:m>
                <a:endParaRPr lang="en-US" dirty="0"/>
              </a:p>
            </p:txBody>
          </p:sp>
        </mc:Choice>
        <mc:Fallback>
          <p:sp>
            <p:nvSpPr>
              <p:cNvPr id="5" name="TextBox 4"/>
              <p:cNvSpPr txBox="1">
                <a:spLocks noRot="1" noChangeAspect="1" noMove="1" noResize="1" noEditPoints="1" noAdjustHandles="1" noChangeArrowheads="1" noChangeShapeType="1" noTextEdit="1"/>
              </p:cNvSpPr>
              <p:nvPr/>
            </p:nvSpPr>
            <p:spPr>
              <a:xfrm>
                <a:off x="667656" y="3609995"/>
                <a:ext cx="6270173" cy="753540"/>
              </a:xfrm>
              <a:prstGeom prst="rect">
                <a:avLst/>
              </a:prstGeom>
              <a:blipFill rotWithShape="0">
                <a:blip r:embed="rId4"/>
                <a:stretch>
                  <a:fillRect l="-3502" b="-21774"/>
                </a:stretch>
              </a:blipFill>
            </p:spPr>
            <p:txBody>
              <a:bodyPr/>
              <a:lstStyle/>
              <a:p>
                <a:r>
                  <a:rPr lang="en-US">
                    <a:noFill/>
                  </a:rPr>
                  <a:t> </a:t>
                </a:r>
              </a:p>
            </p:txBody>
          </p:sp>
        </mc:Fallback>
      </mc:AlternateContent>
    </p:spTree>
    <p:extLst>
      <p:ext uri="{BB962C8B-B14F-4D97-AF65-F5344CB8AC3E}">
        <p14:creationId xmlns:p14="http://schemas.microsoft.com/office/powerpoint/2010/main" val="34702576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Prepared By:-P.B.Jha </a:t>
            </a:r>
            <a:endParaRPr lang="en-US"/>
          </a:p>
        </p:txBody>
      </p:sp>
      <mc:AlternateContent xmlns:mc="http://schemas.openxmlformats.org/markup-compatibility/2006">
        <mc:Choice xmlns:a14="http://schemas.microsoft.com/office/drawing/2010/main" Requires="a14">
          <p:sp>
            <p:nvSpPr>
              <p:cNvPr id="3" name="TextBox 2"/>
              <p:cNvSpPr txBox="1"/>
              <p:nvPr/>
            </p:nvSpPr>
            <p:spPr>
              <a:xfrm>
                <a:off x="736231" y="574764"/>
                <a:ext cx="9975311" cy="1009059"/>
              </a:xfrm>
              <a:prstGeom prst="rect">
                <a:avLst/>
              </a:prstGeom>
              <a:noFill/>
            </p:spPr>
            <p:txBody>
              <a:bodyPr wrap="square" lIns="0" tIns="0" rIns="0" bIns="0" rtlCol="0">
                <a:spAutoFit/>
              </a:bodyPr>
              <a:lstStyle/>
              <a:p>
                <a:r>
                  <a:rPr lang="en-US" sz="4400" dirty="0" smtClean="0"/>
                  <a:t>N</a:t>
                </a:r>
                <a:r>
                  <a:rPr lang="en-US" sz="4400" baseline="-25000" dirty="0" err="1" smtClean="0"/>
                  <a:t>i,k</a:t>
                </a:r>
                <a14:m>
                  <m:oMath xmlns:m="http://schemas.openxmlformats.org/officeDocument/2006/math">
                    <m:d>
                      <m:dPr>
                        <m:ctrlPr>
                          <a:rPr lang="en-US" sz="4400" b="0" i="0" smtClean="0">
                            <a:latin typeface="Cambria Math" panose="02040503050406030204" pitchFamily="18" charset="0"/>
                          </a:rPr>
                        </m:ctrlPr>
                      </m:dPr>
                      <m:e>
                        <m:r>
                          <a:rPr lang="en-US" sz="4400" b="0" i="1" smtClean="0">
                            <a:latin typeface="Cambria Math" panose="02040503050406030204" pitchFamily="18" charset="0"/>
                          </a:rPr>
                          <m:t>𝑢</m:t>
                        </m:r>
                      </m:e>
                    </m:d>
                    <m:r>
                      <a:rPr lang="en-US" sz="4400" i="1" smtClean="0">
                        <a:latin typeface="Cambria Math" panose="02040503050406030204" pitchFamily="18" charset="0"/>
                      </a:rPr>
                      <m:t>=</m:t>
                    </m:r>
                    <m:f>
                      <m:fPr>
                        <m:ctrlPr>
                          <a:rPr lang="en-US" sz="4400" i="1" smtClean="0">
                            <a:latin typeface="Cambria Math" panose="02040503050406030204" pitchFamily="18" charset="0"/>
                          </a:rPr>
                        </m:ctrlPr>
                      </m:fPr>
                      <m:num>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𝑢</m:t>
                            </m:r>
                            <m:r>
                              <a:rPr lang="en-US" sz="4400" b="0" i="1" smtClean="0">
                                <a:latin typeface="Cambria Math" panose="02040503050406030204" pitchFamily="18" charset="0"/>
                              </a:rPr>
                              <m:t>−</m:t>
                            </m:r>
                            <m:r>
                              <a:rPr lang="en-US" sz="4400" b="0" i="1" smtClean="0">
                                <a:latin typeface="Cambria Math" panose="02040503050406030204" pitchFamily="18" charset="0"/>
                              </a:rPr>
                              <m:t>𝑡𝑖</m:t>
                            </m:r>
                          </m:e>
                        </m:d>
                        <m:r>
                          <a:rPr lang="en-US" sz="4400" b="0" i="1" baseline="-25000" smtClean="0">
                            <a:latin typeface="Cambria Math" panose="02040503050406030204" pitchFamily="18" charset="0"/>
                          </a:rPr>
                          <m:t>.</m:t>
                        </m:r>
                        <m:r>
                          <a:rPr lang="en-US" sz="4400" b="0" i="1" smtClean="0">
                            <a:latin typeface="Cambria Math" panose="02040503050406030204" pitchFamily="18" charset="0"/>
                          </a:rPr>
                          <m:t>𝑁</m:t>
                        </m:r>
                        <m:r>
                          <a:rPr lang="en-US" sz="4400" b="0" i="1" baseline="-25000" smtClean="0">
                            <a:latin typeface="Cambria Math" panose="02040503050406030204" pitchFamily="18" charset="0"/>
                          </a:rPr>
                          <m:t>𝑖</m:t>
                        </m:r>
                        <m:r>
                          <a:rPr lang="en-US" sz="4400" b="0" i="1" baseline="-25000" smtClean="0">
                            <a:latin typeface="Cambria Math" panose="02040503050406030204" pitchFamily="18" charset="0"/>
                          </a:rPr>
                          <m:t>,</m:t>
                        </m:r>
                        <m:r>
                          <a:rPr lang="en-US" sz="4400" b="0" i="1" baseline="-25000" smtClean="0">
                            <a:latin typeface="Cambria Math" panose="02040503050406030204" pitchFamily="18" charset="0"/>
                          </a:rPr>
                          <m:t>𝑘</m:t>
                        </m:r>
                        <m:r>
                          <a:rPr lang="en-US" sz="4400" b="0" i="1" baseline="-25000" smtClean="0">
                            <a:latin typeface="Cambria Math" panose="02040503050406030204" pitchFamily="18" charset="0"/>
                          </a:rPr>
                          <m:t>−1</m:t>
                        </m:r>
                        <m:d>
                          <m:dPr>
                            <m:ctrlPr>
                              <a:rPr lang="en-US" sz="4400" b="0" i="1" baseline="-25000" smtClean="0">
                                <a:latin typeface="Cambria Math" panose="02040503050406030204" pitchFamily="18" charset="0"/>
                              </a:rPr>
                            </m:ctrlPr>
                          </m:dPr>
                          <m:e>
                            <m:r>
                              <a:rPr lang="en-US" sz="4400" b="0" i="1" smtClean="0">
                                <a:latin typeface="Cambria Math" panose="02040503050406030204" pitchFamily="18" charset="0"/>
                              </a:rPr>
                              <m:t>𝑢</m:t>
                            </m:r>
                          </m:e>
                        </m:d>
                      </m:num>
                      <m:den>
                        <m:r>
                          <a:rPr lang="en-US" sz="4400" b="0" i="1" smtClean="0">
                            <a:latin typeface="Cambria Math" panose="02040503050406030204" pitchFamily="18" charset="0"/>
                          </a:rPr>
                          <m:t>𝑡</m:t>
                        </m:r>
                        <m:r>
                          <a:rPr lang="en-US" sz="4400" b="0" i="1" baseline="-25000" smtClean="0">
                            <a:latin typeface="Cambria Math" panose="02040503050406030204" pitchFamily="18" charset="0"/>
                          </a:rPr>
                          <m:t>𝑖</m:t>
                        </m:r>
                        <m:r>
                          <a:rPr lang="en-US" sz="4400" b="0" i="1" baseline="-25000" smtClean="0">
                            <a:latin typeface="Cambria Math" panose="02040503050406030204" pitchFamily="18" charset="0"/>
                          </a:rPr>
                          <m:t>+</m:t>
                        </m:r>
                        <m:r>
                          <a:rPr lang="en-US" sz="4400" b="0" i="1" baseline="-25000" smtClean="0">
                            <a:latin typeface="Cambria Math" panose="02040503050406030204" pitchFamily="18" charset="0"/>
                          </a:rPr>
                          <m:t>𝑘</m:t>
                        </m:r>
                        <m:r>
                          <a:rPr lang="en-US" sz="4400" b="0" i="1" baseline="-25000" smtClean="0">
                            <a:latin typeface="Cambria Math" panose="02040503050406030204" pitchFamily="18" charset="0"/>
                          </a:rPr>
                          <m:t>−1−</m:t>
                        </m:r>
                        <m:r>
                          <a:rPr lang="en-US" sz="4400" b="0" i="1" smtClean="0">
                            <a:latin typeface="Cambria Math" panose="02040503050406030204" pitchFamily="18" charset="0"/>
                          </a:rPr>
                          <m:t>𝑡</m:t>
                        </m:r>
                      </m:den>
                    </m:f>
                    <m:r>
                      <a:rPr lang="en-US" sz="4400" i="1" smtClean="0">
                        <a:latin typeface="Cambria Math" panose="02040503050406030204" pitchFamily="18" charset="0"/>
                      </a:rPr>
                      <m:t>+</m:t>
                    </m:r>
                    <m:f>
                      <m:fPr>
                        <m:ctrlPr>
                          <a:rPr lang="en-US" sz="4400" i="1" smtClean="0">
                            <a:latin typeface="Cambria Math" panose="02040503050406030204" pitchFamily="18" charset="0"/>
                          </a:rPr>
                        </m:ctrlPr>
                      </m:fPr>
                      <m:num>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𝑡</m:t>
                            </m:r>
                            <m:r>
                              <a:rPr lang="en-US" sz="4400" b="0" i="1" baseline="-25000" smtClean="0">
                                <a:latin typeface="Cambria Math" panose="02040503050406030204" pitchFamily="18" charset="0"/>
                              </a:rPr>
                              <m:t>𝑖</m:t>
                            </m:r>
                            <m:r>
                              <a:rPr lang="en-US" sz="4400" b="0" i="1" baseline="-25000" smtClean="0">
                                <a:latin typeface="Cambria Math" panose="02040503050406030204" pitchFamily="18" charset="0"/>
                              </a:rPr>
                              <m:t>+</m:t>
                            </m:r>
                            <m:r>
                              <a:rPr lang="en-US" sz="4400" b="0" i="1" baseline="-25000" smtClean="0">
                                <a:latin typeface="Cambria Math" panose="02040503050406030204" pitchFamily="18" charset="0"/>
                              </a:rPr>
                              <m:t>𝑘</m:t>
                            </m:r>
                            <m:r>
                              <a:rPr lang="en-US" sz="4400" b="0" i="1" smtClean="0">
                                <a:latin typeface="Cambria Math" panose="02040503050406030204" pitchFamily="18" charset="0"/>
                              </a:rPr>
                              <m:t> −</m:t>
                            </m:r>
                            <m:r>
                              <a:rPr lang="en-US" sz="4400" b="0" i="1" smtClean="0">
                                <a:latin typeface="Cambria Math" panose="02040503050406030204" pitchFamily="18" charset="0"/>
                              </a:rPr>
                              <m:t>𝑢</m:t>
                            </m:r>
                          </m:e>
                        </m:d>
                        <m:r>
                          <a:rPr lang="en-US" sz="4400" b="0" i="1" smtClean="0">
                            <a:latin typeface="Cambria Math" panose="02040503050406030204" pitchFamily="18" charset="0"/>
                          </a:rPr>
                          <m:t>.</m:t>
                        </m:r>
                        <m:r>
                          <a:rPr lang="en-US" sz="4400" b="0" i="1" smtClean="0">
                            <a:latin typeface="Cambria Math" panose="02040503050406030204" pitchFamily="18" charset="0"/>
                          </a:rPr>
                          <m:t>𝑁</m:t>
                        </m:r>
                        <m:r>
                          <a:rPr lang="en-US" sz="4400" b="0" i="1" smtClean="0">
                            <a:latin typeface="Cambria Math" panose="02040503050406030204" pitchFamily="18" charset="0"/>
                          </a:rPr>
                          <m:t> </m:t>
                        </m:r>
                        <m:r>
                          <a:rPr lang="en-US" sz="4400" b="0" i="1" baseline="-25000" smtClean="0">
                            <a:latin typeface="Cambria Math" panose="02040503050406030204" pitchFamily="18" charset="0"/>
                          </a:rPr>
                          <m:t>𝑖</m:t>
                        </m:r>
                        <m:r>
                          <a:rPr lang="en-US" sz="4400" b="0" i="1" baseline="-25000" smtClean="0">
                            <a:latin typeface="Cambria Math" panose="02040503050406030204" pitchFamily="18" charset="0"/>
                          </a:rPr>
                          <m:t>+1,</m:t>
                        </m:r>
                        <m:r>
                          <a:rPr lang="en-US" sz="4400" b="0" i="1" baseline="-25000" smtClean="0">
                            <a:latin typeface="Cambria Math" panose="02040503050406030204" pitchFamily="18" charset="0"/>
                          </a:rPr>
                          <m:t>𝑘</m:t>
                        </m:r>
                        <m:r>
                          <a:rPr lang="en-US" sz="4400" b="0" i="1" baseline="-25000" smtClean="0">
                            <a:latin typeface="Cambria Math" panose="02040503050406030204" pitchFamily="18" charset="0"/>
                          </a:rPr>
                          <m:t>−1(</m:t>
                        </m:r>
                        <m:r>
                          <a:rPr lang="en-US" sz="4400" b="0" i="1" smtClean="0">
                            <a:latin typeface="Cambria Math" panose="02040503050406030204" pitchFamily="18" charset="0"/>
                          </a:rPr>
                          <m:t>𝑢</m:t>
                        </m:r>
                        <m:r>
                          <a:rPr lang="en-US" sz="4400" b="0" i="1" smtClean="0">
                            <a:latin typeface="Cambria Math" panose="02040503050406030204" pitchFamily="18" charset="0"/>
                          </a:rPr>
                          <m:t>)</m:t>
                        </m:r>
                      </m:num>
                      <m:den>
                        <m:r>
                          <a:rPr lang="en-US" sz="4400" b="0" i="1" smtClean="0">
                            <a:latin typeface="Cambria Math" panose="02040503050406030204" pitchFamily="18" charset="0"/>
                          </a:rPr>
                          <m:t>𝑡</m:t>
                        </m:r>
                        <m:r>
                          <a:rPr lang="en-US" sz="4400" b="0" i="1" baseline="-25000" smtClean="0">
                            <a:latin typeface="Cambria Math" panose="02040503050406030204" pitchFamily="18" charset="0"/>
                          </a:rPr>
                          <m:t>𝑖</m:t>
                        </m:r>
                        <m:r>
                          <a:rPr lang="en-US" sz="4400" b="0" i="1" baseline="-25000" smtClean="0">
                            <a:latin typeface="Cambria Math" panose="02040503050406030204" pitchFamily="18" charset="0"/>
                          </a:rPr>
                          <m:t>+</m:t>
                        </m:r>
                        <m:r>
                          <a:rPr lang="en-US" sz="4400" b="0" i="1" baseline="-25000" smtClean="0">
                            <a:latin typeface="Cambria Math" panose="02040503050406030204" pitchFamily="18" charset="0"/>
                          </a:rPr>
                          <m:t>𝑘</m:t>
                        </m:r>
                        <m:r>
                          <a:rPr lang="en-US" sz="4400" b="0" i="1" smtClean="0">
                            <a:latin typeface="Cambria Math" panose="02040503050406030204" pitchFamily="18" charset="0"/>
                          </a:rPr>
                          <m:t> −</m:t>
                        </m:r>
                        <m:r>
                          <a:rPr lang="en-US" sz="4400" b="0" i="1" smtClean="0">
                            <a:latin typeface="Cambria Math" panose="02040503050406030204" pitchFamily="18" charset="0"/>
                          </a:rPr>
                          <m:t>𝑡𝑖</m:t>
                        </m:r>
                        <m:r>
                          <a:rPr lang="en-US" sz="4400" b="0" i="1" baseline="-25000" smtClean="0">
                            <a:latin typeface="Cambria Math" panose="02040503050406030204" pitchFamily="18" charset="0"/>
                          </a:rPr>
                          <m:t>+1</m:t>
                        </m:r>
                      </m:den>
                    </m:f>
                  </m:oMath>
                </a14:m>
                <a:endParaRPr lang="en-US" sz="4400" dirty="0"/>
              </a:p>
            </p:txBody>
          </p:sp>
        </mc:Choice>
        <mc:Fallback>
          <p:sp>
            <p:nvSpPr>
              <p:cNvPr id="3" name="TextBox 2"/>
              <p:cNvSpPr txBox="1">
                <a:spLocks noRot="1" noChangeAspect="1" noMove="1" noResize="1" noEditPoints="1" noAdjustHandles="1" noChangeArrowheads="1" noChangeShapeType="1" noTextEdit="1"/>
              </p:cNvSpPr>
              <p:nvPr/>
            </p:nvSpPr>
            <p:spPr>
              <a:xfrm>
                <a:off x="736231" y="574764"/>
                <a:ext cx="9975311" cy="1009059"/>
              </a:xfrm>
              <a:prstGeom prst="rect">
                <a:avLst/>
              </a:prstGeom>
              <a:blipFill rotWithShape="0">
                <a:blip r:embed="rId2"/>
                <a:stretch>
                  <a:fillRect l="-3423" b="-25301"/>
                </a:stretch>
              </a:blipFill>
            </p:spPr>
            <p:txBody>
              <a:bodyPr/>
              <a:lstStyle/>
              <a:p>
                <a:r>
                  <a:rPr lang="en-US">
                    <a:noFill/>
                  </a:rPr>
                  <a:t> </a:t>
                </a:r>
              </a:p>
            </p:txBody>
          </p:sp>
        </mc:Fallback>
      </mc:AlternateContent>
      <p:sp>
        <p:nvSpPr>
          <p:cNvPr id="4" name="TextBox 3"/>
          <p:cNvSpPr txBox="1"/>
          <p:nvPr/>
        </p:nvSpPr>
        <p:spPr>
          <a:xfrm>
            <a:off x="736231" y="1973943"/>
            <a:ext cx="9975311" cy="3785652"/>
          </a:xfrm>
          <a:prstGeom prst="rect">
            <a:avLst/>
          </a:prstGeom>
          <a:noFill/>
        </p:spPr>
        <p:txBody>
          <a:bodyPr wrap="square" rtlCol="0">
            <a:spAutoFit/>
          </a:bodyPr>
          <a:lstStyle/>
          <a:p>
            <a:r>
              <a:rPr lang="en-US" sz="2400" dirty="0" smtClean="0"/>
              <a:t>Where </a:t>
            </a:r>
          </a:p>
          <a:p>
            <a:r>
              <a:rPr lang="en-US" sz="2400" dirty="0" err="1" smtClean="0"/>
              <a:t>t</a:t>
            </a:r>
            <a:r>
              <a:rPr lang="en-US" sz="2400" baseline="-25000" dirty="0" err="1" smtClean="0"/>
              <a:t>i</a:t>
            </a:r>
            <a:r>
              <a:rPr lang="en-US" sz="2400" dirty="0" smtClean="0"/>
              <a:t>=  Joint point of which pieces of curve joint (knot value)</a:t>
            </a:r>
          </a:p>
          <a:p>
            <a:endParaRPr lang="en-US" sz="2400" dirty="0"/>
          </a:p>
          <a:p>
            <a:r>
              <a:rPr lang="en-US" sz="2400" dirty="0" err="1" smtClean="0"/>
              <a:t>i</a:t>
            </a:r>
            <a:r>
              <a:rPr lang="en-US" sz="2400" dirty="0" smtClean="0"/>
              <a:t> = 0&lt;=</a:t>
            </a:r>
            <a:r>
              <a:rPr lang="en-US" sz="2400" dirty="0" err="1" smtClean="0"/>
              <a:t>i</a:t>
            </a:r>
            <a:r>
              <a:rPr lang="en-US" sz="2400" dirty="0" smtClean="0"/>
              <a:t>&lt;=</a:t>
            </a:r>
            <a:r>
              <a:rPr lang="en-US" sz="2400" dirty="0" err="1" smtClean="0"/>
              <a:t>n+k</a:t>
            </a:r>
            <a:endParaRPr lang="en-US" sz="2400" dirty="0" smtClean="0"/>
          </a:p>
          <a:p>
            <a:endParaRPr lang="en-US" sz="2400" dirty="0"/>
          </a:p>
          <a:p>
            <a:r>
              <a:rPr lang="en-US" sz="2400" dirty="0" smtClean="0"/>
              <a:t>To find value of </a:t>
            </a:r>
            <a:r>
              <a:rPr lang="en-US" sz="2400" dirty="0" err="1" smtClean="0"/>
              <a:t>t</a:t>
            </a:r>
            <a:r>
              <a:rPr lang="en-US" sz="2400" baseline="-25000" dirty="0" err="1" smtClean="0"/>
              <a:t>i</a:t>
            </a:r>
            <a:r>
              <a:rPr lang="en-US" sz="2400" dirty="0" smtClean="0"/>
              <a:t> we need the following formula </a:t>
            </a:r>
          </a:p>
          <a:p>
            <a:endParaRPr lang="en-US" sz="2400" dirty="0"/>
          </a:p>
          <a:p>
            <a:pPr marL="457200" indent="-457200">
              <a:buAutoNum type="alphaLcPeriod"/>
            </a:pPr>
            <a:r>
              <a:rPr lang="en-US" sz="2400" dirty="0" err="1" smtClean="0"/>
              <a:t>t</a:t>
            </a:r>
            <a:r>
              <a:rPr lang="en-US" sz="2400" baseline="-25000" dirty="0" err="1" smtClean="0"/>
              <a:t>i</a:t>
            </a:r>
            <a:r>
              <a:rPr lang="en-US" sz="2400" dirty="0" smtClean="0"/>
              <a:t>  = 0 if </a:t>
            </a:r>
            <a:r>
              <a:rPr lang="en-US" sz="2400" dirty="0"/>
              <a:t> </a:t>
            </a:r>
            <a:r>
              <a:rPr lang="en-US" sz="2400" dirty="0" smtClean="0"/>
              <a:t> </a:t>
            </a:r>
            <a:r>
              <a:rPr lang="en-US" sz="2400" dirty="0" err="1" smtClean="0"/>
              <a:t>i</a:t>
            </a:r>
            <a:r>
              <a:rPr lang="en-US" sz="2400" dirty="0" smtClean="0"/>
              <a:t>&lt;k</a:t>
            </a:r>
          </a:p>
          <a:p>
            <a:pPr marL="457200" indent="-457200">
              <a:buAutoNum type="alphaLcPeriod"/>
            </a:pPr>
            <a:r>
              <a:rPr lang="en-US" sz="2400" dirty="0" err="1" smtClean="0"/>
              <a:t>t</a:t>
            </a:r>
            <a:r>
              <a:rPr lang="en-US" sz="2400" baseline="-25000" dirty="0" err="1" smtClean="0"/>
              <a:t>i</a:t>
            </a:r>
            <a:r>
              <a:rPr lang="en-US" sz="2400" baseline="-25000" dirty="0" smtClean="0"/>
              <a:t> </a:t>
            </a:r>
            <a:r>
              <a:rPr lang="en-US" sz="2400" dirty="0" smtClean="0"/>
              <a:t>=  i-k+1 if k&lt;= </a:t>
            </a:r>
            <a:r>
              <a:rPr lang="en-US" sz="2400" dirty="0" err="1" smtClean="0"/>
              <a:t>i</a:t>
            </a:r>
            <a:r>
              <a:rPr lang="en-US" sz="2400" dirty="0" smtClean="0"/>
              <a:t>&lt;=n</a:t>
            </a:r>
          </a:p>
          <a:p>
            <a:pPr marL="457200" indent="-457200">
              <a:buAutoNum type="alphaLcPeriod"/>
            </a:pPr>
            <a:r>
              <a:rPr lang="en-US" sz="2400" dirty="0" err="1" smtClean="0"/>
              <a:t>t</a:t>
            </a:r>
            <a:r>
              <a:rPr lang="en-US" sz="2400" baseline="-25000" dirty="0" err="1" smtClean="0"/>
              <a:t>i</a:t>
            </a:r>
            <a:r>
              <a:rPr lang="en-US" sz="2400" dirty="0" smtClean="0"/>
              <a:t>  = n-k+2 if  </a:t>
            </a:r>
            <a:r>
              <a:rPr lang="en-US" sz="2400" dirty="0" err="1" smtClean="0"/>
              <a:t>i</a:t>
            </a:r>
            <a:r>
              <a:rPr lang="en-US" sz="2400" dirty="0" smtClean="0"/>
              <a:t>&lt;n</a:t>
            </a:r>
            <a:endParaRPr lang="en-US" sz="2400" dirty="0"/>
          </a:p>
        </p:txBody>
      </p:sp>
    </p:spTree>
    <p:extLst>
      <p:ext uri="{BB962C8B-B14F-4D97-AF65-F5344CB8AC3E}">
        <p14:creationId xmlns:p14="http://schemas.microsoft.com/office/powerpoint/2010/main" val="39974819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Prepared By:-P.B.Jha </a:t>
            </a:r>
            <a:endParaRPr lang="en-US"/>
          </a:p>
        </p:txBody>
      </p:sp>
      <mc:AlternateContent xmlns:mc="http://schemas.openxmlformats.org/markup-compatibility/2006">
        <mc:Choice xmlns:a14="http://schemas.microsoft.com/office/drawing/2010/main" Requires="a14">
          <p:sp>
            <p:nvSpPr>
              <p:cNvPr id="3" name="Rectangle 2"/>
              <p:cNvSpPr/>
              <p:nvPr/>
            </p:nvSpPr>
            <p:spPr>
              <a:xfrm>
                <a:off x="2121238" y="1139764"/>
                <a:ext cx="6906647" cy="1200329"/>
              </a:xfrm>
              <a:prstGeom prst="rect">
                <a:avLst/>
              </a:prstGeom>
            </p:spPr>
            <p:txBody>
              <a:bodyPr wrap="square">
                <a:spAutoFit/>
              </a:bodyPr>
              <a:lstStyle/>
              <a:p>
                <a:r>
                  <a:rPr lang="en-US" sz="3600" dirty="0"/>
                  <a:t>N</a:t>
                </a:r>
                <a:r>
                  <a:rPr lang="en-US" sz="3600" baseline="-25000" dirty="0" err="1"/>
                  <a:t>i,k</a:t>
                </a:r>
                <a14:m>
                  <m:oMath xmlns:m="http://schemas.openxmlformats.org/officeDocument/2006/math">
                    <m:d>
                      <m:dPr>
                        <m:ctrlPr>
                          <a:rPr lang="en-US" sz="3600" i="1">
                            <a:latin typeface="Cambria Math" panose="02040503050406030204" pitchFamily="18" charset="0"/>
                          </a:rPr>
                        </m:ctrlPr>
                      </m:dPr>
                      <m:e>
                        <m:r>
                          <a:rPr lang="en-US" sz="3600" i="1">
                            <a:latin typeface="Cambria Math" panose="02040503050406030204" pitchFamily="18" charset="0"/>
                          </a:rPr>
                          <m:t>𝑢</m:t>
                        </m:r>
                      </m:e>
                    </m:d>
                  </m:oMath>
                </a14:m>
                <a:r>
                  <a:rPr lang="en-US" sz="3600" dirty="0" smtClean="0"/>
                  <a:t> = 1    if  </a:t>
                </a:r>
                <a:r>
                  <a:rPr lang="en-US" sz="3600" dirty="0" err="1" smtClean="0"/>
                  <a:t>t</a:t>
                </a:r>
                <a:r>
                  <a:rPr lang="en-US" sz="3600" baseline="-25000" dirty="0" err="1" smtClean="0"/>
                  <a:t>i</a:t>
                </a:r>
                <a:r>
                  <a:rPr lang="en-US" sz="3600" dirty="0" smtClean="0"/>
                  <a:t> &lt; u&lt;=t</a:t>
                </a:r>
                <a:r>
                  <a:rPr lang="en-US" sz="3600" baseline="-25000" dirty="0" smtClean="0"/>
                  <a:t>i+1</a:t>
                </a:r>
              </a:p>
              <a:p>
                <a:r>
                  <a:rPr lang="en-US" sz="3600" baseline="-25000" dirty="0"/>
                  <a:t> </a:t>
                </a:r>
                <a:r>
                  <a:rPr lang="en-US" sz="3600" baseline="-25000" dirty="0" smtClean="0"/>
                  <a:t>                  = 0 otherwise</a:t>
                </a:r>
                <a:r>
                  <a:rPr lang="en-US" sz="3600" dirty="0" smtClean="0"/>
                  <a:t> </a:t>
                </a:r>
                <a:endParaRPr lang="en-US" sz="3600" baseline="-25000" dirty="0"/>
              </a:p>
            </p:txBody>
          </p:sp>
        </mc:Choice>
        <mc:Fallback>
          <p:sp>
            <p:nvSpPr>
              <p:cNvPr id="3" name="Rectangle 2"/>
              <p:cNvSpPr>
                <a:spLocks noRot="1" noChangeAspect="1" noMove="1" noResize="1" noEditPoints="1" noAdjustHandles="1" noChangeArrowheads="1" noChangeShapeType="1" noTextEdit="1"/>
              </p:cNvSpPr>
              <p:nvPr/>
            </p:nvSpPr>
            <p:spPr>
              <a:xfrm>
                <a:off x="2121238" y="1139764"/>
                <a:ext cx="6906647" cy="1200329"/>
              </a:xfrm>
              <a:prstGeom prst="rect">
                <a:avLst/>
              </a:prstGeom>
              <a:blipFill rotWithShape="0">
                <a:blip r:embed="rId2"/>
                <a:stretch>
                  <a:fillRect l="-2736" t="-8122" b="-16244"/>
                </a:stretch>
              </a:blipFill>
            </p:spPr>
            <p:txBody>
              <a:bodyPr/>
              <a:lstStyle/>
              <a:p>
                <a:r>
                  <a:rPr lang="en-US">
                    <a:noFill/>
                  </a:rPr>
                  <a:t> </a:t>
                </a:r>
              </a:p>
            </p:txBody>
          </p:sp>
        </mc:Fallback>
      </mc:AlternateContent>
    </p:spTree>
    <p:extLst>
      <p:ext uri="{BB962C8B-B14F-4D97-AF65-F5344CB8AC3E}">
        <p14:creationId xmlns:p14="http://schemas.microsoft.com/office/powerpoint/2010/main" val="40311999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Prepared By:-P.B.Jha </a:t>
            </a:r>
            <a:endParaRPr lang="en-US"/>
          </a:p>
        </p:txBody>
      </p:sp>
      <p:sp>
        <p:nvSpPr>
          <p:cNvPr id="3" name="TextBox 2"/>
          <p:cNvSpPr txBox="1"/>
          <p:nvPr/>
        </p:nvSpPr>
        <p:spPr>
          <a:xfrm>
            <a:off x="769257" y="493486"/>
            <a:ext cx="10247086" cy="6709529"/>
          </a:xfrm>
          <a:prstGeom prst="rect">
            <a:avLst/>
          </a:prstGeom>
          <a:noFill/>
        </p:spPr>
        <p:txBody>
          <a:bodyPr wrap="square" rtlCol="0">
            <a:spAutoFit/>
          </a:bodyPr>
          <a:lstStyle/>
          <a:p>
            <a:r>
              <a:rPr lang="en-US" sz="2400" dirty="0" smtClean="0"/>
              <a:t>Control point 6  and value k =3 find the all possible knot value with segment by using b-Spline curve </a:t>
            </a:r>
          </a:p>
          <a:p>
            <a:endParaRPr lang="en-US" dirty="0"/>
          </a:p>
          <a:p>
            <a:r>
              <a:rPr lang="en-US" dirty="0" smtClean="0"/>
              <a:t>Given CP =6 </a:t>
            </a:r>
          </a:p>
          <a:p>
            <a:r>
              <a:rPr lang="en-US" dirty="0"/>
              <a:t> </a:t>
            </a:r>
            <a:r>
              <a:rPr lang="en-US" dirty="0" smtClean="0"/>
              <a:t>          n = 6-1  =  5</a:t>
            </a:r>
          </a:p>
          <a:p>
            <a:r>
              <a:rPr lang="en-US" dirty="0" smtClean="0"/>
              <a:t>Possible combination of </a:t>
            </a:r>
            <a:r>
              <a:rPr lang="en-US" dirty="0" err="1" smtClean="0"/>
              <a:t>segement</a:t>
            </a:r>
            <a:r>
              <a:rPr lang="en-US" dirty="0" smtClean="0"/>
              <a:t> [p0………………..p5)</a:t>
            </a:r>
          </a:p>
          <a:p>
            <a:endParaRPr lang="en-US" dirty="0"/>
          </a:p>
          <a:p>
            <a:r>
              <a:rPr lang="en-US" sz="3200" dirty="0" smtClean="0"/>
              <a:t>P</a:t>
            </a:r>
            <a:r>
              <a:rPr lang="en-US" sz="3200" baseline="-25000" dirty="0" smtClean="0"/>
              <a:t>0.</a:t>
            </a:r>
            <a:r>
              <a:rPr lang="en-US" sz="3200" dirty="0" smtClean="0"/>
              <a:t>N</a:t>
            </a:r>
            <a:r>
              <a:rPr lang="en-US" sz="3200" baseline="-25000" dirty="0" smtClean="0"/>
              <a:t>0,3</a:t>
            </a:r>
            <a:r>
              <a:rPr lang="en-US" sz="3200" dirty="0" smtClean="0"/>
              <a:t>(u)  + p</a:t>
            </a:r>
            <a:r>
              <a:rPr lang="en-US" sz="3200" baseline="-25000" dirty="0" smtClean="0"/>
              <a:t>1</a:t>
            </a:r>
            <a:r>
              <a:rPr lang="en-US" sz="3200" dirty="0" smtClean="0"/>
              <a:t>N</a:t>
            </a:r>
            <a:r>
              <a:rPr lang="en-US" sz="3200" baseline="-25000" dirty="0" smtClean="0"/>
              <a:t>1,3</a:t>
            </a:r>
            <a:r>
              <a:rPr lang="en-US" sz="3200" dirty="0" smtClean="0"/>
              <a:t>(u) +………………….+p</a:t>
            </a:r>
            <a:r>
              <a:rPr lang="en-US" sz="3200" baseline="-25000" dirty="0" smtClean="0"/>
              <a:t>5</a:t>
            </a:r>
            <a:r>
              <a:rPr lang="en-US" sz="3200" dirty="0" smtClean="0"/>
              <a:t>N</a:t>
            </a:r>
            <a:r>
              <a:rPr lang="en-US" sz="3200" baseline="-25000" dirty="0" smtClean="0"/>
              <a:t>5,3</a:t>
            </a:r>
            <a:r>
              <a:rPr lang="en-US" sz="3200" dirty="0" smtClean="0"/>
              <a:t>(u) </a:t>
            </a:r>
          </a:p>
          <a:p>
            <a:endParaRPr lang="en-US" sz="3200" dirty="0"/>
          </a:p>
          <a:p>
            <a:r>
              <a:rPr lang="en-US" sz="3200" dirty="0" smtClean="0"/>
              <a:t>Where </a:t>
            </a:r>
          </a:p>
          <a:p>
            <a:r>
              <a:rPr lang="en-US" sz="3200" dirty="0"/>
              <a:t> </a:t>
            </a:r>
            <a:r>
              <a:rPr lang="en-US" sz="3200" dirty="0" smtClean="0"/>
              <a:t>  u  = n-k+2  = 5-3+2 = 4  total number of segment made</a:t>
            </a:r>
          </a:p>
          <a:p>
            <a:r>
              <a:rPr lang="en-US" sz="3200" dirty="0"/>
              <a:t> </a:t>
            </a:r>
            <a:r>
              <a:rPr lang="en-US" sz="3200" dirty="0" smtClean="0"/>
              <a:t> </a:t>
            </a:r>
          </a:p>
          <a:p>
            <a:r>
              <a:rPr lang="en-US" sz="3200" dirty="0" smtClean="0"/>
              <a:t>S</a:t>
            </a:r>
            <a:r>
              <a:rPr lang="en-US" sz="3200" baseline="-25000" dirty="0" smtClean="0"/>
              <a:t>0 </a:t>
            </a:r>
            <a:r>
              <a:rPr lang="en-US" sz="3200" dirty="0" smtClean="0"/>
              <a:t>= p</a:t>
            </a:r>
            <a:r>
              <a:rPr lang="en-US" sz="3200" baseline="-25000" dirty="0" smtClean="0"/>
              <a:t>0</a:t>
            </a:r>
            <a:r>
              <a:rPr lang="en-US" sz="3200" dirty="0" smtClean="0"/>
              <a:t>p</a:t>
            </a:r>
            <a:r>
              <a:rPr lang="en-US" sz="3200" baseline="-25000" dirty="0" smtClean="0"/>
              <a:t>1</a:t>
            </a:r>
            <a:r>
              <a:rPr lang="en-US" sz="3200" dirty="0" smtClean="0"/>
              <a:t>p</a:t>
            </a:r>
            <a:r>
              <a:rPr lang="en-US" sz="3200" baseline="-25000" dirty="0" smtClean="0"/>
              <a:t>2</a:t>
            </a:r>
          </a:p>
          <a:p>
            <a:r>
              <a:rPr lang="en-US" sz="3200" dirty="0" smtClean="0"/>
              <a:t>S</a:t>
            </a:r>
            <a:r>
              <a:rPr lang="en-US" sz="3200" baseline="-25000" dirty="0" smtClean="0"/>
              <a:t>1</a:t>
            </a:r>
            <a:r>
              <a:rPr lang="en-US" sz="3200" dirty="0" smtClean="0"/>
              <a:t> = p</a:t>
            </a:r>
            <a:r>
              <a:rPr lang="en-US" sz="3200" baseline="-25000" dirty="0" smtClean="0"/>
              <a:t>1</a:t>
            </a:r>
            <a:r>
              <a:rPr lang="en-US" sz="3200" dirty="0" smtClean="0"/>
              <a:t>p</a:t>
            </a:r>
            <a:r>
              <a:rPr lang="en-US" sz="3200" baseline="-25000" dirty="0" smtClean="0"/>
              <a:t>2</a:t>
            </a:r>
            <a:r>
              <a:rPr lang="en-US" sz="3200" dirty="0" smtClean="0"/>
              <a:t>p</a:t>
            </a:r>
            <a:r>
              <a:rPr lang="en-US" sz="3200" baseline="-25000" dirty="0" smtClean="0"/>
              <a:t>3</a:t>
            </a:r>
          </a:p>
          <a:p>
            <a:r>
              <a:rPr lang="en-US" sz="3200" baseline="-25000" dirty="0" smtClean="0"/>
              <a:t>S2</a:t>
            </a:r>
            <a:r>
              <a:rPr lang="en-US" sz="3200" dirty="0" smtClean="0"/>
              <a:t> =  continue </a:t>
            </a:r>
            <a:endParaRPr lang="en-US" sz="3200" baseline="-25000" dirty="0"/>
          </a:p>
          <a:p>
            <a:endParaRPr lang="en-US" dirty="0" smtClean="0"/>
          </a:p>
          <a:p>
            <a:endParaRPr lang="en-US" dirty="0"/>
          </a:p>
        </p:txBody>
      </p:sp>
    </p:spTree>
    <p:extLst>
      <p:ext uri="{BB962C8B-B14F-4D97-AF65-F5344CB8AC3E}">
        <p14:creationId xmlns:p14="http://schemas.microsoft.com/office/powerpoint/2010/main" val="15490437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Prepared By:-P.B.Jha </a:t>
            </a:r>
            <a:endParaRPr lang="en-US"/>
          </a:p>
        </p:txBody>
      </p:sp>
      <p:sp>
        <p:nvSpPr>
          <p:cNvPr id="3" name="TextBox 2"/>
          <p:cNvSpPr txBox="1"/>
          <p:nvPr/>
        </p:nvSpPr>
        <p:spPr>
          <a:xfrm>
            <a:off x="798285" y="4417358"/>
            <a:ext cx="8051800" cy="1938992"/>
          </a:xfrm>
          <a:prstGeom prst="rect">
            <a:avLst/>
          </a:prstGeom>
          <a:noFill/>
        </p:spPr>
        <p:txBody>
          <a:bodyPr wrap="square" rtlCol="0">
            <a:spAutoFit/>
          </a:bodyPr>
          <a:lstStyle/>
          <a:p>
            <a:r>
              <a:rPr lang="en-US" sz="2400" dirty="0"/>
              <a:t>To find value of </a:t>
            </a:r>
            <a:r>
              <a:rPr lang="en-US" sz="2400" dirty="0" err="1"/>
              <a:t>t</a:t>
            </a:r>
            <a:r>
              <a:rPr lang="en-US" sz="2400" baseline="-25000" dirty="0" err="1"/>
              <a:t>i</a:t>
            </a:r>
            <a:r>
              <a:rPr lang="en-US" sz="2400" dirty="0"/>
              <a:t> we need the following formula </a:t>
            </a:r>
          </a:p>
          <a:p>
            <a:endParaRPr lang="en-US" sz="2400" dirty="0"/>
          </a:p>
          <a:p>
            <a:pPr marL="457200" indent="-457200">
              <a:buAutoNum type="alphaLcPeriod"/>
            </a:pPr>
            <a:r>
              <a:rPr lang="en-US" sz="2400" dirty="0" err="1"/>
              <a:t>t</a:t>
            </a:r>
            <a:r>
              <a:rPr lang="en-US" sz="2400" baseline="-25000" dirty="0" err="1"/>
              <a:t>i</a:t>
            </a:r>
            <a:r>
              <a:rPr lang="en-US" sz="2400" dirty="0"/>
              <a:t>  = 0 if   </a:t>
            </a:r>
            <a:r>
              <a:rPr lang="en-US" sz="2400" dirty="0" err="1"/>
              <a:t>i</a:t>
            </a:r>
            <a:r>
              <a:rPr lang="en-US" sz="2400" dirty="0"/>
              <a:t>&lt;k</a:t>
            </a:r>
          </a:p>
          <a:p>
            <a:pPr marL="457200" indent="-457200">
              <a:buAutoNum type="alphaLcPeriod"/>
            </a:pPr>
            <a:r>
              <a:rPr lang="en-US" sz="2400" dirty="0" err="1"/>
              <a:t>t</a:t>
            </a:r>
            <a:r>
              <a:rPr lang="en-US" sz="2400" baseline="-25000" dirty="0" err="1"/>
              <a:t>i</a:t>
            </a:r>
            <a:r>
              <a:rPr lang="en-US" sz="2400" baseline="-25000" dirty="0"/>
              <a:t> </a:t>
            </a:r>
            <a:r>
              <a:rPr lang="en-US" sz="2400" dirty="0"/>
              <a:t>=  i-k+1 if k&lt;= </a:t>
            </a:r>
            <a:r>
              <a:rPr lang="en-US" sz="2400" dirty="0" err="1"/>
              <a:t>i</a:t>
            </a:r>
            <a:r>
              <a:rPr lang="en-US" sz="2400" dirty="0"/>
              <a:t>&lt;=n</a:t>
            </a:r>
          </a:p>
          <a:p>
            <a:pPr marL="457200" indent="-457200">
              <a:buAutoNum type="alphaLcPeriod"/>
            </a:pPr>
            <a:r>
              <a:rPr lang="en-US" sz="2400" dirty="0" err="1"/>
              <a:t>t</a:t>
            </a:r>
            <a:r>
              <a:rPr lang="en-US" sz="2400" baseline="-25000" dirty="0" err="1"/>
              <a:t>i</a:t>
            </a:r>
            <a:r>
              <a:rPr lang="en-US" sz="2400" dirty="0"/>
              <a:t>  = n-k+2 if  </a:t>
            </a:r>
            <a:r>
              <a:rPr lang="en-US" sz="2400" dirty="0" err="1" smtClean="0"/>
              <a:t>i</a:t>
            </a:r>
            <a:r>
              <a:rPr lang="en-US" sz="2400" dirty="0" smtClean="0"/>
              <a:t>&gt;n</a:t>
            </a:r>
            <a:endParaRPr lang="en-US" sz="2400" dirty="0"/>
          </a:p>
        </p:txBody>
      </p:sp>
      <p:graphicFrame>
        <p:nvGraphicFramePr>
          <p:cNvPr id="4" name="Table 3"/>
          <p:cNvGraphicFramePr>
            <a:graphicFrameLocks noGrp="1"/>
          </p:cNvGraphicFramePr>
          <p:nvPr>
            <p:extLst>
              <p:ext uri="{D42A27DB-BD31-4B8C-83A1-F6EECF244321}">
                <p14:modId xmlns:p14="http://schemas.microsoft.com/office/powerpoint/2010/main" val="1758942315"/>
              </p:ext>
            </p:extLst>
          </p:nvPr>
        </p:nvGraphicFramePr>
        <p:xfrm>
          <a:off x="968831" y="1075756"/>
          <a:ext cx="6346371" cy="3200400"/>
        </p:xfrm>
        <a:graphic>
          <a:graphicData uri="http://schemas.openxmlformats.org/drawingml/2006/table">
            <a:tbl>
              <a:tblPr firstRow="1" bandRow="1">
                <a:tableStyleId>{5940675A-B579-460E-94D1-54222C63F5DA}</a:tableStyleId>
              </a:tblPr>
              <a:tblGrid>
                <a:gridCol w="2115457"/>
                <a:gridCol w="2115457"/>
                <a:gridCol w="2115457"/>
              </a:tblGrid>
              <a:tr h="297542">
                <a:tc>
                  <a:txBody>
                    <a:bodyPr/>
                    <a:lstStyle/>
                    <a:p>
                      <a:r>
                        <a:rPr lang="en-US" dirty="0" smtClean="0"/>
                        <a:t>T</a:t>
                      </a:r>
                      <a:r>
                        <a:rPr lang="en-US" baseline="-25000" dirty="0" smtClean="0"/>
                        <a:t>0</a:t>
                      </a:r>
                      <a:r>
                        <a:rPr lang="en-US" baseline="0" dirty="0" smtClean="0"/>
                        <a:t> -=0</a:t>
                      </a:r>
                      <a:endParaRPr lang="en-US" baseline="-25000" dirty="0"/>
                    </a:p>
                  </a:txBody>
                  <a:tcPr/>
                </a:tc>
                <a:tc>
                  <a:txBody>
                    <a:bodyPr/>
                    <a:lstStyle/>
                    <a:p>
                      <a:r>
                        <a:rPr lang="en-US" dirty="0" smtClean="0"/>
                        <a:t>=</a:t>
                      </a:r>
                      <a:r>
                        <a:rPr lang="en-US" dirty="0" err="1" smtClean="0"/>
                        <a:t>i</a:t>
                      </a:r>
                      <a:r>
                        <a:rPr lang="en-US" dirty="0" smtClean="0"/>
                        <a:t>=</a:t>
                      </a:r>
                      <a:r>
                        <a:rPr lang="en-US" baseline="0" dirty="0" smtClean="0"/>
                        <a:t> </a:t>
                      </a:r>
                      <a:r>
                        <a:rPr lang="en-US" baseline="0" dirty="0" smtClean="0">
                          <a:solidFill>
                            <a:srgbClr val="FF0000"/>
                          </a:solidFill>
                        </a:rPr>
                        <a:t>0</a:t>
                      </a:r>
                      <a:endParaRPr lang="en-US" dirty="0">
                        <a:solidFill>
                          <a:srgbClr val="FF0000"/>
                        </a:solidFill>
                      </a:endParaRPr>
                    </a:p>
                  </a:txBody>
                  <a:tcPr/>
                </a:tc>
                <a:tc>
                  <a:txBody>
                    <a:bodyPr/>
                    <a:lstStyle/>
                    <a:p>
                      <a:r>
                        <a:rPr lang="en-US" dirty="0" smtClean="0"/>
                        <a:t>K =</a:t>
                      </a:r>
                      <a:r>
                        <a:rPr lang="en-US" dirty="0" smtClean="0">
                          <a:solidFill>
                            <a:srgbClr val="FF0000"/>
                          </a:solidFill>
                        </a:rPr>
                        <a:t>3</a:t>
                      </a:r>
                      <a:endParaRPr lang="en-US" dirty="0">
                        <a:solidFill>
                          <a:srgbClr val="FF0000"/>
                        </a:solidFill>
                      </a:endParaRPr>
                    </a:p>
                  </a:txBody>
                  <a:tcPr/>
                </a:tc>
              </a:tr>
              <a:tr h="297542">
                <a:tc>
                  <a:txBody>
                    <a:bodyPr/>
                    <a:lstStyle/>
                    <a:p>
                      <a:r>
                        <a:rPr lang="en-US" dirty="0" smtClean="0"/>
                        <a:t>t1 =0</a:t>
                      </a:r>
                      <a:endParaRPr lang="en-US" dirty="0"/>
                    </a:p>
                  </a:txBody>
                  <a:tcPr/>
                </a:tc>
                <a:tc>
                  <a:txBody>
                    <a:bodyPr/>
                    <a:lstStyle/>
                    <a:p>
                      <a:r>
                        <a:rPr lang="en-US" dirty="0" smtClean="0"/>
                        <a:t>1</a:t>
                      </a:r>
                      <a:endParaRPr lang="en-US" dirty="0"/>
                    </a:p>
                  </a:txBody>
                  <a:tcPr/>
                </a:tc>
                <a:tc>
                  <a:txBody>
                    <a:bodyPr/>
                    <a:lstStyle/>
                    <a:p>
                      <a:r>
                        <a:rPr lang="en-US" dirty="0" smtClean="0"/>
                        <a:t>K =3</a:t>
                      </a:r>
                      <a:endParaRPr lang="en-US" dirty="0"/>
                    </a:p>
                  </a:txBody>
                  <a:tcPr/>
                </a:tc>
              </a:tr>
              <a:tr h="297542">
                <a:tc>
                  <a:txBody>
                    <a:bodyPr/>
                    <a:lstStyle/>
                    <a:p>
                      <a:r>
                        <a:rPr lang="en-US" dirty="0" smtClean="0"/>
                        <a:t>t2 = 0</a:t>
                      </a:r>
                      <a:endParaRPr lang="en-US" dirty="0"/>
                    </a:p>
                  </a:txBody>
                  <a:tcPr/>
                </a:tc>
                <a:tc>
                  <a:txBody>
                    <a:bodyPr/>
                    <a:lstStyle/>
                    <a:p>
                      <a:r>
                        <a:rPr lang="en-US" dirty="0" smtClean="0"/>
                        <a:t>2</a:t>
                      </a:r>
                      <a:endParaRPr lang="en-US" dirty="0"/>
                    </a:p>
                  </a:txBody>
                  <a:tcPr/>
                </a:tc>
                <a:tc>
                  <a:txBody>
                    <a:bodyPr/>
                    <a:lstStyle/>
                    <a:p>
                      <a:r>
                        <a:rPr lang="en-US" dirty="0" smtClean="0"/>
                        <a:t>K =3</a:t>
                      </a:r>
                      <a:endParaRPr lang="en-US" dirty="0"/>
                    </a:p>
                  </a:txBody>
                  <a:tcPr/>
                </a:tc>
              </a:tr>
              <a:tr h="297542">
                <a:tc>
                  <a:txBody>
                    <a:bodyPr/>
                    <a:lstStyle/>
                    <a:p>
                      <a:r>
                        <a:rPr lang="en-US" dirty="0" smtClean="0"/>
                        <a:t>t3 =1</a:t>
                      </a:r>
                      <a:endParaRPr lang="en-US" dirty="0"/>
                    </a:p>
                  </a:txBody>
                  <a:tcPr/>
                </a:tc>
                <a:tc>
                  <a:txBody>
                    <a:bodyPr/>
                    <a:lstStyle/>
                    <a:p>
                      <a:r>
                        <a:rPr lang="en-US" dirty="0" smtClean="0"/>
                        <a:t>3</a:t>
                      </a:r>
                      <a:endParaRPr lang="en-US" dirty="0"/>
                    </a:p>
                  </a:txBody>
                  <a:tcPr/>
                </a:tc>
                <a:tc>
                  <a:txBody>
                    <a:bodyPr/>
                    <a:lstStyle/>
                    <a:p>
                      <a:r>
                        <a:rPr lang="en-US" smtClean="0"/>
                        <a:t>K =3</a:t>
                      </a:r>
                      <a:endParaRPr lang="en-US" dirty="0"/>
                    </a:p>
                  </a:txBody>
                  <a:tcPr/>
                </a:tc>
              </a:tr>
              <a:tr h="297542">
                <a:tc>
                  <a:txBody>
                    <a:bodyPr/>
                    <a:lstStyle/>
                    <a:p>
                      <a:r>
                        <a:rPr lang="en-US" dirty="0" smtClean="0"/>
                        <a:t>t4 = 2</a:t>
                      </a:r>
                      <a:endParaRPr lang="en-US" dirty="0"/>
                    </a:p>
                  </a:txBody>
                  <a:tcPr/>
                </a:tc>
                <a:tc>
                  <a:txBody>
                    <a:bodyPr/>
                    <a:lstStyle/>
                    <a:p>
                      <a:r>
                        <a:rPr lang="en-US" dirty="0" smtClean="0"/>
                        <a:t>4</a:t>
                      </a:r>
                      <a:endParaRPr lang="en-US" dirty="0"/>
                    </a:p>
                  </a:txBody>
                  <a:tcPr/>
                </a:tc>
                <a:tc>
                  <a:txBody>
                    <a:bodyPr/>
                    <a:lstStyle/>
                    <a:p>
                      <a:r>
                        <a:rPr lang="en-US" smtClean="0"/>
                        <a:t>K =3</a:t>
                      </a:r>
                      <a:endParaRPr lang="en-US" dirty="0"/>
                    </a:p>
                  </a:txBody>
                  <a:tcPr/>
                </a:tc>
              </a:tr>
              <a:tr h="297542">
                <a:tc>
                  <a:txBody>
                    <a:bodyPr/>
                    <a:lstStyle/>
                    <a:p>
                      <a:r>
                        <a:rPr lang="en-US" dirty="0" smtClean="0"/>
                        <a:t>t5 =3</a:t>
                      </a:r>
                      <a:endParaRPr lang="en-US" dirty="0"/>
                    </a:p>
                  </a:txBody>
                  <a:tcPr/>
                </a:tc>
                <a:tc>
                  <a:txBody>
                    <a:bodyPr/>
                    <a:lstStyle/>
                    <a:p>
                      <a:r>
                        <a:rPr lang="en-US" dirty="0" smtClean="0"/>
                        <a:t>5</a:t>
                      </a:r>
                      <a:endParaRPr lang="en-US" dirty="0"/>
                    </a:p>
                  </a:txBody>
                  <a:tcPr/>
                </a:tc>
                <a:tc>
                  <a:txBody>
                    <a:bodyPr/>
                    <a:lstStyle/>
                    <a:p>
                      <a:r>
                        <a:rPr lang="en-US" smtClean="0"/>
                        <a:t>K =3</a:t>
                      </a:r>
                      <a:endParaRPr lang="en-US" dirty="0"/>
                    </a:p>
                  </a:txBody>
                  <a:tcPr/>
                </a:tc>
              </a:tr>
              <a:tr h="297542">
                <a:tc>
                  <a:txBody>
                    <a:bodyPr/>
                    <a:lstStyle/>
                    <a:p>
                      <a:r>
                        <a:rPr lang="en-US" dirty="0" smtClean="0"/>
                        <a:t>t6 =4</a:t>
                      </a:r>
                      <a:endParaRPr lang="en-US" dirty="0"/>
                    </a:p>
                  </a:txBody>
                  <a:tcPr/>
                </a:tc>
                <a:tc>
                  <a:txBody>
                    <a:bodyPr/>
                    <a:lstStyle/>
                    <a:p>
                      <a:r>
                        <a:rPr lang="en-US" dirty="0" smtClean="0"/>
                        <a:t>6</a:t>
                      </a:r>
                      <a:endParaRPr lang="en-US" dirty="0"/>
                    </a:p>
                  </a:txBody>
                  <a:tcPr/>
                </a:tc>
                <a:tc>
                  <a:txBody>
                    <a:bodyPr/>
                    <a:lstStyle/>
                    <a:p>
                      <a:r>
                        <a:rPr lang="en-US" dirty="0" smtClean="0"/>
                        <a:t>K =3</a:t>
                      </a:r>
                      <a:endParaRPr lang="en-US" dirty="0"/>
                    </a:p>
                  </a:txBody>
                  <a:tcPr/>
                </a:tc>
              </a:tr>
              <a:tr h="513565">
                <a:tc>
                  <a:txBody>
                    <a:bodyPr/>
                    <a:lstStyle/>
                    <a:p>
                      <a:r>
                        <a:rPr lang="en-US" dirty="0" smtClean="0"/>
                        <a:t>t7 =4</a:t>
                      </a:r>
                      <a:endParaRPr lang="en-US" dirty="0"/>
                    </a:p>
                  </a:txBody>
                  <a:tcPr/>
                </a:tc>
                <a:tc>
                  <a:txBody>
                    <a:bodyPr/>
                    <a:lstStyle/>
                    <a:p>
                      <a:r>
                        <a:rPr lang="en-US" dirty="0" smtClean="0"/>
                        <a:t>7</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K =3</a:t>
                      </a:r>
                    </a:p>
                    <a:p>
                      <a:endParaRPr lang="en-US" dirty="0"/>
                    </a:p>
                  </a:txBody>
                  <a:tcPr/>
                </a:tc>
              </a:tr>
            </a:tbl>
          </a:graphicData>
        </a:graphic>
      </p:graphicFrame>
      <p:sp>
        <p:nvSpPr>
          <p:cNvPr id="5" name="TextBox 4"/>
          <p:cNvSpPr txBox="1"/>
          <p:nvPr/>
        </p:nvSpPr>
        <p:spPr>
          <a:xfrm>
            <a:off x="7866743" y="986971"/>
            <a:ext cx="3759200" cy="646331"/>
          </a:xfrm>
          <a:prstGeom prst="rect">
            <a:avLst/>
          </a:prstGeom>
          <a:noFill/>
        </p:spPr>
        <p:txBody>
          <a:bodyPr wrap="square" rtlCol="0">
            <a:spAutoFit/>
          </a:bodyPr>
          <a:lstStyle/>
          <a:p>
            <a:r>
              <a:rPr lang="en-US" dirty="0" err="1" smtClean="0"/>
              <a:t>Cp</a:t>
            </a:r>
            <a:r>
              <a:rPr lang="en-US" dirty="0" smtClean="0"/>
              <a:t> =7 </a:t>
            </a:r>
          </a:p>
          <a:p>
            <a:r>
              <a:rPr lang="en-US" smtClean="0"/>
              <a:t>K=3 </a:t>
            </a:r>
            <a:endParaRPr lang="en-US"/>
          </a:p>
        </p:txBody>
      </p:sp>
    </p:spTree>
    <p:extLst>
      <p:ext uri="{BB962C8B-B14F-4D97-AF65-F5344CB8AC3E}">
        <p14:creationId xmlns:p14="http://schemas.microsoft.com/office/powerpoint/2010/main" val="24130298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Prepared By:-P.B.Jha </a:t>
            </a:r>
            <a:endParaRPr lang="en-US"/>
          </a:p>
        </p:txBody>
      </p:sp>
    </p:spTree>
    <p:extLst>
      <p:ext uri="{BB962C8B-B14F-4D97-AF65-F5344CB8AC3E}">
        <p14:creationId xmlns:p14="http://schemas.microsoft.com/office/powerpoint/2010/main" val="4437359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Prepared By:-P.B.Jha </a:t>
            </a:r>
            <a:endParaRPr lang="en-US"/>
          </a:p>
        </p:txBody>
      </p:sp>
      <p:sp>
        <p:nvSpPr>
          <p:cNvPr id="3" name="Rectangle 2"/>
          <p:cNvSpPr/>
          <p:nvPr/>
        </p:nvSpPr>
        <p:spPr>
          <a:xfrm>
            <a:off x="433136" y="345502"/>
            <a:ext cx="11421979" cy="3970318"/>
          </a:xfrm>
          <a:prstGeom prst="rect">
            <a:avLst/>
          </a:prstGeom>
        </p:spPr>
        <p:txBody>
          <a:bodyPr wrap="square">
            <a:spAutoFit/>
          </a:bodyPr>
          <a:lstStyle/>
          <a:p>
            <a:r>
              <a:rPr lang="en-US" dirty="0">
                <a:solidFill>
                  <a:srgbClr val="FF0000"/>
                </a:solidFill>
              </a:rPr>
              <a:t>Properties of B-spline Curve :</a:t>
            </a:r>
          </a:p>
          <a:p>
            <a:endParaRPr lang="en-US" dirty="0"/>
          </a:p>
          <a:p>
            <a:pPr marL="285750" indent="-285750">
              <a:lnSpc>
                <a:spcPct val="200000"/>
              </a:lnSpc>
              <a:buFont typeface="Wingdings" panose="05000000000000000000" pitchFamily="2" charset="2"/>
              <a:buChar char="§"/>
            </a:pPr>
            <a:r>
              <a:rPr lang="en-US" dirty="0"/>
              <a:t>Each basis function has 0 or +</a:t>
            </a:r>
            <a:r>
              <a:rPr lang="en-US" dirty="0" err="1"/>
              <a:t>ve</a:t>
            </a:r>
            <a:r>
              <a:rPr lang="en-US" dirty="0"/>
              <a:t> value for all parameters.</a:t>
            </a:r>
          </a:p>
          <a:p>
            <a:pPr marL="285750" indent="-285750">
              <a:lnSpc>
                <a:spcPct val="200000"/>
              </a:lnSpc>
              <a:buFont typeface="Wingdings" panose="05000000000000000000" pitchFamily="2" charset="2"/>
              <a:buChar char="§"/>
            </a:pPr>
            <a:r>
              <a:rPr lang="en-US" dirty="0"/>
              <a:t>Each basis function has one maximum value except for k=1.</a:t>
            </a:r>
          </a:p>
          <a:p>
            <a:pPr marL="285750" indent="-285750">
              <a:lnSpc>
                <a:spcPct val="200000"/>
              </a:lnSpc>
              <a:buFont typeface="Wingdings" panose="05000000000000000000" pitchFamily="2" charset="2"/>
              <a:buChar char="§"/>
            </a:pPr>
            <a:r>
              <a:rPr lang="en-US" dirty="0"/>
              <a:t>The degree of B-spline curve polynomial does not depend on the number of control points which makes it more reliable to use than Bezier curve.</a:t>
            </a:r>
          </a:p>
          <a:p>
            <a:pPr marL="285750" indent="-285750">
              <a:lnSpc>
                <a:spcPct val="200000"/>
              </a:lnSpc>
              <a:buFont typeface="Wingdings" panose="05000000000000000000" pitchFamily="2" charset="2"/>
              <a:buChar char="§"/>
            </a:pPr>
            <a:r>
              <a:rPr lang="en-US" dirty="0"/>
              <a:t>B-spline curve provides the local control through control points over each segment of the curve.</a:t>
            </a:r>
          </a:p>
          <a:p>
            <a:pPr marL="285750" indent="-285750">
              <a:lnSpc>
                <a:spcPct val="200000"/>
              </a:lnSpc>
              <a:buFont typeface="Wingdings" panose="05000000000000000000" pitchFamily="2" charset="2"/>
              <a:buChar char="§"/>
            </a:pPr>
            <a:r>
              <a:rPr lang="en-US" dirty="0"/>
              <a:t>The sum of basis functions for a given parameter is one.</a:t>
            </a:r>
          </a:p>
        </p:txBody>
      </p:sp>
    </p:spTree>
    <p:extLst>
      <p:ext uri="{BB962C8B-B14F-4D97-AF65-F5344CB8AC3E}">
        <p14:creationId xmlns:p14="http://schemas.microsoft.com/office/powerpoint/2010/main" val="34759100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Prepared By:-P.B.Jha </a:t>
            </a: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3803997841"/>
              </p:ext>
            </p:extLst>
          </p:nvPr>
        </p:nvGraphicFramePr>
        <p:xfrm>
          <a:off x="1663866" y="724960"/>
          <a:ext cx="9677901" cy="5518654"/>
        </p:xfrm>
        <a:graphic>
          <a:graphicData uri="http://schemas.openxmlformats.org/drawingml/2006/table">
            <a:tbl>
              <a:tblPr>
                <a:tableStyleId>{5940675A-B579-460E-94D1-54222C63F5DA}</a:tableStyleId>
              </a:tblPr>
              <a:tblGrid>
                <a:gridCol w="3225967"/>
                <a:gridCol w="3225967"/>
                <a:gridCol w="3225967"/>
              </a:tblGrid>
              <a:tr h="258786">
                <a:tc>
                  <a:txBody>
                    <a:bodyPr/>
                    <a:lstStyle/>
                    <a:p>
                      <a:pPr algn="ctr" fontAlgn="base"/>
                      <a:r>
                        <a:rPr lang="en-US" sz="1800" dirty="0">
                          <a:effectLst/>
                        </a:rPr>
                        <a:t>Spline</a:t>
                      </a:r>
                      <a:endParaRPr lang="en-US" sz="1800" b="1" dirty="0">
                        <a:effectLst/>
                      </a:endParaRPr>
                    </a:p>
                  </a:txBody>
                  <a:tcPr marL="21213" marR="21213" marT="30988" marB="30988" anchor="ctr"/>
                </a:tc>
                <a:tc>
                  <a:txBody>
                    <a:bodyPr/>
                    <a:lstStyle/>
                    <a:p>
                      <a:pPr algn="ctr" fontAlgn="base"/>
                      <a:r>
                        <a:rPr lang="en-US" sz="1800" dirty="0">
                          <a:effectLst/>
                        </a:rPr>
                        <a:t>B-Spline</a:t>
                      </a:r>
                      <a:endParaRPr lang="en-US" sz="1800" b="1" dirty="0">
                        <a:effectLst/>
                      </a:endParaRPr>
                    </a:p>
                  </a:txBody>
                  <a:tcPr marL="30988" marR="30988" marT="30988" marB="30988" anchor="ctr"/>
                </a:tc>
                <a:tc>
                  <a:txBody>
                    <a:bodyPr/>
                    <a:lstStyle/>
                    <a:p>
                      <a:pPr algn="ctr" fontAlgn="base"/>
                      <a:r>
                        <a:rPr lang="en-US" sz="1800" dirty="0">
                          <a:effectLst/>
                        </a:rPr>
                        <a:t>Bezier</a:t>
                      </a:r>
                      <a:endParaRPr lang="en-US" sz="1800" b="1" dirty="0">
                        <a:effectLst/>
                      </a:endParaRPr>
                    </a:p>
                  </a:txBody>
                  <a:tcPr marL="30988" marR="30988" marT="30988" marB="30988" anchor="ctr"/>
                </a:tc>
              </a:tr>
              <a:tr h="1165199">
                <a:tc>
                  <a:txBody>
                    <a:bodyPr/>
                    <a:lstStyle/>
                    <a:p>
                      <a:pPr algn="ctr" fontAlgn="ctr"/>
                      <a:r>
                        <a:rPr lang="en-US" sz="1400" dirty="0">
                          <a:effectLst/>
                        </a:rPr>
                        <a:t>A spline curve can be specified by giving a specified set of coordinate positions, called control points which indicate the general shape of the curve.</a:t>
                      </a:r>
                      <a:endParaRPr lang="en-US" sz="1400" b="0" dirty="0">
                        <a:effectLst/>
                      </a:endParaRPr>
                    </a:p>
                  </a:txBody>
                  <a:tcPr marL="53034" marR="53034" marT="74247" marB="74247" anchor="ctr"/>
                </a:tc>
                <a:tc>
                  <a:txBody>
                    <a:bodyPr/>
                    <a:lstStyle/>
                    <a:p>
                      <a:pPr algn="ctr" fontAlgn="ctr"/>
                      <a:r>
                        <a:rPr lang="en-US" sz="1400" dirty="0">
                          <a:effectLst/>
                        </a:rPr>
                        <a:t>The B-Spline curves are specified by Bernstein basis function that has limited </a:t>
                      </a:r>
                      <a:r>
                        <a:rPr lang="en-US" sz="1400" dirty="0" err="1">
                          <a:effectLst/>
                        </a:rPr>
                        <a:t>flexibiity</a:t>
                      </a:r>
                      <a:r>
                        <a:rPr lang="en-US" sz="1400" dirty="0">
                          <a:effectLst/>
                        </a:rPr>
                        <a:t>.</a:t>
                      </a:r>
                      <a:endParaRPr lang="en-US" sz="1400" b="0" dirty="0">
                        <a:effectLst/>
                      </a:endParaRPr>
                    </a:p>
                  </a:txBody>
                  <a:tcPr marL="53034" marR="53034" marT="74247" marB="74247" anchor="ctr"/>
                </a:tc>
                <a:tc>
                  <a:txBody>
                    <a:bodyPr/>
                    <a:lstStyle/>
                    <a:p>
                      <a:pPr algn="ctr" fontAlgn="ctr"/>
                      <a:r>
                        <a:rPr lang="en-US" sz="1400">
                          <a:effectLst/>
                        </a:rPr>
                        <a:t>The Bezier curves can be specified with boundary conditions, with a characterizing matrix or with blending function.</a:t>
                      </a:r>
                      <a:endParaRPr lang="en-US" sz="1400" b="0">
                        <a:effectLst/>
                      </a:endParaRPr>
                    </a:p>
                  </a:txBody>
                  <a:tcPr marL="53034" marR="53034" marT="74247" marB="74247" anchor="ctr"/>
                </a:tc>
              </a:tr>
              <a:tr h="544881">
                <a:tc>
                  <a:txBody>
                    <a:bodyPr/>
                    <a:lstStyle/>
                    <a:p>
                      <a:pPr algn="ctr" fontAlgn="ctr"/>
                      <a:r>
                        <a:rPr lang="en-US" sz="1400">
                          <a:effectLst/>
                        </a:rPr>
                        <a:t>It follows the general shape of the curve.</a:t>
                      </a:r>
                      <a:endParaRPr lang="en-US" sz="1400" b="0">
                        <a:effectLst/>
                      </a:endParaRPr>
                    </a:p>
                  </a:txBody>
                  <a:tcPr marL="53034" marR="53034" marT="74247" marB="74247" anchor="ctr"/>
                </a:tc>
                <a:tc>
                  <a:txBody>
                    <a:bodyPr/>
                    <a:lstStyle/>
                    <a:p>
                      <a:pPr algn="ctr" fontAlgn="ctr"/>
                      <a:r>
                        <a:rPr lang="en-US" sz="1400" dirty="0">
                          <a:effectLst/>
                        </a:rPr>
                        <a:t>These curves are a result of the use of open uniform basis function.</a:t>
                      </a:r>
                      <a:endParaRPr lang="en-US" sz="1400" b="0" dirty="0">
                        <a:effectLst/>
                      </a:endParaRPr>
                    </a:p>
                  </a:txBody>
                  <a:tcPr marL="53034" marR="53034" marT="74247" marB="74247" anchor="ctr"/>
                </a:tc>
                <a:tc>
                  <a:txBody>
                    <a:bodyPr/>
                    <a:lstStyle/>
                    <a:p>
                      <a:pPr algn="ctr" fontAlgn="ctr"/>
                      <a:r>
                        <a:rPr lang="en-US" sz="1400" dirty="0">
                          <a:effectLst/>
                        </a:rPr>
                        <a:t>The curve generally follows the shape of a defining polygon.</a:t>
                      </a:r>
                      <a:endParaRPr lang="en-US" sz="1400" b="0" dirty="0">
                        <a:effectLst/>
                      </a:endParaRPr>
                    </a:p>
                  </a:txBody>
                  <a:tcPr marL="53034" marR="53034" marT="74247" marB="74247" anchor="ctr"/>
                </a:tc>
              </a:tr>
              <a:tr h="930079">
                <a:tc>
                  <a:txBody>
                    <a:bodyPr/>
                    <a:lstStyle/>
                    <a:p>
                      <a:pPr algn="ctr" fontAlgn="ctr"/>
                      <a:r>
                        <a:rPr lang="en-US" sz="1400">
                          <a:effectLst/>
                        </a:rPr>
                        <a:t>Typical CAD application for spline include the design of automobile bodies, aircraft and spacecraft surfaces and ship hulls.</a:t>
                      </a:r>
                      <a:endParaRPr lang="en-US" sz="1400" b="0">
                        <a:effectLst/>
                      </a:endParaRPr>
                    </a:p>
                  </a:txBody>
                  <a:tcPr marL="53034" marR="53034" marT="74247" marB="74247" anchor="ctr"/>
                </a:tc>
                <a:tc>
                  <a:txBody>
                    <a:bodyPr/>
                    <a:lstStyle/>
                    <a:p>
                      <a:pPr algn="ctr" fontAlgn="ctr"/>
                      <a:r>
                        <a:rPr lang="en-US" sz="1400" dirty="0">
                          <a:effectLst/>
                        </a:rPr>
                        <a:t>These curves can be used to construct blending curves.</a:t>
                      </a:r>
                      <a:endParaRPr lang="en-US" sz="1400" b="0" dirty="0">
                        <a:effectLst/>
                      </a:endParaRPr>
                    </a:p>
                  </a:txBody>
                  <a:tcPr marL="53034" marR="53034" marT="74247" marB="74247" anchor="ctr"/>
                </a:tc>
                <a:tc>
                  <a:txBody>
                    <a:bodyPr/>
                    <a:lstStyle/>
                    <a:p>
                      <a:pPr algn="ctr" fontAlgn="ctr"/>
                      <a:r>
                        <a:rPr lang="en-US" sz="1400" dirty="0">
                          <a:effectLst/>
                        </a:rPr>
                        <a:t>These are found in painting and drawing packages as well as in CAD applications.</a:t>
                      </a:r>
                      <a:endParaRPr lang="en-US" sz="1400" b="0" dirty="0">
                        <a:effectLst/>
                      </a:endParaRPr>
                    </a:p>
                  </a:txBody>
                  <a:tcPr marL="53034" marR="53034" marT="74247" marB="74247" anchor="ctr"/>
                </a:tc>
              </a:tr>
              <a:tr h="930079">
                <a:tc>
                  <a:txBody>
                    <a:bodyPr/>
                    <a:lstStyle/>
                    <a:p>
                      <a:pPr algn="ctr" fontAlgn="ctr"/>
                      <a:r>
                        <a:rPr lang="en-US" sz="1400">
                          <a:effectLst/>
                        </a:rPr>
                        <a:t>It possess a high degree of smoothness at the places where the polynomial pieces connect.</a:t>
                      </a:r>
                      <a:endParaRPr lang="en-US" sz="1400" b="0">
                        <a:effectLst/>
                      </a:endParaRPr>
                    </a:p>
                  </a:txBody>
                  <a:tcPr marL="53034" marR="53034" marT="74247" marB="74247" anchor="ctr"/>
                </a:tc>
                <a:tc>
                  <a:txBody>
                    <a:bodyPr/>
                    <a:lstStyle/>
                    <a:p>
                      <a:pPr algn="ctr" fontAlgn="ctr"/>
                      <a:r>
                        <a:rPr lang="en-US" sz="1400" dirty="0">
                          <a:effectLst/>
                        </a:rPr>
                        <a:t>The B-Spline allows the order of the basis function and hence the degree of the resulting curve is independent of number of vertices.</a:t>
                      </a:r>
                      <a:endParaRPr lang="en-US" sz="1400" b="0" dirty="0">
                        <a:effectLst/>
                      </a:endParaRPr>
                    </a:p>
                  </a:txBody>
                  <a:tcPr marL="53034" marR="53034" marT="74247" marB="74247" anchor="ctr"/>
                </a:tc>
                <a:tc>
                  <a:txBody>
                    <a:bodyPr/>
                    <a:lstStyle/>
                    <a:p>
                      <a:pPr algn="ctr" fontAlgn="ctr"/>
                      <a:r>
                        <a:rPr lang="en-US" sz="1400" dirty="0">
                          <a:effectLst/>
                        </a:rPr>
                        <a:t>The degree of the polynomial defining the curve segment is one less than the number of defining polygon point.</a:t>
                      </a:r>
                      <a:endParaRPr lang="en-US" sz="1400" b="0" dirty="0">
                        <a:effectLst/>
                      </a:endParaRPr>
                    </a:p>
                  </a:txBody>
                  <a:tcPr marL="53034" marR="53034" marT="74247" marB="74247" anchor="ctr"/>
                </a:tc>
              </a:tr>
              <a:tr h="1509932">
                <a:tc>
                  <a:txBody>
                    <a:bodyPr/>
                    <a:lstStyle/>
                    <a:p>
                      <a:pPr algn="ctr" fontAlgn="ctr"/>
                      <a:r>
                        <a:rPr lang="en-US" sz="1400">
                          <a:effectLst/>
                        </a:rPr>
                        <a:t>A spline curve is a mathematical representation for which it is easy to build</a:t>
                      </a:r>
                      <a:br>
                        <a:rPr lang="en-US" sz="1400">
                          <a:effectLst/>
                        </a:rPr>
                      </a:br>
                      <a:r>
                        <a:rPr lang="en-US" sz="1400">
                          <a:effectLst/>
                        </a:rPr>
                        <a:t>an interface that will allow a user to design and control the shape of complex</a:t>
                      </a:r>
                      <a:br>
                        <a:rPr lang="en-US" sz="1400">
                          <a:effectLst/>
                        </a:rPr>
                      </a:br>
                      <a:r>
                        <a:rPr lang="en-US" sz="1400">
                          <a:effectLst/>
                        </a:rPr>
                        <a:t>curves and surfaces.</a:t>
                      </a:r>
                      <a:endParaRPr lang="en-US" sz="1400" b="0">
                        <a:effectLst/>
                      </a:endParaRPr>
                    </a:p>
                  </a:txBody>
                  <a:tcPr marL="53034" marR="53034" marT="74247" marB="74247" anchor="ctr"/>
                </a:tc>
                <a:tc>
                  <a:txBody>
                    <a:bodyPr/>
                    <a:lstStyle/>
                    <a:p>
                      <a:pPr algn="ctr" fontAlgn="ctr"/>
                      <a:r>
                        <a:rPr lang="en-US" sz="1400">
                          <a:effectLst/>
                        </a:rPr>
                        <a:t>In B-Spline, there is local control over the curve surface and the shape of the curve is affected by every vertex.</a:t>
                      </a:r>
                      <a:endParaRPr lang="en-US" sz="1400" b="0">
                        <a:effectLst/>
                      </a:endParaRPr>
                    </a:p>
                  </a:txBody>
                  <a:tcPr marL="53034" marR="53034" marT="74247" marB="74247" anchor="ctr"/>
                </a:tc>
                <a:tc>
                  <a:txBody>
                    <a:bodyPr/>
                    <a:lstStyle/>
                    <a:p>
                      <a:pPr algn="ctr" fontAlgn="ctr"/>
                      <a:r>
                        <a:rPr lang="en-US" sz="1400" dirty="0">
                          <a:effectLst/>
                        </a:rPr>
                        <a:t>It is a parametric curve used in related fields.</a:t>
                      </a:r>
                      <a:endParaRPr lang="en-US" sz="1400" b="0" dirty="0">
                        <a:effectLst/>
                      </a:endParaRPr>
                    </a:p>
                  </a:txBody>
                  <a:tcPr marL="53034" marR="53034" marT="74247" marB="74247" anchor="ctr"/>
                </a:tc>
              </a:tr>
            </a:tbl>
          </a:graphicData>
        </a:graphic>
      </p:graphicFrame>
    </p:spTree>
    <p:extLst>
      <p:ext uri="{BB962C8B-B14F-4D97-AF65-F5344CB8AC3E}">
        <p14:creationId xmlns:p14="http://schemas.microsoft.com/office/powerpoint/2010/main" val="10173238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Prepared By:-P.B.Jha </a:t>
            </a:r>
            <a:endParaRPr lang="en-US"/>
          </a:p>
        </p:txBody>
      </p:sp>
    </p:spTree>
    <p:extLst>
      <p:ext uri="{BB962C8B-B14F-4D97-AF65-F5344CB8AC3E}">
        <p14:creationId xmlns:p14="http://schemas.microsoft.com/office/powerpoint/2010/main" val="16362517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Prepared By:-P.B.Jha </a:t>
            </a:r>
            <a:endParaRPr lang="en-US"/>
          </a:p>
        </p:txBody>
      </p:sp>
    </p:spTree>
    <p:extLst>
      <p:ext uri="{BB962C8B-B14F-4D97-AF65-F5344CB8AC3E}">
        <p14:creationId xmlns:p14="http://schemas.microsoft.com/office/powerpoint/2010/main" val="22804812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Prepared By:-P.B.Jha </a:t>
            </a:r>
            <a:endParaRPr lang="en-US"/>
          </a:p>
        </p:txBody>
      </p:sp>
    </p:spTree>
    <p:extLst>
      <p:ext uri="{BB962C8B-B14F-4D97-AF65-F5344CB8AC3E}">
        <p14:creationId xmlns:p14="http://schemas.microsoft.com/office/powerpoint/2010/main" val="16834713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Prepared By:-P.B.Jha </a:t>
            </a:r>
            <a:endParaRPr lang="en-US"/>
          </a:p>
        </p:txBody>
      </p:sp>
    </p:spTree>
    <p:extLst>
      <p:ext uri="{BB962C8B-B14F-4D97-AF65-F5344CB8AC3E}">
        <p14:creationId xmlns:p14="http://schemas.microsoft.com/office/powerpoint/2010/main" val="8525934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5269</TotalTime>
  <Words>1155</Words>
  <Application>Microsoft Office PowerPoint</Application>
  <PresentationFormat>Widescreen</PresentationFormat>
  <Paragraphs>144</Paragraphs>
  <Slides>18</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Cambria Math</vt:lpstr>
      <vt:lpstr>Nunito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143</cp:revision>
  <dcterms:created xsi:type="dcterms:W3CDTF">2023-06-10T10:57:17Z</dcterms:created>
  <dcterms:modified xsi:type="dcterms:W3CDTF">2023-12-12T14:12:04Z</dcterms:modified>
</cp:coreProperties>
</file>