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5" r:id="rId5"/>
    <p:sldId id="259" r:id="rId6"/>
    <p:sldId id="260" r:id="rId7"/>
    <p:sldId id="261" r:id="rId8"/>
    <p:sldId id="262" r:id="rId9"/>
    <p:sldId id="270" r:id="rId10"/>
    <p:sldId id="271" r:id="rId11"/>
    <p:sldId id="272" r:id="rId12"/>
    <p:sldId id="273" r:id="rId13"/>
    <p:sldId id="274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4E71E-BDC2-4D60-B0EE-B8AC5E1AE50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71F5F-989B-4C52-BB29-EB74D2041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15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26EB-4F38-C3FE-DF2D-F9536191F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7CF32-2F2A-D6FA-CB17-1332FCE37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4C667-BAE0-E4DC-2E08-783D6149D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1F1B-0339-4656-937B-6304099D23D9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D878E-BA4B-EBCC-B7E8-940A6F8EB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EA03-1E1B-CD43-8095-A3207E0C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71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F911C-4EDA-A65A-5EB9-E76E0C35B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E9EA-D37E-E2B0-2985-A7FC54FEE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3EBD1-C23E-0590-37A9-117288387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09152-8EFB-4322-B52A-ECD012764F55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91083-A45B-CE18-0A9D-37E027842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FB16E-D684-5336-8E1B-619B898F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096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1D165-36DC-0D17-AAC2-48A15623A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7D2C2-89B0-AB4F-6C8D-738C22A54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58748-6261-8EC6-A9D1-10734361C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C2A91-EDB1-4BCD-9025-22541265F169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770DF-9D1D-C482-B273-BB72A1016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EE09-F05C-CB7B-4BC5-246A3E76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1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55F2A-9CAA-3F21-C053-A4EAD5106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6D016-C530-A0F0-09DA-3ED5F30FB0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33E0E-6006-7CBA-BFE9-E2671F674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6552B-D558-62CB-2A33-85CE8A5E3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F2AF-B241-41FF-8AA7-DC9E3D7B656F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8ECCF-A8A6-B5CD-D19D-434C6AAE4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D0C1C-7019-70CF-3C72-D981008B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92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8992-B415-842D-9DF4-9BCA64C0C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5EA7B-E256-9F9B-C123-D747C2E1B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F71D-D1A8-8696-A49C-B92C8438D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2A3473-4264-6C2E-0E1B-66614BC52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44CE92-5768-B927-ED31-3A843D5C5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B376E1-2C54-AD24-D0EA-CCD4650A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837D9-076D-40FB-8481-B6DF4A8454FC}" type="datetime1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527DA7-7C6D-E561-E769-6B5751545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ECF4B3-8F48-387A-0200-AC32B793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80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99C9-539E-856D-3ACF-290002950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4DF86-C53B-EF89-B258-3340E2236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20EB7-7ED8-4BBA-B294-C7B30739AD57}" type="datetime1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13FD5A-BA77-DD8A-58F0-236B0D003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5A29A-CF6E-126B-F446-2AED204B1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61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691F2-1D50-B942-414D-90D86FDC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9D3C-F20B-4146-B11F-68E0B4D04083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66758-B316-834F-34AB-BCF58C8B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569A1-E742-8E3E-8196-FFE6D9128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BF6ED-8869-CA9A-3062-56AD3B4BC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C413D-2D2C-57FC-A19D-6A9DEE522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829AA-3599-C591-2291-7702A8508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8B61A-0F46-8BA2-94CC-8F005282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11D74-63E3-4400-8725-DF52B87DE2E4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2D9A4-0983-B3DE-D330-E71E67A5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42479-BDA2-822A-A7B0-486389F9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75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1E98-F2D3-92E9-F7E7-3D2B7F8BD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376039-372F-3D1B-4D40-450CE4277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A6982-5554-6360-F61D-69366745B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0095F-3A67-84ED-EED6-8FDE5B860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D8DC-8C57-471C-B654-551C08931279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AAE6B-B436-2374-8288-3841ADEC4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A1116-D76D-BE77-5AC9-F27931CC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2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AE34-E80C-9E72-4271-73A77F667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77E22-3F7F-1E98-C014-19E28F36C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AB225-8C13-8D1F-D61F-D812A7F54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F883-EC9B-4BA9-BB53-E9233524AAC5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CC150-C287-9A5C-C5F8-E8F6E712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DD699-954D-191A-E6A0-F08B51436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4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57BD58-4A36-AAD4-A566-CCA23877CE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3B73-D912-A772-6712-CA722C71E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84642-EE25-0292-66A1-1DAA34B1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1B19-6A53-498A-96DC-F8A8E24DA6C2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31A15-4950-D27B-4ED4-5E77E64AF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A5366-B9E0-E601-D429-6C23A977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39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AFA3B-75E2-4BA1-D0A1-2DA6982BB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0B9F1-5002-16FE-BF73-7C40124DF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21B04-E307-C71F-5CAC-7B3470986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F6F02-1F04-4BEE-8E11-F27AECD91F7F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4F265-CF2D-8860-78E1-4DD09F13C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94117-5570-CD9D-727E-AE6239361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0E4083-519A-4369-B994-1C0D45D87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63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7FC7-77A4-10B4-C5DA-4F90D274A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5786"/>
            <a:ext cx="9144000" cy="1228878"/>
          </a:xfrm>
        </p:spPr>
        <p:txBody>
          <a:bodyPr>
            <a:normAutofit/>
          </a:bodyPr>
          <a:lstStyle/>
          <a:p>
            <a:r>
              <a:rPr lang="en-US" b="1" dirty="0"/>
              <a:t>OpenGL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17C63-749D-607F-98FF-A036824FC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b="1" dirty="0"/>
              <a:t>Presented by:</a:t>
            </a:r>
          </a:p>
          <a:p>
            <a:pPr algn="l"/>
            <a:r>
              <a:rPr lang="en-US" dirty="0"/>
              <a:t>Dolindra Bahadur Raut (21)</a:t>
            </a:r>
          </a:p>
          <a:p>
            <a:pPr algn="l"/>
            <a:r>
              <a:rPr lang="en-US" dirty="0"/>
              <a:t>Suresh Dahal (23)</a:t>
            </a:r>
          </a:p>
          <a:p>
            <a:pPr algn="l"/>
            <a:r>
              <a:rPr lang="en-US" dirty="0"/>
              <a:t>Yugin Paudel (26)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F25EE-7EFD-4C5D-6FBC-8BF49946959D}"/>
              </a:ext>
            </a:extLst>
          </p:cNvPr>
          <p:cNvSpPr txBox="1"/>
          <p:nvPr/>
        </p:nvSpPr>
        <p:spPr>
          <a:xfrm>
            <a:off x="1179871" y="1634754"/>
            <a:ext cx="9724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Presentation on</a:t>
            </a:r>
          </a:p>
        </p:txBody>
      </p:sp>
    </p:spTree>
    <p:extLst>
      <p:ext uri="{BB962C8B-B14F-4D97-AF65-F5344CB8AC3E}">
        <p14:creationId xmlns:p14="http://schemas.microsoft.com/office/powerpoint/2010/main" val="1340908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F8B0-A9B3-12E4-45D6-2738EB36A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Table of Content: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C8C46-F136-51BE-4D07-260CDC8E6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Introduction to OpenGL </a:t>
            </a:r>
          </a:p>
          <a:p>
            <a:r>
              <a:rPr lang="en-US" b="1" dirty="0"/>
              <a:t>Applications of OpenGL </a:t>
            </a:r>
          </a:p>
          <a:p>
            <a:r>
              <a:rPr lang="en-US" b="1" dirty="0"/>
              <a:t>Comparison: BGI vs OpenGL </a:t>
            </a:r>
          </a:p>
          <a:p>
            <a:r>
              <a:rPr lang="en-US" b="1" dirty="0"/>
              <a:t>Features of OpenGL </a:t>
            </a:r>
          </a:p>
          <a:p>
            <a:r>
              <a:rPr lang="en-US" b="1" dirty="0"/>
              <a:t>Callback Functions </a:t>
            </a:r>
          </a:p>
          <a:p>
            <a:r>
              <a:rPr lang="en-US" b="1" dirty="0"/>
              <a:t>Viewing in OpenGL </a:t>
            </a:r>
          </a:p>
          <a:p>
            <a:r>
              <a:rPr lang="en-US" b="1" dirty="0"/>
              <a:t>Lighting in OpenGL </a:t>
            </a:r>
          </a:p>
          <a:p>
            <a:r>
              <a:rPr lang="en-US" b="1" dirty="0"/>
              <a:t>Color Commands </a:t>
            </a:r>
          </a:p>
          <a:p>
            <a:r>
              <a:rPr lang="en-US" b="1" dirty="0"/>
              <a:t>Drawing Pixels </a:t>
            </a:r>
          </a:p>
          <a:p>
            <a:r>
              <a:rPr lang="en-US" b="1" dirty="0"/>
              <a:t>Drawing Lines </a:t>
            </a:r>
          </a:p>
          <a:p>
            <a:r>
              <a:rPr lang="en-US" b="1" dirty="0"/>
              <a:t>Drawing Polygons </a:t>
            </a:r>
          </a:p>
          <a:p>
            <a:r>
              <a:rPr lang="en-US" b="1" dirty="0"/>
              <a:t>Conclusion </a:t>
            </a:r>
          </a:p>
          <a:p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FA1DD-EC95-910F-B990-866D5B64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z="1400" smtClean="0"/>
              <a:t>2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77697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6D55F-8DB4-ACAC-8766-386BC309D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C86E-526E-B9C7-E1EB-E054E669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Introduction to OpenGL: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9CD16-24DF-97A0-C804-7E6C9ED67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9135"/>
            <a:ext cx="10515600" cy="4336026"/>
          </a:xfrm>
        </p:spPr>
        <p:txBody>
          <a:bodyPr>
            <a:normAutofit/>
          </a:bodyPr>
          <a:lstStyle/>
          <a:p>
            <a:r>
              <a:rPr lang="en-US" dirty="0"/>
              <a:t>OpenGL stands for Open Graphics Library</a:t>
            </a:r>
          </a:p>
          <a:p>
            <a:endParaRPr lang="en-US" sz="100" dirty="0"/>
          </a:p>
          <a:p>
            <a:r>
              <a:rPr lang="en-US" dirty="0"/>
              <a:t>A graphics API used to create 2D and 3D images</a:t>
            </a:r>
          </a:p>
          <a:p>
            <a:endParaRPr lang="en-US" sz="500" dirty="0"/>
          </a:p>
          <a:p>
            <a:r>
              <a:rPr lang="en-US" dirty="0"/>
              <a:t>Works with programming languages like C/C++</a:t>
            </a:r>
          </a:p>
          <a:p>
            <a:endParaRPr lang="en-US" sz="100" dirty="0"/>
          </a:p>
          <a:p>
            <a:r>
              <a:rPr lang="en-US" dirty="0"/>
              <a:t>Widely used in:</a:t>
            </a:r>
          </a:p>
          <a:p>
            <a:pPr lvl="1"/>
            <a:r>
              <a:rPr lang="en-US" sz="2800" dirty="0"/>
              <a:t>Games </a:t>
            </a:r>
          </a:p>
          <a:p>
            <a:pPr lvl="1"/>
            <a:r>
              <a:rPr lang="en-US" sz="2800" dirty="0"/>
              <a:t>Simulations</a:t>
            </a:r>
          </a:p>
          <a:p>
            <a:pPr lvl="1"/>
            <a:r>
              <a:rPr lang="en-US" sz="2800" dirty="0"/>
              <a:t>Animation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76B89-DEEF-ACBD-7F46-208F96D4C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851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9EA8-E27C-DD62-4EA8-4147071BB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CC55-F0F0-478D-DC76-B2091486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Applications of OpenGL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234D5A-C7B1-1942-13F3-D8CEA091F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Video Games </a:t>
            </a:r>
            <a:r>
              <a:rPr lang="en-US" dirty="0"/>
              <a:t>– 3D rendering, animations, effects</a:t>
            </a:r>
          </a:p>
          <a:p>
            <a:endParaRPr lang="en-US" sz="100" dirty="0"/>
          </a:p>
          <a:p>
            <a:r>
              <a:rPr lang="en-US" b="1" dirty="0"/>
              <a:t>Simulations</a:t>
            </a:r>
            <a:r>
              <a:rPr lang="en-US" dirty="0"/>
              <a:t> – Flight simulators, physics simulations</a:t>
            </a:r>
          </a:p>
          <a:p>
            <a:endParaRPr lang="en-US" sz="100" dirty="0"/>
          </a:p>
          <a:p>
            <a:r>
              <a:rPr lang="en-US" b="1" dirty="0"/>
              <a:t>Virtual Reality / Augmented Reality </a:t>
            </a:r>
            <a:r>
              <a:rPr lang="en-US" dirty="0"/>
              <a:t>– Realistic environments</a:t>
            </a:r>
          </a:p>
          <a:p>
            <a:endParaRPr lang="en-US" sz="100" dirty="0"/>
          </a:p>
          <a:p>
            <a:r>
              <a:rPr lang="en-US" b="1" dirty="0"/>
              <a:t>Animation &amp; Graphics Design </a:t>
            </a:r>
            <a:r>
              <a:rPr lang="en-US" dirty="0"/>
              <a:t>– Movies, 3D modeling</a:t>
            </a:r>
          </a:p>
          <a:p>
            <a:endParaRPr lang="en-US" sz="100" dirty="0"/>
          </a:p>
          <a:p>
            <a:r>
              <a:rPr lang="en-US" b="1" dirty="0"/>
              <a:t>Engineering &amp; CAD</a:t>
            </a:r>
            <a:r>
              <a:rPr lang="en-US" dirty="0"/>
              <a:t> – Designing mechanical parts, buildings</a:t>
            </a:r>
          </a:p>
          <a:p>
            <a:endParaRPr lang="en-US" sz="100" dirty="0"/>
          </a:p>
          <a:p>
            <a:r>
              <a:rPr lang="en-US" b="1" dirty="0"/>
              <a:t>Scientific Visualization </a:t>
            </a:r>
            <a:r>
              <a:rPr lang="en-US" dirty="0"/>
              <a:t>– Data plots, molecular structures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CA71A-4163-2B07-0831-51FB90BB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199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E87CA-4AE2-C4A1-2CB0-D08F806C8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8661F-CCDC-B0F5-48C1-6E33E3F4E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Comparison: BGI vs OpenGL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58C61E-3A63-6E51-6D77-B251882F3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6707947"/>
              </p:ext>
            </p:extLst>
          </p:nvPr>
        </p:nvGraphicFramePr>
        <p:xfrm>
          <a:off x="838200" y="1900908"/>
          <a:ext cx="10515600" cy="3200400"/>
        </p:xfrm>
        <a:graphic>
          <a:graphicData uri="http://schemas.openxmlformats.org/drawingml/2006/table">
            <a:tbl>
              <a:tblPr/>
              <a:tblGrid>
                <a:gridCol w="2190135">
                  <a:extLst>
                    <a:ext uri="{9D8B030D-6E8A-4147-A177-3AD203B41FA5}">
                      <a16:colId xmlns:a16="http://schemas.microsoft.com/office/drawing/2014/main" val="3194486256"/>
                    </a:ext>
                  </a:extLst>
                </a:gridCol>
                <a:gridCol w="3873910">
                  <a:extLst>
                    <a:ext uri="{9D8B030D-6E8A-4147-A177-3AD203B41FA5}">
                      <a16:colId xmlns:a16="http://schemas.microsoft.com/office/drawing/2014/main" val="2306877496"/>
                    </a:ext>
                  </a:extLst>
                </a:gridCol>
                <a:gridCol w="4451555">
                  <a:extLst>
                    <a:ext uri="{9D8B030D-6E8A-4147-A177-3AD203B41FA5}">
                      <a16:colId xmlns:a16="http://schemas.microsoft.com/office/drawing/2014/main" val="259260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BGI </a:t>
                      </a:r>
                      <a:r>
                        <a:rPr lang="en-US" sz="2400" b="1"/>
                        <a:t>(</a:t>
                      </a:r>
                      <a:r>
                        <a:rPr lang="en-US" sz="1800" b="1"/>
                        <a:t>Borland </a:t>
                      </a:r>
                      <a:r>
                        <a:rPr lang="en-US" sz="1800" b="1" dirty="0"/>
                        <a:t>Graphics Interface</a:t>
                      </a:r>
                      <a:r>
                        <a:rPr lang="en-US" sz="2400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OpenGL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449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Old graphics library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Modern graphics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42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Graphics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2D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2D and 3D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999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Slow (CPU-based)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Fast (GPU-based)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326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DOS / Turbo 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Cross-platform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130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Advanced (lighting, shading)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407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Educational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Real-world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13562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790C5-33DB-8601-CD00-C9E0E4840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240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4832E-124D-EE1B-9C81-FD6BF1B3A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BD025-1FDE-5B4E-B0FF-D0092E8B6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Features of OpenGL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47AE05-CCE8-F3E3-F781-622089977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OpenGL is cross-platform (Windows, Linux, Mac)</a:t>
            </a:r>
          </a:p>
          <a:p>
            <a:pPr marL="0" indent="0">
              <a:buNone/>
            </a:pPr>
            <a:endParaRPr lang="en-US" sz="100" dirty="0"/>
          </a:p>
          <a:p>
            <a:r>
              <a:rPr lang="en-US" dirty="0"/>
              <a:t>Supports both 2D and 3D graphics</a:t>
            </a:r>
          </a:p>
          <a:p>
            <a:endParaRPr lang="en-US" sz="100" dirty="0"/>
          </a:p>
          <a:p>
            <a:r>
              <a:rPr lang="en-US" dirty="0"/>
              <a:t>Uses GPU acceleration for high performance</a:t>
            </a:r>
          </a:p>
          <a:p>
            <a:endParaRPr lang="en-US" sz="100" dirty="0"/>
          </a:p>
          <a:p>
            <a:r>
              <a:rPr lang="en-US" dirty="0"/>
              <a:t>Provides many features for graphics rendering</a:t>
            </a:r>
          </a:p>
          <a:p>
            <a:endParaRPr lang="en-US" sz="100" dirty="0"/>
          </a:p>
          <a:p>
            <a:r>
              <a:rPr lang="en-US" dirty="0"/>
              <a:t>Supports lighting, shading, and textures</a:t>
            </a:r>
            <a:endParaRPr lang="en-US" sz="100" dirty="0"/>
          </a:p>
          <a:p>
            <a:endParaRPr lang="en-US" sz="100" dirty="0"/>
          </a:p>
          <a:p>
            <a:r>
              <a:rPr lang="en-US" dirty="0"/>
              <a:t>Highly flexible and powerful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268D5-9B4C-1247-8BB1-9158B736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70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72819-09F9-4E5A-AC67-7B5D6DD7F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02AF-8DC7-C7F4-E701-F246115B2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Callback Functions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F37BB9-A8D2-7B96-2867-88B596884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Functions that run automatically when an event occurs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3200" dirty="0"/>
              <a:t>Used to handle:</a:t>
            </a:r>
          </a:p>
          <a:p>
            <a:pPr lvl="1"/>
            <a:r>
              <a:rPr lang="en-US" sz="3200" dirty="0"/>
              <a:t>Display updates</a:t>
            </a:r>
          </a:p>
          <a:p>
            <a:pPr lvl="1"/>
            <a:r>
              <a:rPr lang="en-US" sz="3200" dirty="0"/>
              <a:t>Keyboard input </a:t>
            </a:r>
          </a:p>
          <a:p>
            <a:pPr lvl="1"/>
            <a:r>
              <a:rPr lang="en-US" sz="3200" dirty="0"/>
              <a:t>Mouse input </a:t>
            </a:r>
          </a:p>
          <a:p>
            <a:pPr marL="457200" lvl="1" indent="0">
              <a:buNone/>
            </a:pPr>
            <a:endParaRPr lang="en-US" sz="3200" dirty="0"/>
          </a:p>
          <a:p>
            <a:r>
              <a:rPr lang="en-US" sz="3200" dirty="0"/>
              <a:t>Registered using special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33D14-A8F4-8C3B-C77D-B77130AF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103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8F4AA-7124-EA7C-8481-977C6518C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FE0E9-6A76-3251-2E18-628B541C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Callback Functions (contd.)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DFD03F-33D3-C2F4-4B89-96FE16316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Common callback functions:</a:t>
            </a:r>
          </a:p>
          <a:p>
            <a:endParaRPr lang="en-US" sz="3200" dirty="0"/>
          </a:p>
          <a:p>
            <a:r>
              <a:rPr lang="en-US" sz="3200" dirty="0" err="1"/>
              <a:t>glutDisplayFunc</a:t>
            </a:r>
            <a:r>
              <a:rPr lang="en-US" sz="3200" dirty="0"/>
              <a:t>() → for drawing screen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 err="1"/>
              <a:t>glutKeyboardFunc</a:t>
            </a:r>
            <a:r>
              <a:rPr lang="en-US" sz="3200" dirty="0"/>
              <a:t>() → for keyboard input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 err="1"/>
              <a:t>glutMouseFunc</a:t>
            </a:r>
            <a:r>
              <a:rPr lang="en-US" sz="3200" dirty="0"/>
              <a:t>() → for mouse 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8143E-14F0-6EEA-E6A5-0D1352011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74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4A7C9-9F39-7200-88C2-FBF24328A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3E87-5A91-5F2C-E07E-8D8B64BD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Viewing in OpenGL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8A5602-9A3A-B60E-C8F1-47E8456DE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Viewing defines </a:t>
            </a:r>
            <a:r>
              <a:rPr lang="en-US" b="1" dirty="0"/>
              <a:t>how we see objects</a:t>
            </a:r>
            <a:r>
              <a:rPr lang="en-US" dirty="0"/>
              <a:t> on the screen </a:t>
            </a:r>
          </a:p>
          <a:p>
            <a:r>
              <a:rPr lang="en-US" dirty="0"/>
              <a:t>Acts like a </a:t>
            </a:r>
            <a:r>
              <a:rPr lang="en-US" b="1" dirty="0"/>
              <a:t>camera in 3D space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Controls: </a:t>
            </a:r>
          </a:p>
          <a:p>
            <a:pPr lvl="1"/>
            <a:r>
              <a:rPr lang="en-US" b="1" dirty="0"/>
              <a:t>Position of the camera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Direction it looks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Up/Down orientation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dirty="0"/>
              <a:t>OpenGL function: </a:t>
            </a:r>
            <a:r>
              <a:rPr lang="en-US" b="1" dirty="0" err="1"/>
              <a:t>gluLookAt</a:t>
            </a:r>
            <a:r>
              <a:rPr lang="en-US" b="1" dirty="0"/>
              <a:t>(</a:t>
            </a:r>
            <a:r>
              <a:rPr lang="en-US" b="1" dirty="0" err="1"/>
              <a:t>eyeX</a:t>
            </a:r>
            <a:r>
              <a:rPr lang="en-US" b="1" dirty="0"/>
              <a:t>, </a:t>
            </a:r>
            <a:r>
              <a:rPr lang="en-US" b="1" dirty="0" err="1"/>
              <a:t>eyeY</a:t>
            </a:r>
            <a:r>
              <a:rPr lang="en-US" b="1" dirty="0"/>
              <a:t>, </a:t>
            </a:r>
            <a:r>
              <a:rPr lang="en-US" b="1" dirty="0" err="1"/>
              <a:t>eyeZ</a:t>
            </a:r>
            <a:r>
              <a:rPr lang="en-US" b="1" dirty="0"/>
              <a:t>, </a:t>
            </a:r>
            <a:r>
              <a:rPr lang="en-US" b="1" dirty="0" err="1"/>
              <a:t>centerX</a:t>
            </a:r>
            <a:r>
              <a:rPr lang="en-US" b="1" dirty="0"/>
              <a:t>, </a:t>
            </a:r>
            <a:r>
              <a:rPr lang="en-US" b="1" dirty="0" err="1"/>
              <a:t>centerY</a:t>
            </a:r>
            <a:r>
              <a:rPr lang="en-US" b="1" dirty="0"/>
              <a:t>, </a:t>
            </a:r>
            <a:r>
              <a:rPr lang="en-US" b="1" dirty="0" err="1"/>
              <a:t>centerZ</a:t>
            </a:r>
            <a:r>
              <a:rPr lang="en-US" b="1" dirty="0"/>
              <a:t>, </a:t>
            </a:r>
            <a:r>
              <a:rPr lang="en-US" b="1" dirty="0" err="1"/>
              <a:t>upX</a:t>
            </a:r>
            <a:r>
              <a:rPr lang="en-US" b="1" dirty="0"/>
              <a:t>, </a:t>
            </a:r>
            <a:r>
              <a:rPr lang="en-US" b="1" dirty="0" err="1"/>
              <a:t>upY</a:t>
            </a:r>
            <a:r>
              <a:rPr lang="en-US" b="1" dirty="0"/>
              <a:t>, </a:t>
            </a:r>
            <a:r>
              <a:rPr lang="en-US" b="1" dirty="0" err="1"/>
              <a:t>upZ</a:t>
            </a:r>
            <a:r>
              <a:rPr lang="en-US" b="1" dirty="0"/>
              <a:t>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8D14D-F4AA-1155-28A5-5932DE5E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86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7FEA7-E9DB-4B26-395A-F2F1CF4FA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8B992-A392-2382-6E74-2C1DAE081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Viewing in OpenGL (contd.)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372556-9918-3D8E-26AC-95DD9F731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Example:</a:t>
            </a:r>
          </a:p>
          <a:p>
            <a:endParaRPr lang="en-US" sz="100" b="1" dirty="0"/>
          </a:p>
          <a:p>
            <a:r>
              <a:rPr lang="en-US" b="1" dirty="0" err="1"/>
              <a:t>gluLookAt</a:t>
            </a:r>
            <a:r>
              <a:rPr lang="en-US" b="1" dirty="0"/>
              <a:t>(0.0, 0.0, 5.0,  </a:t>
            </a:r>
            <a:r>
              <a:rPr lang="en-US" dirty="0"/>
              <a:t>// Camera position</a:t>
            </a:r>
            <a:br>
              <a:rPr lang="en-US" b="1" dirty="0"/>
            </a:br>
            <a:r>
              <a:rPr lang="en-US" b="1" dirty="0"/>
              <a:t>          0.0, 0.0, 0.0,  </a:t>
            </a:r>
            <a:r>
              <a:rPr lang="en-US" dirty="0"/>
              <a:t>// Look at point</a:t>
            </a:r>
            <a:br>
              <a:rPr lang="en-US" b="1" dirty="0"/>
            </a:br>
            <a:r>
              <a:rPr lang="en-US" b="1" dirty="0"/>
              <a:t>          0.0, 1.0, 0.0); </a:t>
            </a:r>
            <a:r>
              <a:rPr lang="en-US" dirty="0"/>
              <a:t>// Up vector</a:t>
            </a:r>
          </a:p>
          <a:p>
            <a:endParaRPr lang="en-US" sz="100" dirty="0"/>
          </a:p>
          <a:p>
            <a:r>
              <a:rPr lang="en-US" dirty="0"/>
              <a:t>eye → camera position </a:t>
            </a:r>
          </a:p>
          <a:p>
            <a:endParaRPr lang="en-US" sz="100" dirty="0"/>
          </a:p>
          <a:p>
            <a:r>
              <a:rPr lang="en-US" dirty="0"/>
              <a:t>center → point camera looks at </a:t>
            </a:r>
          </a:p>
          <a:p>
            <a:endParaRPr lang="en-US" sz="100" dirty="0"/>
          </a:p>
          <a:p>
            <a:r>
              <a:rPr lang="en-US" dirty="0"/>
              <a:t>up → which direction is 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0E3BA-89AF-18DE-93F6-5934830F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254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E89BC-2DC6-C276-EEEE-7A88E49D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CD6D2-0256-93C1-51CF-75C830D9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Lighting in OpenGL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09138C-DAD7-7C08-C04D-A8E87BFBA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Lighting makes objects look 3D and realistic</a:t>
            </a:r>
          </a:p>
          <a:p>
            <a:endParaRPr lang="en-US" sz="100" dirty="0"/>
          </a:p>
          <a:p>
            <a:r>
              <a:rPr lang="en-US" dirty="0"/>
              <a:t>OpenGL supports different types of light</a:t>
            </a:r>
          </a:p>
          <a:p>
            <a:endParaRPr lang="en-US" sz="100" dirty="0"/>
          </a:p>
          <a:p>
            <a:r>
              <a:rPr lang="en-US" dirty="0"/>
              <a:t>Common types of lighting:</a:t>
            </a:r>
          </a:p>
          <a:p>
            <a:r>
              <a:rPr lang="en-US" b="1" dirty="0"/>
              <a:t>Ambient light </a:t>
            </a:r>
            <a:r>
              <a:rPr lang="en-US" dirty="0"/>
              <a:t>– general light in the scene</a:t>
            </a:r>
          </a:p>
          <a:p>
            <a:r>
              <a:rPr lang="en-US" b="1" dirty="0"/>
              <a:t>Diffuse light </a:t>
            </a:r>
            <a:r>
              <a:rPr lang="en-US" dirty="0"/>
              <a:t>– light scattered evenly across surfaces</a:t>
            </a:r>
          </a:p>
          <a:p>
            <a:r>
              <a:rPr lang="en-US" b="1" dirty="0"/>
              <a:t>Specular light </a:t>
            </a:r>
            <a:r>
              <a:rPr lang="en-US" dirty="0"/>
              <a:t>– shiny reflections on surfaces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C2DCA-3FEA-272D-70EE-50C9009D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03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31C71-49BF-C81D-E6FE-DB9E1560F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4734-E78C-8E20-5D72-966D31D10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Lighting in OpenGL (contd.)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A47287-B383-9602-91F7-1BD49FC0E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Functions: </a:t>
            </a:r>
          </a:p>
          <a:p>
            <a:pPr marL="0" indent="0">
              <a:buNone/>
            </a:pPr>
            <a:endParaRPr lang="en-US" sz="3200" dirty="0"/>
          </a:p>
          <a:p>
            <a:pPr lvl="1"/>
            <a:r>
              <a:rPr lang="en-US" sz="2800" b="1" dirty="0" err="1"/>
              <a:t>glLightfv</a:t>
            </a:r>
            <a:r>
              <a:rPr lang="en-US" sz="2800" b="1" dirty="0"/>
              <a:t>() </a:t>
            </a:r>
            <a:r>
              <a:rPr lang="en-US" sz="2800" dirty="0"/>
              <a:t>→ set light properties </a:t>
            </a:r>
          </a:p>
          <a:p>
            <a:pPr lvl="1"/>
            <a:endParaRPr lang="en-US" sz="2800" dirty="0"/>
          </a:p>
          <a:p>
            <a:pPr lvl="1"/>
            <a:r>
              <a:rPr lang="en-US" sz="2800" b="1" dirty="0" err="1"/>
              <a:t>glEnable</a:t>
            </a:r>
            <a:r>
              <a:rPr lang="en-US" sz="2800" b="1" dirty="0"/>
              <a:t>(GL_LIGHTING) </a:t>
            </a:r>
            <a:r>
              <a:rPr lang="en-US" sz="2800" dirty="0"/>
              <a:t>→ enable lighting </a:t>
            </a:r>
          </a:p>
          <a:p>
            <a:pPr lvl="1"/>
            <a:endParaRPr lang="en-US" sz="2800" dirty="0"/>
          </a:p>
          <a:p>
            <a:pPr lvl="1"/>
            <a:r>
              <a:rPr lang="en-US" sz="2800" b="1" dirty="0" err="1"/>
              <a:t>glEnable</a:t>
            </a:r>
            <a:r>
              <a:rPr lang="en-US" sz="2800" b="1" dirty="0"/>
              <a:t>(GL_LIGHT0) </a:t>
            </a:r>
            <a:r>
              <a:rPr lang="en-US" sz="2800" dirty="0"/>
              <a:t>→ enable specific light source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7F7C5-B3AA-A16C-9FE3-ED417C5F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939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34F7F-6729-0EFF-AD15-5752110DE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7A53-9D5C-56B2-CDF1-04CF1037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Lighting in OpenGL (contd.)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301D52-C8B9-ECD7-0CA7-F54183A2F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Example:</a:t>
            </a:r>
          </a:p>
          <a:p>
            <a:pPr marL="0" indent="0">
              <a:buNone/>
            </a:pPr>
            <a:r>
              <a:rPr lang="en-US" b="1" dirty="0" err="1"/>
              <a:t>GLfloat</a:t>
            </a:r>
            <a:r>
              <a:rPr lang="en-US" b="1" dirty="0"/>
              <a:t> </a:t>
            </a:r>
            <a:r>
              <a:rPr lang="en-US" b="1" dirty="0" err="1"/>
              <a:t>light_position</a:t>
            </a:r>
            <a:r>
              <a:rPr lang="en-US" b="1" dirty="0"/>
              <a:t>[] = {1.0, 1.0, 1.0, 0.0};</a:t>
            </a:r>
            <a:br>
              <a:rPr lang="en-US" b="1" dirty="0"/>
            </a:br>
            <a:r>
              <a:rPr lang="en-US" b="1" dirty="0" err="1"/>
              <a:t>glLightfv</a:t>
            </a:r>
            <a:r>
              <a:rPr lang="en-US" b="1" dirty="0"/>
              <a:t>(GL_LIGHT0, GL_POSITION, </a:t>
            </a:r>
            <a:r>
              <a:rPr lang="en-US" b="1" dirty="0" err="1"/>
              <a:t>light_position</a:t>
            </a:r>
            <a:r>
              <a:rPr lang="en-US" b="1" dirty="0"/>
              <a:t>);</a:t>
            </a:r>
            <a:br>
              <a:rPr lang="en-US" b="1" dirty="0"/>
            </a:br>
            <a:r>
              <a:rPr lang="en-US" b="1" dirty="0" err="1"/>
              <a:t>glEnable</a:t>
            </a:r>
            <a:r>
              <a:rPr lang="en-US" b="1" dirty="0"/>
              <a:t>(GL_LIGHTING);</a:t>
            </a:r>
            <a:br>
              <a:rPr lang="en-US" b="1" dirty="0"/>
            </a:br>
            <a:r>
              <a:rPr lang="en-US" b="1" dirty="0" err="1"/>
              <a:t>glEnable</a:t>
            </a:r>
            <a:r>
              <a:rPr lang="en-US" b="1" dirty="0"/>
              <a:t>(GL_LIGHT0);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sz="3200" dirty="0"/>
              <a:t>Positions the light at </a:t>
            </a:r>
            <a:r>
              <a:rPr lang="en-US" dirty="0"/>
              <a:t>(1,1,1)</a:t>
            </a:r>
            <a:r>
              <a:rPr lang="en-US" sz="3200" dirty="0"/>
              <a:t> </a:t>
            </a:r>
          </a:p>
          <a:p>
            <a:r>
              <a:rPr lang="en-US" sz="3200" dirty="0"/>
              <a:t>Enables lighting system and the light source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BAAB5-847E-74E7-75CD-A8F77A6B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201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9355A-F260-392A-6523-82508C52B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71291-C1CB-AABC-30D4-12C4297E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Color Commands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162B67-2155-377D-AB8E-FBE6720FB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Used to set the color of objects</a:t>
            </a:r>
          </a:p>
          <a:p>
            <a:endParaRPr lang="en-US" sz="3200" dirty="0"/>
          </a:p>
          <a:p>
            <a:r>
              <a:rPr lang="en-US" sz="3200" dirty="0"/>
              <a:t>Uses RGB color model → Red, Green, Blue</a:t>
            </a:r>
          </a:p>
          <a:p>
            <a:endParaRPr lang="en-US" sz="3200" dirty="0"/>
          </a:p>
          <a:p>
            <a:r>
              <a:rPr lang="en-US" sz="3200" dirty="0"/>
              <a:t>Values range from 0.0 to 1.0</a:t>
            </a:r>
          </a:p>
          <a:p>
            <a:endParaRPr lang="en-US" sz="3200" dirty="0"/>
          </a:p>
          <a:p>
            <a:pPr lvl="1"/>
            <a:r>
              <a:rPr lang="en-US" sz="2800" dirty="0"/>
              <a:t>0.0 → no contribution of that color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1.0 → full intensity of that color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1DE84-F983-B79D-2C73-B2DC64B4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18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532A6-A5A4-5B6C-F4B3-15A3F4D74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BFCC9-A384-E110-4B21-82165957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Color Commands (contd.)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C1DDB7-B8B0-0C58-6E33-AE2E5E9A9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Example:</a:t>
            </a:r>
            <a:endParaRPr lang="en-US" dirty="0">
              <a:effectLst/>
            </a:endParaRPr>
          </a:p>
          <a:p>
            <a:pPr lvl="1"/>
            <a:r>
              <a:rPr lang="en-US" sz="2800" b="1" dirty="0"/>
              <a:t>glColor3f(1.0, 0.0, 0.0); </a:t>
            </a:r>
            <a:r>
              <a:rPr lang="en-US" sz="2800" dirty="0"/>
              <a:t>//red</a:t>
            </a:r>
          </a:p>
          <a:p>
            <a:pPr lvl="1"/>
            <a:endParaRPr lang="en-US" sz="800" dirty="0">
              <a:effectLst/>
            </a:endParaRPr>
          </a:p>
          <a:p>
            <a:r>
              <a:rPr lang="en-US" dirty="0"/>
              <a:t>Transparency (opacity) uses alpha:</a:t>
            </a:r>
          </a:p>
          <a:p>
            <a:endParaRPr lang="en-US" sz="100" dirty="0">
              <a:effectLst/>
            </a:endParaRPr>
          </a:p>
          <a:p>
            <a:r>
              <a:rPr lang="en-US" b="1" dirty="0"/>
              <a:t>glColor4f(R, G, B, A)</a:t>
            </a:r>
            <a:endParaRPr lang="en-US" b="1" dirty="0">
              <a:effectLst/>
            </a:endParaRPr>
          </a:p>
          <a:p>
            <a:pPr lvl="1"/>
            <a:r>
              <a:rPr lang="en-US" sz="2800" dirty="0"/>
              <a:t>A = 1.0 → fully opaque</a:t>
            </a:r>
            <a:endParaRPr lang="en-US" sz="2800" dirty="0">
              <a:effectLst/>
            </a:endParaRPr>
          </a:p>
          <a:p>
            <a:pPr lvl="1"/>
            <a:r>
              <a:rPr lang="en-US" sz="2800" dirty="0"/>
              <a:t>A = 0.0 → fully transparent</a:t>
            </a:r>
          </a:p>
          <a:p>
            <a:pPr lvl="1"/>
            <a:endParaRPr lang="en-US" sz="100" dirty="0">
              <a:effectLst/>
            </a:endParaRPr>
          </a:p>
          <a:p>
            <a:r>
              <a:rPr lang="en-US" dirty="0"/>
              <a:t>By mixing RGB values, any color can be created</a:t>
            </a:r>
            <a:endParaRPr lang="en-US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342C0-B7C5-420A-BB9E-4AB4767B7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021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AB8CA-C84C-7609-1F52-0549E89DB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A607-C4A3-90FB-6691-B9BCE7BFD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Drawing Pixels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F2A100-8A75-2248-9188-F1666EBA4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Draw individual pixels using </a:t>
            </a:r>
            <a:r>
              <a:rPr lang="en-US" b="1" dirty="0" err="1"/>
              <a:t>glBegin</a:t>
            </a:r>
            <a:r>
              <a:rPr lang="en-US" b="1" dirty="0"/>
              <a:t>(GL_POINTS)</a:t>
            </a:r>
          </a:p>
          <a:p>
            <a:r>
              <a:rPr lang="en-US" dirty="0"/>
              <a:t>Each pixel is defined by coordinates (x, y)</a:t>
            </a:r>
          </a:p>
          <a:p>
            <a:r>
              <a:rPr lang="en-US" dirty="0"/>
              <a:t>Pixels can be colored using </a:t>
            </a:r>
            <a:r>
              <a:rPr lang="en-US" b="1" dirty="0"/>
              <a:t>glColor3f()</a:t>
            </a:r>
          </a:p>
          <a:p>
            <a:r>
              <a:rPr lang="en-US" dirty="0"/>
              <a:t>Example:</a:t>
            </a:r>
          </a:p>
          <a:p>
            <a:r>
              <a:rPr lang="en-US" b="1" dirty="0" err="1"/>
              <a:t>glBegin</a:t>
            </a:r>
            <a:r>
              <a:rPr lang="en-US" b="1" dirty="0"/>
              <a:t>(GL_POINTS);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glVertex2i(100, 100); </a:t>
            </a:r>
            <a:r>
              <a:rPr lang="en-US" dirty="0"/>
              <a:t>// Draw a pixel at (100,100)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glEnd</a:t>
            </a:r>
            <a:r>
              <a:rPr lang="en-US" b="1" dirty="0"/>
              <a:t>();</a:t>
            </a:r>
          </a:p>
          <a:p>
            <a:r>
              <a:rPr lang="en-US" dirty="0"/>
              <a:t>Multiple pixels can form lines, shapes, or images</a:t>
            </a:r>
            <a:endParaRPr lang="en-US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AF706-EF53-AB11-3B74-277A0D48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33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4F699-44F3-70A8-A144-2CD0BADF6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19EB-6C52-7C77-CD6D-DEF59C97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Drawing Lines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382EF6-67FB-2712-13C4-C217B093E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Lines are drawn using two or more points</a:t>
            </a:r>
          </a:p>
          <a:p>
            <a:endParaRPr lang="en-US" dirty="0"/>
          </a:p>
          <a:p>
            <a:r>
              <a:rPr lang="en-US" dirty="0"/>
              <a:t>OpenGL primitive: </a:t>
            </a:r>
            <a:r>
              <a:rPr lang="en-US" b="1" dirty="0"/>
              <a:t>GL_LINES</a:t>
            </a:r>
          </a:p>
          <a:p>
            <a:endParaRPr lang="en-US" b="1" dirty="0"/>
          </a:p>
          <a:p>
            <a:r>
              <a:rPr lang="en-US" dirty="0"/>
              <a:t>Each line is defined by two vertices (x1, y1) and (x2, y2)</a:t>
            </a:r>
          </a:p>
          <a:p>
            <a:endParaRPr lang="en-US" dirty="0"/>
          </a:p>
          <a:p>
            <a:r>
              <a:rPr lang="en-US" dirty="0"/>
              <a:t>Multiple lines can be drawn consecutively</a:t>
            </a:r>
            <a:endParaRPr lang="en-US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DC250-E2D7-D10D-2712-898C0D1A6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43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5DBE6-74CD-48F0-1095-8C9F341F6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6FF-CDEB-31C5-4F3E-5CDBE06CD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Drawing Lines (contd.)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D9BF6F-3D61-E36C-0A1F-E0A0AC364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Example:</a:t>
            </a:r>
          </a:p>
          <a:p>
            <a:endParaRPr lang="en-US" sz="100" dirty="0"/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b="1" dirty="0" err="1"/>
              <a:t>glBegin</a:t>
            </a:r>
            <a:r>
              <a:rPr lang="en-US" b="1" dirty="0"/>
              <a:t>(GL_LINES);</a:t>
            </a:r>
          </a:p>
          <a:p>
            <a:pPr marL="0" indent="0">
              <a:buNone/>
            </a:pPr>
            <a:r>
              <a:rPr lang="en-US" b="1" dirty="0"/>
              <a:t>     glVertex2i(50, 50);   </a:t>
            </a:r>
            <a:r>
              <a:rPr lang="en-US" dirty="0"/>
              <a:t>// Start point</a:t>
            </a:r>
          </a:p>
          <a:p>
            <a:pPr marL="0" indent="0">
              <a:buNone/>
            </a:pPr>
            <a:r>
              <a:rPr lang="en-US" b="1" dirty="0"/>
              <a:t>     glVertex2i(150, 150); </a:t>
            </a:r>
            <a:r>
              <a:rPr lang="en-US" dirty="0"/>
              <a:t>// End point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b="1" dirty="0" err="1"/>
              <a:t>glEnd</a:t>
            </a:r>
            <a:r>
              <a:rPr lang="en-US" b="1" dirty="0"/>
              <a:t>();</a:t>
            </a:r>
          </a:p>
          <a:p>
            <a:pPr marL="0" indent="0">
              <a:buNone/>
            </a:pPr>
            <a:endParaRPr lang="en-US" sz="100" b="1" dirty="0"/>
          </a:p>
          <a:p>
            <a:r>
              <a:rPr lang="en-US" dirty="0"/>
              <a:t>GL_LINE_LOOP → connects last point to first (closed shape)</a:t>
            </a:r>
          </a:p>
          <a:p>
            <a:r>
              <a:rPr lang="en-US" dirty="0"/>
              <a:t>GL_LINE_STRIP → connects consecutive points</a:t>
            </a:r>
            <a:endParaRPr lang="en-US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71E57-F26A-8EB1-FD24-D1DF49D97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370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1A9B4-9609-C221-9194-167BCECC7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2D2EF-A25E-CBC6-C323-9990D7F6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Drawing Polygons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21A8E1-D92C-8E04-90BF-DF9BBF87B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Polygons are shapes with multiple sides</a:t>
            </a:r>
          </a:p>
          <a:p>
            <a:endParaRPr lang="en-US" sz="100" dirty="0"/>
          </a:p>
          <a:p>
            <a:r>
              <a:rPr lang="en-US" dirty="0"/>
              <a:t>OpenGL primitive: </a:t>
            </a:r>
            <a:r>
              <a:rPr lang="en-US" b="1" dirty="0"/>
              <a:t>GL_POLYGON</a:t>
            </a:r>
          </a:p>
          <a:p>
            <a:endParaRPr lang="en-US" sz="100" dirty="0"/>
          </a:p>
          <a:p>
            <a:r>
              <a:rPr lang="en-US" dirty="0"/>
              <a:t>Each corner is defined by a vertex (x, y)</a:t>
            </a:r>
          </a:p>
          <a:p>
            <a:endParaRPr lang="en-US" sz="100" dirty="0"/>
          </a:p>
          <a:p>
            <a:r>
              <a:rPr lang="en-US" dirty="0"/>
              <a:t>Can draw triangles, squares, pentagons, etc.</a:t>
            </a:r>
          </a:p>
          <a:p>
            <a:endParaRPr lang="en-US" sz="100" dirty="0"/>
          </a:p>
          <a:p>
            <a:r>
              <a:rPr lang="en-US" dirty="0"/>
              <a:t>Polygons are filled shapes by default</a:t>
            </a:r>
            <a:endParaRPr lang="en-US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63ADE-4530-5855-0E73-8870CC52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681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6CD92-524D-3C53-5859-43573E2C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C7FA4-648D-016F-E70B-DA55235B4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Drawing Polygons (contd.)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BCCAB7-A4AD-5F1F-18DA-12A1F451F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Example: Triangle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 err="1"/>
              <a:t>glBegin</a:t>
            </a:r>
            <a:r>
              <a:rPr lang="en-US" b="1" dirty="0"/>
              <a:t>(GL_POLYGON);</a:t>
            </a:r>
            <a:br>
              <a:rPr lang="en-US" dirty="0"/>
            </a:br>
            <a:r>
              <a:rPr lang="en-US" dirty="0"/>
              <a:t>      </a:t>
            </a:r>
            <a:r>
              <a:rPr lang="en-US" b="1" dirty="0"/>
              <a:t>glVertex2f(-0.5f, -0.5f); </a:t>
            </a:r>
            <a:r>
              <a:rPr lang="en-US" dirty="0"/>
              <a:t>// Vertex 1</a:t>
            </a:r>
            <a:br>
              <a:rPr lang="en-US" dirty="0"/>
            </a:br>
            <a:r>
              <a:rPr lang="en-US" b="1" dirty="0"/>
              <a:t>      glVertex2f(0.5f, -0.5f);</a:t>
            </a:r>
            <a:r>
              <a:rPr lang="en-US" dirty="0"/>
              <a:t>  // Vertex 2</a:t>
            </a:r>
            <a:br>
              <a:rPr lang="en-US" dirty="0"/>
            </a:br>
            <a:r>
              <a:rPr lang="en-US" dirty="0"/>
              <a:t>      </a:t>
            </a:r>
            <a:r>
              <a:rPr lang="en-US" b="1" dirty="0"/>
              <a:t>glVertex2f(0.0f, 0.5f);   </a:t>
            </a:r>
            <a:r>
              <a:rPr lang="en-US" dirty="0"/>
              <a:t>// Vertex 3</a:t>
            </a:r>
            <a:br>
              <a:rPr lang="en-US" dirty="0"/>
            </a:br>
            <a:r>
              <a:rPr lang="en-US" dirty="0"/>
              <a:t>  </a:t>
            </a:r>
            <a:r>
              <a:rPr lang="en-US" b="1" dirty="0" err="1"/>
              <a:t>glEnd</a:t>
            </a:r>
            <a:r>
              <a:rPr lang="en-US" b="1" dirty="0"/>
              <a:t>();</a:t>
            </a:r>
          </a:p>
          <a:p>
            <a:r>
              <a:rPr lang="en-US" dirty="0"/>
              <a:t>More vertices → more complex shapes </a:t>
            </a:r>
          </a:p>
          <a:p>
            <a:r>
              <a:rPr lang="en-US" dirty="0"/>
              <a:t>Can combine polygons to make </a:t>
            </a:r>
            <a:r>
              <a:rPr lang="en-US" b="1" dirty="0"/>
              <a:t>complex 2D/3D objects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F3492-FFE5-D3FD-8B0B-479B09CA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35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D2D41-8137-093B-A76A-98C9EEE7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8F73-94CF-5967-929F-011E6C310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E27320-1624-5C73-A144-C44863023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OpenGL is a powerful graphics API for 2D and 3D graphics</a:t>
            </a:r>
          </a:p>
          <a:p>
            <a:endParaRPr lang="en-US" sz="100" dirty="0"/>
          </a:p>
          <a:p>
            <a:r>
              <a:rPr lang="en-US" dirty="0"/>
              <a:t>Uses GPU acceleration for high performance</a:t>
            </a:r>
          </a:p>
          <a:p>
            <a:endParaRPr lang="en-US" sz="100" dirty="0"/>
          </a:p>
          <a:p>
            <a:r>
              <a:rPr lang="en-US" dirty="0"/>
              <a:t>Supports color, lighting, and complex shapes</a:t>
            </a:r>
          </a:p>
          <a:p>
            <a:endParaRPr lang="en-US" sz="100" dirty="0"/>
          </a:p>
          <a:p>
            <a:r>
              <a:rPr lang="en-US" dirty="0"/>
              <a:t>Provides flexible viewing and camera control</a:t>
            </a:r>
          </a:p>
          <a:p>
            <a:endParaRPr lang="en-US" sz="100" dirty="0"/>
          </a:p>
          <a:p>
            <a:r>
              <a:rPr lang="en-US" dirty="0"/>
              <a:t>Widely used in games, simulations, animation, and engineering</a:t>
            </a:r>
          </a:p>
          <a:p>
            <a:endParaRPr lang="en-US" sz="100" dirty="0"/>
          </a:p>
          <a:p>
            <a:r>
              <a:rPr lang="en-US" dirty="0"/>
              <a:t>Replaced older libraries like BGI for modern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E2C17-9111-C02F-9A53-AE691A5E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84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A46F7-7F66-5DFB-9133-4A39AA521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7FB7-2254-9E3C-1157-612FAFBC5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238E9-E6BE-14D1-42DF-2582A05F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4083-519A-4369-B994-1C0D45D8785C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135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999</Words>
  <Application>Microsoft Office PowerPoint</Application>
  <PresentationFormat>Widescreen</PresentationFormat>
  <Paragraphs>233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OpenGL</vt:lpstr>
      <vt:lpstr> Table of Content: </vt:lpstr>
      <vt:lpstr>Introduction to OpenGL:</vt:lpstr>
      <vt:lpstr>Applications of OpenGL </vt:lpstr>
      <vt:lpstr>Comparison: BGI vs OpenGL</vt:lpstr>
      <vt:lpstr>Features of OpenGL</vt:lpstr>
      <vt:lpstr>Callback Functions</vt:lpstr>
      <vt:lpstr>Callback Functions (contd.)</vt:lpstr>
      <vt:lpstr>Viewing in OpenGL </vt:lpstr>
      <vt:lpstr>Viewing in OpenGL (contd.) </vt:lpstr>
      <vt:lpstr>Lighting in OpenGL </vt:lpstr>
      <vt:lpstr>Lighting in OpenGL (contd.) </vt:lpstr>
      <vt:lpstr>Lighting in OpenGL (contd.) </vt:lpstr>
      <vt:lpstr>Color Commands </vt:lpstr>
      <vt:lpstr>Color Commands (contd.)</vt:lpstr>
      <vt:lpstr>Drawing Pixels </vt:lpstr>
      <vt:lpstr>Drawing Lines</vt:lpstr>
      <vt:lpstr>Drawing Lines (contd.)</vt:lpstr>
      <vt:lpstr>Drawing Polygons </vt:lpstr>
      <vt:lpstr>Drawing Polygons (contd.)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Dahal</dc:creator>
  <cp:lastModifiedBy>Suresh Dahal</cp:lastModifiedBy>
  <cp:revision>65</cp:revision>
  <dcterms:created xsi:type="dcterms:W3CDTF">2026-03-23T08:23:27Z</dcterms:created>
  <dcterms:modified xsi:type="dcterms:W3CDTF">2026-03-24T05:28:52Z</dcterms:modified>
</cp:coreProperties>
</file>