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63" r:id="rId5"/>
    <p:sldId id="264" r:id="rId6"/>
    <p:sldId id="268" r:id="rId7"/>
    <p:sldId id="272" r:id="rId8"/>
    <p:sldId id="276" r:id="rId9"/>
    <p:sldId id="280" r:id="rId10"/>
    <p:sldId id="284" r:id="rId11"/>
    <p:sldId id="285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6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8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7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4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8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5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73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8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2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6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4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78C17-905A-4CE9-8B4C-9BFFFAF4A05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38AB2-019D-4B27-AC68-D882B28D2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n-lt"/>
              </a:rPr>
              <a:t>Unit-3</a:t>
            </a:r>
            <a:br>
              <a:rPr lang="en-US" sz="3200" dirty="0" smtClean="0">
                <a:latin typeface="+mn-lt"/>
              </a:rPr>
            </a:br>
            <a:r>
              <a:rPr lang="en-US" sz="3200" dirty="0" smtClean="0">
                <a:latin typeface="+mn-lt"/>
              </a:rPr>
              <a:t>Analysis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993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Unit-3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latin typeface="+mn-lt"/>
              </a:rPr>
              <a:t>Determining system 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92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D48529-4A13-4CE0-A44C-5EF3EE121FDB}" type="slidenum">
              <a:rPr lang="ko-KR" altLang="en-US">
                <a:latin typeface="Arial Black" panose="020B0A04020102020204" pitchFamily="34" charset="0"/>
              </a:rPr>
              <a:pPr eaLnBrk="1" hangingPunct="1"/>
              <a:t>3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5124" name="Date Placeholder 4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4000">
                <a:ea typeface="굴림" charset="-127"/>
              </a:rPr>
              <a:t>Performing Requirements Determination</a:t>
            </a:r>
          </a:p>
        </p:txBody>
      </p:sp>
      <p:pic>
        <p:nvPicPr>
          <p:cNvPr id="5126" name="Picture 3" descr="FIG06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92276"/>
            <a:ext cx="60198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5885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6AF09EA-1ACD-4214-85B9-28393CF8D491}" type="slidenum">
              <a:rPr lang="ko-KR" altLang="en-US">
                <a:latin typeface="Arial Black" panose="020B0A04020102020204" pitchFamily="34" charset="0"/>
              </a:rPr>
              <a:pPr eaLnBrk="1" hangingPunct="1"/>
              <a:t>4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614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>
                <a:latin typeface="+mn-lt"/>
                <a:ea typeface="굴림" charset="-127"/>
              </a:rPr>
              <a:t>The Process of Determining Requirements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ko-KR" sz="2400" dirty="0" smtClean="0">
                <a:ea typeface="굴림" charset="-127"/>
              </a:rPr>
              <a:t>Systems Analyst Characteristics for Successful Requirements Determination 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Impertinence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Impartiality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Relaxing constraints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Attention to details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Reframing</a:t>
            </a:r>
          </a:p>
          <a:p>
            <a:pPr eaLnBrk="1" hangingPunct="1"/>
            <a:endParaRPr lang="ko-KR" altLang="en-US" dirty="0" smtClean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746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63C9B9E-FEC9-42A1-A9A8-2F58B122E82D}" type="slidenum">
              <a:rPr lang="ko-KR" altLang="en-US">
                <a:latin typeface="Arial Black" panose="020B0A04020102020204" pitchFamily="34" charset="0"/>
              </a:rPr>
              <a:pPr eaLnBrk="1" hangingPunct="1"/>
              <a:t>5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717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>
                <a:latin typeface="+mn-lt"/>
                <a:ea typeface="굴림" charset="-127"/>
              </a:rPr>
              <a:t>Deliverables and Outcomes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772400" cy="48006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ko-KR" sz="2400" dirty="0">
                <a:ea typeface="굴림" charset="-127"/>
              </a:rPr>
              <a:t>Deliverables for Requirements Determination: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From interviews and observations - interview transcripts, observation notes, meeting minutes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From existing written documents - mission and strategy statements, business forms, procedure manuals, job descriptions, training manuals, system documentation, flowcharts</a:t>
            </a:r>
          </a:p>
        </p:txBody>
      </p:sp>
    </p:spTree>
    <p:extLst>
      <p:ext uri="{BB962C8B-B14F-4D97-AF65-F5344CB8AC3E}">
        <p14:creationId xmlns:p14="http://schemas.microsoft.com/office/powerpoint/2010/main" val="2327477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A23DEB-9183-447B-AF93-4821595E9543}" type="slidenum">
              <a:rPr lang="ko-KR" altLang="en-US">
                <a:latin typeface="Arial Black" panose="020B0A04020102020204" pitchFamily="34" charset="0"/>
              </a:rPr>
              <a:pPr eaLnBrk="1" hangingPunct="1"/>
              <a:t>6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8196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>
                <a:latin typeface="+mn-lt"/>
                <a:ea typeface="굴림" charset="-127"/>
              </a:rPr>
              <a:t>Deliverables and Outcomes (Cont.)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772400" cy="4800600"/>
          </a:xfrm>
        </p:spPr>
        <p:txBody>
          <a:bodyPr/>
          <a:lstStyle/>
          <a:p>
            <a:pPr lvl="1" algn="just" eaLnBrk="1" hangingPunct="1"/>
            <a:r>
              <a:rPr lang="en-US" altLang="ko-KR" dirty="0" smtClean="0">
                <a:ea typeface="굴림" charset="-127"/>
              </a:rPr>
              <a:t>From computerized sources – Joint Application Design session results, CASE repositories, reports from existing systems, displays and reports from system prototype.</a:t>
            </a:r>
          </a:p>
        </p:txBody>
      </p:sp>
    </p:spTree>
    <p:extLst>
      <p:ext uri="{BB962C8B-B14F-4D97-AF65-F5344CB8AC3E}">
        <p14:creationId xmlns:p14="http://schemas.microsoft.com/office/powerpoint/2010/main" val="1739688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969DD99-41C8-41AD-B1D1-645819223019}" type="slidenum">
              <a:rPr lang="ko-KR" altLang="en-US">
                <a:latin typeface="Arial Black" panose="020B0A04020102020204" pitchFamily="34" charset="0"/>
              </a:rPr>
              <a:pPr eaLnBrk="1" hangingPunct="1"/>
              <a:t>7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922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>
                <a:latin typeface="+mn-lt"/>
                <a:ea typeface="굴림" charset="-127"/>
              </a:rPr>
              <a:t>Traditional Methods for Determining Requirements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altLang="ko-KR" sz="2400" dirty="0">
                <a:ea typeface="굴림" charset="-127"/>
              </a:rPr>
              <a:t>Interviewing individuals</a:t>
            </a:r>
          </a:p>
          <a:p>
            <a:pPr algn="just" eaLnBrk="1" hangingPunct="1"/>
            <a:r>
              <a:rPr lang="en-US" altLang="ko-KR" sz="2400" dirty="0">
                <a:ea typeface="굴림" charset="-127"/>
              </a:rPr>
              <a:t>Interviewing groups</a:t>
            </a:r>
          </a:p>
          <a:p>
            <a:pPr algn="just" eaLnBrk="1" hangingPunct="1"/>
            <a:r>
              <a:rPr lang="en-US" altLang="ko-KR" sz="2400" dirty="0">
                <a:ea typeface="굴림" charset="-127"/>
              </a:rPr>
              <a:t>Observing workers</a:t>
            </a:r>
          </a:p>
          <a:p>
            <a:pPr algn="just" eaLnBrk="1" hangingPunct="1"/>
            <a:r>
              <a:rPr lang="en-US" altLang="ko-KR" sz="2400" dirty="0">
                <a:ea typeface="굴림" charset="-127"/>
              </a:rPr>
              <a:t>Studying business documents</a:t>
            </a:r>
          </a:p>
        </p:txBody>
      </p:sp>
    </p:spTree>
    <p:extLst>
      <p:ext uri="{BB962C8B-B14F-4D97-AF65-F5344CB8AC3E}">
        <p14:creationId xmlns:p14="http://schemas.microsoft.com/office/powerpoint/2010/main" val="547683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201A91B-1401-47D4-AF70-3018B584E1C1}" type="slidenum">
              <a:rPr lang="ko-KR" altLang="en-US">
                <a:latin typeface="Arial Black" panose="020B0A04020102020204" pitchFamily="34" charset="0"/>
              </a:rPr>
              <a:pPr eaLnBrk="1" hangingPunct="1"/>
              <a:t>8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1024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 smtClean="0">
                <a:latin typeface="+mn-lt"/>
                <a:ea typeface="굴림" charset="-127"/>
              </a:rPr>
              <a:t>Interviewing and Listening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229600" cy="4267200"/>
          </a:xfrm>
        </p:spPr>
        <p:txBody>
          <a:bodyPr/>
          <a:lstStyle/>
          <a:p>
            <a:pPr eaLnBrk="1" hangingPunct="1"/>
            <a:r>
              <a:rPr lang="en-US" altLang="ko-KR" sz="2400" dirty="0" smtClean="0">
                <a:ea typeface="굴림" charset="-127"/>
              </a:rPr>
              <a:t>One of the primary ways analysts gather information about an information systems project.</a:t>
            </a:r>
          </a:p>
          <a:p>
            <a:pPr eaLnBrk="1" hangingPunct="1"/>
            <a:r>
              <a:rPr lang="en-US" altLang="ko-KR" sz="2400" b="1" dirty="0" smtClean="0">
                <a:ea typeface="굴림" charset="-127"/>
              </a:rPr>
              <a:t>Interview Guide </a:t>
            </a:r>
            <a:r>
              <a:rPr lang="en-US" altLang="ko-KR" sz="2400" dirty="0" smtClean="0">
                <a:ea typeface="굴림" charset="-127"/>
              </a:rPr>
              <a:t>is a document for developing, planning and conducting an interview</a:t>
            </a:r>
            <a:r>
              <a:rPr lang="en-US" altLang="ko-KR" dirty="0" smtClean="0">
                <a:ea typeface="굴림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3582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CD5829-6A97-4BB1-832E-3C12C9450045}" type="slidenum">
              <a:rPr lang="ko-KR" altLang="en-US">
                <a:latin typeface="Arial Black" panose="020B0A04020102020204" pitchFamily="34" charset="0"/>
              </a:rPr>
              <a:pPr eaLnBrk="1" hangingPunct="1"/>
              <a:t>9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1126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>
                <a:latin typeface="+mn-lt"/>
                <a:ea typeface="굴림" charset="-127"/>
              </a:rPr>
              <a:t>Guidelines for Effective Interviewing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Plan the interview.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ko-KR" dirty="0">
                <a:ea typeface="굴림" charset="-127"/>
              </a:rPr>
              <a:t>Prepare interviewee: appointment, priming questions.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ko-KR" dirty="0">
                <a:ea typeface="굴림" charset="-127"/>
              </a:rPr>
              <a:t>Prepare agenda, checklist, questions.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Listen carefully and take notes (tape record if permitted).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Review notes within 48 hours.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Be neutral.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Seek diverse views.</a:t>
            </a:r>
          </a:p>
        </p:txBody>
      </p:sp>
    </p:spTree>
    <p:extLst>
      <p:ext uri="{BB962C8B-B14F-4D97-AF65-F5344CB8AC3E}">
        <p14:creationId xmlns:p14="http://schemas.microsoft.com/office/powerpoint/2010/main" val="252173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 smtClean="0">
                <a:latin typeface="+mn-lt"/>
                <a:ea typeface="굴림" charset="-127"/>
              </a:rPr>
              <a:t>Choosing Interview Questions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ko-KR" dirty="0" smtClean="0">
                <a:ea typeface="굴림" charset="-127"/>
              </a:rPr>
              <a:t>Each question in an interview guide can include both verbal and non-verbal information.</a:t>
            </a:r>
          </a:p>
          <a:p>
            <a:pPr lvl="1" algn="just" eaLnBrk="1" hangingPunct="1"/>
            <a:r>
              <a:rPr lang="en-US" altLang="ko-KR" b="1" dirty="0" smtClean="0">
                <a:ea typeface="굴림" charset="-127"/>
              </a:rPr>
              <a:t>Open-ended questions</a:t>
            </a:r>
            <a:r>
              <a:rPr lang="en-US" altLang="ko-KR" dirty="0" smtClean="0">
                <a:ea typeface="굴림" charset="-127"/>
              </a:rPr>
              <a:t>: questions that have no </a:t>
            </a:r>
            <a:r>
              <a:rPr lang="en-US" altLang="ko-KR" dirty="0" smtClean="0">
                <a:ea typeface="굴림" charset="-127"/>
              </a:rPr>
              <a:t>pre specified </a:t>
            </a:r>
            <a:r>
              <a:rPr lang="en-US" altLang="ko-KR" dirty="0" smtClean="0">
                <a:ea typeface="굴림" charset="-127"/>
              </a:rPr>
              <a:t>answers.</a:t>
            </a:r>
          </a:p>
          <a:p>
            <a:pPr lvl="1" algn="just" eaLnBrk="1" hangingPunct="1"/>
            <a:r>
              <a:rPr lang="en-US" altLang="ko-KR" b="1" dirty="0" smtClean="0">
                <a:ea typeface="굴림" charset="-127"/>
              </a:rPr>
              <a:t>Closed-ended questions</a:t>
            </a:r>
            <a:r>
              <a:rPr lang="en-US" altLang="ko-KR" dirty="0" smtClean="0">
                <a:ea typeface="굴림" charset="-127"/>
              </a:rPr>
              <a:t>: questions that ask those responding to choose from among a set of specified responses.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151C300-62C8-4B6D-B825-F20627CFA5AC}" type="slidenum">
              <a:rPr lang="ko-KR" altLang="en-US">
                <a:latin typeface="Arial Black" panose="020B0A04020102020204" pitchFamily="34" charset="0"/>
              </a:rPr>
              <a:pPr eaLnBrk="1" hangingPunct="1"/>
              <a:t>10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1331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</p:spTree>
    <p:extLst>
      <p:ext uri="{BB962C8B-B14F-4D97-AF65-F5344CB8AC3E}">
        <p14:creationId xmlns:p14="http://schemas.microsoft.com/office/powerpoint/2010/main" val="221488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© 2008 by Prentice Hall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255951-8EA3-4CC5-8621-84C06E61C0A9}" type="slidenum">
              <a:rPr lang="ko-KR" altLang="en-US">
                <a:latin typeface="Arial Black" panose="020B0A04020102020204" pitchFamily="34" charset="0"/>
              </a:rPr>
              <a:pPr eaLnBrk="1" hangingPunct="1"/>
              <a:t>11</a:t>
            </a:fld>
            <a:endParaRPr lang="en-US" altLang="ko-KR">
              <a:latin typeface="Arial Black" panose="020B0A04020102020204" pitchFamily="34" charset="0"/>
            </a:endParaRPr>
          </a:p>
        </p:txBody>
      </p:sp>
      <p:sp>
        <p:nvSpPr>
          <p:cNvPr id="1434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mtClean="0">
                <a:ea typeface="굴림" charset="-127"/>
              </a:rPr>
              <a:t>Chapter 6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ko-KR" sz="3200" dirty="0">
                <a:latin typeface="+mn-lt"/>
                <a:ea typeface="굴림" charset="-127"/>
              </a:rPr>
              <a:t>Interviewing Groups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ko-KR" sz="2400" dirty="0" smtClean="0">
                <a:ea typeface="굴림" charset="-127"/>
              </a:rPr>
              <a:t>Drawbacks to individual interviews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Contradictions and inconsistencies between interviewees.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Follow-up discussions are time consuming.</a:t>
            </a:r>
          </a:p>
          <a:p>
            <a:pPr lvl="1" algn="just" eaLnBrk="1" hangingPunct="1"/>
            <a:r>
              <a:rPr lang="en-US" altLang="ko-KR" dirty="0" smtClean="0">
                <a:ea typeface="굴림" charset="-127"/>
              </a:rPr>
              <a:t>New interviews may reveal new questions that require additional interviews with those interviewed earlier.</a:t>
            </a:r>
          </a:p>
          <a:p>
            <a:pPr eaLnBrk="1" hangingPunct="1"/>
            <a:endParaRPr lang="ko-KR" altLang="en-US" dirty="0" smtClean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353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06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349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맑은 고딕</vt:lpstr>
      <vt:lpstr>Arial</vt:lpstr>
      <vt:lpstr>Arial Black</vt:lpstr>
      <vt:lpstr>Calibri</vt:lpstr>
      <vt:lpstr>Calibri Light</vt:lpstr>
      <vt:lpstr>굴림</vt:lpstr>
      <vt:lpstr>Office Theme</vt:lpstr>
      <vt:lpstr>Unit-3 Analysis</vt:lpstr>
      <vt:lpstr>Unit-3 Analysis</vt:lpstr>
      <vt:lpstr>Performing Requirements Determination</vt:lpstr>
      <vt:lpstr>The Process of Determining Requirements</vt:lpstr>
      <vt:lpstr>Deliverables and Outcomes</vt:lpstr>
      <vt:lpstr>Deliverables and Outcomes (Cont.)</vt:lpstr>
      <vt:lpstr>Traditional Methods for Determining Requirements</vt:lpstr>
      <vt:lpstr>Interviewing and Listening</vt:lpstr>
      <vt:lpstr>Guidelines for Effective Interviewing</vt:lpstr>
      <vt:lpstr>Choosing Interview Questions</vt:lpstr>
      <vt:lpstr>Interviewing Groups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Analysis</dc:title>
  <dc:creator>Microsoft account</dc:creator>
  <cp:lastModifiedBy>Microsoft account</cp:lastModifiedBy>
  <cp:revision>3</cp:revision>
  <dcterms:created xsi:type="dcterms:W3CDTF">2022-05-31T15:07:02Z</dcterms:created>
  <dcterms:modified xsi:type="dcterms:W3CDTF">2022-05-31T15:17:28Z</dcterms:modified>
</cp:coreProperties>
</file>