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54A59-91A6-4265-B101-768CD401E3ED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06120-B86A-4A41-8829-8F79B74CB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31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8588ED-41D8-42C0-AAFD-CF727B96C2C7}" type="slidenum">
              <a:rPr lang="en-US">
                <a:latin typeface="Tahoma" panose="020B0604030504040204" pitchFamily="34" charset="0"/>
              </a:rPr>
              <a:pPr eaLnBrk="1" hangingPunct="1"/>
              <a:t>25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128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C22E061-C6B3-492D-A380-BFCBC1617A65}" type="slidenum">
              <a:rPr lang="en-US">
                <a:latin typeface="Tahoma" panose="020B0604030504040204" pitchFamily="34" charset="0"/>
              </a:rPr>
              <a:pPr eaLnBrk="1" hangingPunct="1"/>
              <a:t>26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80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51AABA-020E-439A-8928-E6C0FB76B12E}" type="slidenum">
              <a:rPr lang="en-US">
                <a:latin typeface="Tahoma" panose="020B0604030504040204" pitchFamily="34" charset="0"/>
              </a:rPr>
              <a:pPr eaLnBrk="1" hangingPunct="1"/>
              <a:t>28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806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BF9B09-EE29-4C9E-BF7C-880D184FBCD3}" type="slidenum">
              <a:rPr lang="en-US">
                <a:latin typeface="Tahoma" panose="020B0604030504040204" pitchFamily="34" charset="0"/>
              </a:rPr>
              <a:pPr eaLnBrk="1" hangingPunct="1"/>
              <a:t>37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807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4BD186C-49AA-413A-8C53-199B9CA877F9}" type="slidenum">
              <a:rPr lang="en-US">
                <a:latin typeface="Tahoma" panose="020B0604030504040204" pitchFamily="34" charset="0"/>
              </a:rPr>
              <a:pPr eaLnBrk="1" hangingPunct="1"/>
              <a:t>38</a:t>
            </a:fld>
            <a:endParaRPr lang="en-US">
              <a:latin typeface="Tahoma" panose="020B060403050404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351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2ED59-20D0-44C2-89DB-6B8048A462DF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2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081AF-34EE-4564-B92B-24874B62305E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07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B8A64-0EAF-4170-A4AC-DBDC9F88941C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6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DCADB-9C91-44E0-87ED-5F09BC6B48F1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0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2113C-4210-4EB3-ACFE-C947393B4402}" type="datetime1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3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0C961-B81F-4DC5-B99F-782CAF5AD03F}" type="datetime1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18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74C9-5985-4286-A111-CB68598BDABA}" type="datetime1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5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05692-05C6-4DDF-9271-6C2D637F09B6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3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0D695-0A8E-4530-B422-8AFDA08E5CD2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57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46EC5-4CC6-4C1B-8316-D71446CA4763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39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50BE-9E0E-4860-869B-6946837505EF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37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981200"/>
            <a:ext cx="10972800" cy="38862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Prepared by SKM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7C6FA1-ADE9-4302-A116-BC721354B91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17E86-BF00-4318-ACF4-31CEB46E19D5}" type="datetime1">
              <a:rPr lang="en-US" smtClean="0"/>
              <a:t>3/31/2023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9118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78F93-74B8-455B-9E49-9F0FCDE775F2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Prepared by SKM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52AA0-2A8D-4D4C-84FA-7A72F1692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7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5395359-0D3F-4E4F-9380-EFE4FA9B9152}" type="slidenum">
              <a:rPr lang="en-US">
                <a:latin typeface="Arial Black" panose="020B0A04020102020204" pitchFamily="34" charset="0"/>
              </a:rPr>
              <a:pPr eaLnBrk="1" hangingPunct="1"/>
              <a:t>1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5124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1D0F8D-6EA7-4FD6-AF1B-CA283AD2DB18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dirty="0" smtClean="0"/>
              <a:t>Unit-4</a:t>
            </a:r>
            <a:br>
              <a:rPr lang="en-US" dirty="0" smtClean="0"/>
            </a:br>
            <a:r>
              <a:rPr lang="en-US" dirty="0" smtClean="0"/>
              <a:t>Designing Interfaces and Dialogues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8229600" cy="4343400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en-US" dirty="0" smtClean="0"/>
              <a:t>User-focused activity.</a:t>
            </a:r>
          </a:p>
          <a:p>
            <a:pPr algn="just" eaLnBrk="1" hangingPunct="1"/>
            <a:r>
              <a:rPr lang="en-US" dirty="0" smtClean="0"/>
              <a:t>Prototyping methodology of iteratively:</a:t>
            </a:r>
          </a:p>
          <a:p>
            <a:pPr lvl="1" algn="just" eaLnBrk="1" hangingPunct="1"/>
            <a:r>
              <a:rPr lang="en-US" sz="2800" dirty="0" smtClean="0"/>
              <a:t>Collecting information.</a:t>
            </a:r>
          </a:p>
          <a:p>
            <a:pPr lvl="1" algn="just" eaLnBrk="1" hangingPunct="1"/>
            <a:r>
              <a:rPr lang="en-US" sz="2800" dirty="0" smtClean="0"/>
              <a:t>Constructing a prototype.</a:t>
            </a:r>
          </a:p>
          <a:p>
            <a:pPr lvl="1" algn="just" eaLnBrk="1" hangingPunct="1"/>
            <a:r>
              <a:rPr lang="en-US" sz="2800" dirty="0" smtClean="0"/>
              <a:t>Assessing usability.</a:t>
            </a:r>
          </a:p>
          <a:p>
            <a:pPr lvl="1" algn="just" eaLnBrk="1" hangingPunct="1"/>
            <a:r>
              <a:rPr lang="en-US" sz="2800" dirty="0" smtClean="0"/>
              <a:t>Making refinements.</a:t>
            </a:r>
          </a:p>
          <a:p>
            <a:pPr algn="just" eaLnBrk="1" hangingPunct="1"/>
            <a:r>
              <a:rPr lang="en-US" dirty="0" smtClean="0"/>
              <a:t>Answer the who, what, where, and how questions.</a:t>
            </a:r>
          </a:p>
        </p:txBody>
      </p:sp>
    </p:spTree>
    <p:extLst>
      <p:ext uri="{BB962C8B-B14F-4D97-AF65-F5344CB8AC3E}">
        <p14:creationId xmlns:p14="http://schemas.microsoft.com/office/powerpoint/2010/main" val="420566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Designing Interfaces and Dialogues (Cont.)</a:t>
            </a:r>
          </a:p>
        </p:txBody>
      </p:sp>
      <p:sp>
        <p:nvSpPr>
          <p:cNvPr id="6147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614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CBC6119-DAD6-425F-A47A-5AC8E872008E}" type="slidenum">
              <a:rPr lang="en-US">
                <a:latin typeface="Arial Black" panose="020B0A04020102020204" pitchFamily="34" charset="0"/>
              </a:rPr>
              <a:pPr eaLnBrk="1" hangingPunct="1"/>
              <a:t>2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6149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BE3586-9CC9-42AE-BD6A-D56FD7AF5B92}" type="datetime1">
              <a:rPr lang="en-US" smtClean="0"/>
              <a:t>3/31/2023</a:t>
            </a:fld>
            <a:endParaRPr lang="en-US" smtClean="0"/>
          </a:p>
        </p:txBody>
      </p:sp>
      <p:pic>
        <p:nvPicPr>
          <p:cNvPr id="6150" name="Picture 2" descr="FIG12_0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57601" y="1905000"/>
            <a:ext cx="4900613" cy="4286250"/>
          </a:xfrm>
          <a:noFill/>
        </p:spPr>
      </p:pic>
    </p:spTree>
    <p:extLst>
      <p:ext uri="{BB962C8B-B14F-4D97-AF65-F5344CB8AC3E}">
        <p14:creationId xmlns:p14="http://schemas.microsoft.com/office/powerpoint/2010/main" val="203781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Deliverables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Creation of a design specification.</a:t>
            </a:r>
          </a:p>
          <a:p>
            <a:pPr marL="457200" indent="-457200">
              <a:defRPr/>
            </a:pPr>
            <a:r>
              <a:rPr lang="en-US" dirty="0" smtClean="0"/>
              <a:t>A typical interface/dialogue design specification is similar to form design, but includes multiple forms and dialogue sequence specifications.</a:t>
            </a:r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A4AF4AA-BB07-4853-B07E-D9FA983C4FD7}" type="slidenum">
              <a:rPr lang="en-US">
                <a:latin typeface="Arial Black" panose="020B0A04020102020204" pitchFamily="34" charset="0"/>
              </a:rPr>
              <a:pPr eaLnBrk="1" hangingPunct="1"/>
              <a:t>3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7174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3892AE2-65FD-40E7-A65B-9FF6CEB63EFB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7157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Deliverables and Outcomes (Cont.)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specification includes:</a:t>
            </a:r>
          </a:p>
          <a:p>
            <a:pPr lvl="1" eaLnBrk="1" hangingPunct="1"/>
            <a:r>
              <a:rPr lang="en-US" smtClean="0"/>
              <a:t>Narrative overview.</a:t>
            </a:r>
          </a:p>
          <a:p>
            <a:pPr lvl="1" eaLnBrk="1" hangingPunct="1"/>
            <a:r>
              <a:rPr lang="en-US" smtClean="0"/>
              <a:t>Sample design.</a:t>
            </a:r>
          </a:p>
          <a:p>
            <a:pPr lvl="1" eaLnBrk="1" hangingPunct="1"/>
            <a:r>
              <a:rPr lang="en-US" smtClean="0"/>
              <a:t>Testing and usability assessment.</a:t>
            </a:r>
          </a:p>
          <a:p>
            <a:pPr lvl="1" eaLnBrk="1" hangingPunct="1"/>
            <a:r>
              <a:rPr lang="en-US" smtClean="0"/>
              <a:t>Dialogue sequence.</a:t>
            </a:r>
          </a:p>
          <a:p>
            <a:pPr eaLnBrk="1" hangingPunct="1"/>
            <a:r>
              <a:rPr lang="en-US" i="1" smtClean="0"/>
              <a:t>Dialogue sequence</a:t>
            </a:r>
            <a:r>
              <a:rPr lang="en-US" smtClean="0"/>
              <a:t>  is the ways a user can move from one display to another.</a:t>
            </a: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B2A3226-D895-4CAC-8872-16719E3D195D}" type="slidenum">
              <a:rPr lang="en-US">
                <a:latin typeface="Arial Black" panose="020B0A04020102020204" pitchFamily="34" charset="0"/>
              </a:rPr>
              <a:pPr eaLnBrk="1" hangingPunct="1"/>
              <a:t>4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819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1FC6422-9160-405A-A8F7-F71489AF3A36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0142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08F01D-B26A-42FF-91C6-358B1788132B}" type="slidenum">
              <a:rPr lang="en-US">
                <a:latin typeface="Arial Black" panose="020B0A04020102020204" pitchFamily="34" charset="0"/>
              </a:rPr>
              <a:pPr eaLnBrk="1" hangingPunct="1"/>
              <a:t>5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9220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C7CD8E1-11FE-4377-8A7E-677EF539B3B9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Interaction Methods and Devices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smtClean="0"/>
              <a:t>Interface</a:t>
            </a:r>
            <a:r>
              <a:rPr lang="en-US" smtClean="0"/>
              <a:t>: a method by which users interact with an information system.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All human-computer interfaces must: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 have an interaction style; and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use some hardware device(s) for supporting this interaction.</a:t>
            </a:r>
          </a:p>
        </p:txBody>
      </p:sp>
    </p:spTree>
    <p:extLst>
      <p:ext uri="{BB962C8B-B14F-4D97-AF65-F5344CB8AC3E}">
        <p14:creationId xmlns:p14="http://schemas.microsoft.com/office/powerpoint/2010/main" val="123031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81C71FB-67D6-4249-837C-E4864FCACACA}" type="slidenum">
              <a:rPr lang="en-US">
                <a:latin typeface="Arial Black" panose="020B0A04020102020204" pitchFamily="34" charset="0"/>
              </a:rPr>
              <a:pPr eaLnBrk="1" hangingPunct="1"/>
              <a:t>6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0244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706CE8-FE08-4620-8096-9FBEF964C8AD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Methods of Interacting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2133600"/>
            <a:ext cx="83820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Command line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Includes keyboard shortcuts and function keys.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Menu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Form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Object-based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Natural language</a:t>
            </a:r>
          </a:p>
        </p:txBody>
      </p:sp>
    </p:spTree>
    <p:extLst>
      <p:ext uri="{BB962C8B-B14F-4D97-AF65-F5344CB8AC3E}">
        <p14:creationId xmlns:p14="http://schemas.microsoft.com/office/powerpoint/2010/main" val="418326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C00B92-8B27-4C9D-A7A5-E7E4F62B1551}" type="slidenum">
              <a:rPr lang="en-US">
                <a:latin typeface="Arial Black" panose="020B0A04020102020204" pitchFamily="34" charset="0"/>
              </a:rPr>
              <a:pPr eaLnBrk="1" hangingPunct="1"/>
              <a:t>7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126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BD4D021-550A-41D3-B58A-7090D519EC80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Command Language Interaction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981200"/>
            <a:ext cx="84582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smtClean="0"/>
              <a:t>Command language interaction:</a:t>
            </a:r>
            <a:r>
              <a:rPr lang="en-US" smtClean="0"/>
              <a:t> a human-computer interaction method whereby users enter explicit statements into a system to invoke operations.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Example from MS DOS: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COPY C:PAPER.DOC A:PAPER.DOC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This copies a file from C: drive to A: drive.</a:t>
            </a:r>
          </a:p>
        </p:txBody>
      </p:sp>
    </p:spTree>
    <p:extLst>
      <p:ext uri="{BB962C8B-B14F-4D97-AF65-F5344CB8AC3E}">
        <p14:creationId xmlns:p14="http://schemas.microsoft.com/office/powerpoint/2010/main" val="7159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CBCD75-0974-451E-A4AC-21B9B043E52C}" type="slidenum">
              <a:rPr lang="en-US">
                <a:latin typeface="Arial Black" panose="020B0A04020102020204" pitchFamily="34" charset="0"/>
              </a:rPr>
              <a:pPr eaLnBrk="1" hangingPunct="1"/>
              <a:t>8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2292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9B9B142-32CE-43F8-B7D4-5B25D7D70959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Menu Interaction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84582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smtClean="0"/>
              <a:t>Menu interaction</a:t>
            </a:r>
            <a:r>
              <a:rPr lang="en-US" smtClean="0"/>
              <a:t>: a human-computer interaction method in which a list of system options is provided and a specific command is invoked by user selection of a menu option.</a:t>
            </a:r>
          </a:p>
          <a:p>
            <a:pPr eaLnBrk="1" hangingPunct="1">
              <a:lnSpc>
                <a:spcPct val="90000"/>
              </a:lnSpc>
            </a:pPr>
            <a:r>
              <a:rPr lang="en-US" b="1" smtClean="0"/>
              <a:t>Pop-up menu</a:t>
            </a:r>
            <a:r>
              <a:rPr lang="en-US" smtClean="0"/>
              <a:t>: a menu-positioning method that places a menu near the current cursor position.</a:t>
            </a:r>
          </a:p>
        </p:txBody>
      </p:sp>
    </p:spTree>
    <p:extLst>
      <p:ext uri="{BB962C8B-B14F-4D97-AF65-F5344CB8AC3E}">
        <p14:creationId xmlns:p14="http://schemas.microsoft.com/office/powerpoint/2010/main" val="1857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Menu Interaction (Cont.)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Drop-down menu</a:t>
            </a:r>
            <a:r>
              <a:rPr lang="en-US" smtClean="0"/>
              <a:t>: a menu-positioning method that places the access point of the menu near the top line of the display:</a:t>
            </a:r>
          </a:p>
          <a:p>
            <a:pPr lvl="1" eaLnBrk="1" hangingPunct="1"/>
            <a:r>
              <a:rPr lang="en-US" smtClean="0"/>
              <a:t>When accessed, menus open by dropping down onto the display.</a:t>
            </a:r>
          </a:p>
          <a:p>
            <a:pPr lvl="1" eaLnBrk="1" hangingPunct="1"/>
            <a:r>
              <a:rPr lang="en-US" smtClean="0"/>
              <a:t>Visual editing tools help designers construct menus.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9FC5444-7DD5-4626-942E-F08A96950842}" type="slidenum">
              <a:rPr lang="en-US">
                <a:latin typeface="Arial Black" panose="020B0A04020102020204" pitchFamily="34" charset="0"/>
              </a:rPr>
              <a:pPr eaLnBrk="1" hangingPunct="1"/>
              <a:t>9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331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76CC0F-1349-45C7-A8E0-342FAEFF1FBA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4259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Menu Interaction (Cont.)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8229600" cy="4495800"/>
          </a:xfrm>
        </p:spPr>
        <p:txBody>
          <a:bodyPr/>
          <a:lstStyle/>
          <a:p>
            <a:pPr eaLnBrk="1" hangingPunct="1"/>
            <a:r>
              <a:rPr lang="en-US" smtClean="0"/>
              <a:t>Guidelines for Menu Design</a:t>
            </a:r>
          </a:p>
          <a:p>
            <a:pPr lvl="1" eaLnBrk="1" hangingPunct="1"/>
            <a:r>
              <a:rPr lang="en-US" b="1" smtClean="0"/>
              <a:t>Wording: </a:t>
            </a:r>
            <a:r>
              <a:rPr lang="en-US" smtClean="0"/>
              <a:t>meaningful titles, clear command verbs, mixed upper/lower case.</a:t>
            </a:r>
          </a:p>
          <a:p>
            <a:pPr lvl="1" eaLnBrk="1" hangingPunct="1"/>
            <a:r>
              <a:rPr lang="en-US" b="1" smtClean="0"/>
              <a:t>Organization: </a:t>
            </a:r>
            <a:r>
              <a:rPr lang="en-US" smtClean="0"/>
              <a:t>consistent organizing principle.</a:t>
            </a:r>
          </a:p>
          <a:p>
            <a:pPr lvl="1" eaLnBrk="1" hangingPunct="1"/>
            <a:r>
              <a:rPr lang="en-US" b="1" smtClean="0"/>
              <a:t>Length</a:t>
            </a:r>
            <a:r>
              <a:rPr lang="en-US" smtClean="0"/>
              <a:t>: all choices fit within screen length.</a:t>
            </a:r>
          </a:p>
          <a:p>
            <a:pPr lvl="1" eaLnBrk="1" hangingPunct="1"/>
            <a:r>
              <a:rPr lang="en-US" b="1" smtClean="0"/>
              <a:t>Selection</a:t>
            </a:r>
            <a:r>
              <a:rPr lang="en-US" smtClean="0"/>
              <a:t>: consistent, clear and easy selection methods.</a:t>
            </a:r>
          </a:p>
          <a:p>
            <a:pPr lvl="1" eaLnBrk="1" hangingPunct="1"/>
            <a:r>
              <a:rPr lang="en-US" b="1" smtClean="0"/>
              <a:t>Highlighting: </a:t>
            </a:r>
            <a:r>
              <a:rPr lang="en-US" smtClean="0"/>
              <a:t>only for selected options or unavailable options.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D369656-29E7-4E7D-8E63-F7E7C8AD8364}" type="slidenum">
              <a:rPr lang="en-US">
                <a:latin typeface="Arial Black" panose="020B0A04020102020204" pitchFamily="34" charset="0"/>
              </a:rPr>
              <a:pPr eaLnBrk="1" hangingPunct="1"/>
              <a:t>10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4342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298F49A-A32D-4F56-A0BB-176AAE589383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687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Menu Interaction (Cont.)</a:t>
            </a:r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DA56FE5-2B77-4841-8E31-050F22FAFEE4}" type="slidenum">
              <a:rPr lang="en-US">
                <a:latin typeface="Arial Black" panose="020B0A04020102020204" pitchFamily="34" charset="0"/>
              </a:rPr>
              <a:pPr eaLnBrk="1" hangingPunct="1"/>
              <a:t>11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5365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BCAA8BE-BBB3-468B-B690-CAA87A4BE346}" type="datetime1">
              <a:rPr lang="en-US" smtClean="0"/>
              <a:t>3/31/2023</a:t>
            </a:fld>
            <a:endParaRPr lang="en-US" smtClean="0"/>
          </a:p>
        </p:txBody>
      </p:sp>
      <p:pic>
        <p:nvPicPr>
          <p:cNvPr id="15366" name="Picture 2" descr="FIG12_0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2801" y="1676400"/>
            <a:ext cx="5402263" cy="4572000"/>
          </a:xfrm>
          <a:noFill/>
        </p:spPr>
      </p:pic>
    </p:spTree>
    <p:extLst>
      <p:ext uri="{BB962C8B-B14F-4D97-AF65-F5344CB8AC3E}">
        <p14:creationId xmlns:p14="http://schemas.microsoft.com/office/powerpoint/2010/main" val="427155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6DCF8CD-5AC4-4CA7-8DDE-98E3BBE6FD07}" type="slidenum">
              <a:rPr lang="en-US">
                <a:latin typeface="Arial Black" panose="020B0A04020102020204" pitchFamily="34" charset="0"/>
              </a:rPr>
              <a:pPr eaLnBrk="1" hangingPunct="1"/>
              <a:t>12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638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06C1DD-3F5A-4D8D-BE4C-24CCD6E52056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Form Interaction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Form interaction</a:t>
            </a:r>
            <a:r>
              <a:rPr lang="en-US" smtClean="0"/>
              <a:t>: a highly intuitive human-computer interaction method whereby data fields are formatted in a manner similar to paper-based forms.</a:t>
            </a:r>
          </a:p>
          <a:p>
            <a:pPr eaLnBrk="1" hangingPunct="1"/>
            <a:r>
              <a:rPr lang="en-US" smtClean="0"/>
              <a:t>Allows users to fill in the blanks when working with a system.</a:t>
            </a:r>
          </a:p>
        </p:txBody>
      </p:sp>
    </p:spTree>
    <p:extLst>
      <p:ext uri="{BB962C8B-B14F-4D97-AF65-F5344CB8AC3E}">
        <p14:creationId xmlns:p14="http://schemas.microsoft.com/office/powerpoint/2010/main" val="176509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Form Interaction (Cont.)</a:t>
            </a:r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F4B0D9-FAEA-43D1-8CFC-67F92E5D9DF8}" type="slidenum">
              <a:rPr lang="en-US">
                <a:latin typeface="Arial Black" panose="020B0A04020102020204" pitchFamily="34" charset="0"/>
              </a:rPr>
              <a:pPr eaLnBrk="1" hangingPunct="1"/>
              <a:t>13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7413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B79998-C1FB-4EB3-AD19-937BE180F1C7}" type="datetime1">
              <a:rPr lang="en-US" smtClean="0"/>
              <a:t>3/31/2023</a:t>
            </a:fld>
            <a:endParaRPr lang="en-US" smtClean="0"/>
          </a:p>
        </p:txBody>
      </p:sp>
      <p:pic>
        <p:nvPicPr>
          <p:cNvPr id="17414" name="Picture 2" descr="FIG12_0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24201" y="1676400"/>
            <a:ext cx="5707063" cy="4572000"/>
          </a:xfrm>
          <a:noFill/>
        </p:spPr>
      </p:pic>
    </p:spTree>
    <p:extLst>
      <p:ext uri="{BB962C8B-B14F-4D97-AF65-F5344CB8AC3E}">
        <p14:creationId xmlns:p14="http://schemas.microsoft.com/office/powerpoint/2010/main" val="6571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C6CD991-8C7D-4674-B3E8-EBC1233C05CF}" type="slidenum">
              <a:rPr lang="en-US">
                <a:latin typeface="Arial Black" panose="020B0A04020102020204" pitchFamily="34" charset="0"/>
              </a:rPr>
              <a:pPr eaLnBrk="1" hangingPunct="1"/>
              <a:t>14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8436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B921241-00A7-4A17-8F91-0EDE794622AF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Object-Based Interaction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8229600" cy="4038600"/>
          </a:xfrm>
        </p:spPr>
        <p:txBody>
          <a:bodyPr/>
          <a:lstStyle/>
          <a:p>
            <a:pPr eaLnBrk="1" hangingPunct="1"/>
            <a:r>
              <a:rPr lang="en-US" b="1" smtClean="0"/>
              <a:t>Object-based interaction</a:t>
            </a:r>
            <a:r>
              <a:rPr lang="en-US" smtClean="0"/>
              <a:t>: a human-computer interaction method in which symbols are used to represent commands or functions.</a:t>
            </a:r>
          </a:p>
          <a:p>
            <a:pPr eaLnBrk="1" hangingPunct="1"/>
            <a:r>
              <a:rPr lang="en-US" b="1" smtClean="0"/>
              <a:t>Icons</a:t>
            </a:r>
            <a:r>
              <a:rPr lang="en-US" smtClean="0"/>
              <a:t>: graphical pictures that represent specific functions within a system.</a:t>
            </a:r>
          </a:p>
          <a:p>
            <a:pPr lvl="1" eaLnBrk="1" hangingPunct="1"/>
            <a:r>
              <a:rPr lang="en-US" smtClean="0"/>
              <a:t>Use little screen space and are easily understood by users.</a:t>
            </a:r>
          </a:p>
        </p:txBody>
      </p:sp>
    </p:spTree>
    <p:extLst>
      <p:ext uri="{BB962C8B-B14F-4D97-AF65-F5344CB8AC3E}">
        <p14:creationId xmlns:p14="http://schemas.microsoft.com/office/powerpoint/2010/main" val="191786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mtClean="0"/>
              <a:t>Object-Based Interaction (Cont.)</a:t>
            </a:r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1946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F3B0ED6-F9EB-40A0-89BF-0088CC82A631}" type="slidenum">
              <a:rPr lang="en-US">
                <a:latin typeface="Arial Black" panose="020B0A04020102020204" pitchFamily="34" charset="0"/>
              </a:rPr>
              <a:pPr eaLnBrk="1" hangingPunct="1"/>
              <a:t>15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19461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DA15741-542F-4F39-929C-F5894003A6CF}" type="datetime1">
              <a:rPr lang="en-US" smtClean="0"/>
              <a:t>3/31/2023</a:t>
            </a:fld>
            <a:endParaRPr lang="en-US" smtClean="0"/>
          </a:p>
        </p:txBody>
      </p:sp>
      <p:pic>
        <p:nvPicPr>
          <p:cNvPr id="19462" name="Picture 2" descr="FIG12_1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0401" y="1600200"/>
            <a:ext cx="5707063" cy="4572000"/>
          </a:xfrm>
          <a:noFill/>
        </p:spPr>
      </p:pic>
    </p:spTree>
    <p:extLst>
      <p:ext uri="{BB962C8B-B14F-4D97-AF65-F5344CB8AC3E}">
        <p14:creationId xmlns:p14="http://schemas.microsoft.com/office/powerpoint/2010/main" val="152051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9A620E9-E56A-4268-88D1-9D0899ED5C08}" type="slidenum">
              <a:rPr lang="en-US">
                <a:latin typeface="Arial Black" panose="020B0A04020102020204" pitchFamily="34" charset="0"/>
              </a:rPr>
              <a:pPr eaLnBrk="1" hangingPunct="1"/>
              <a:t>16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0484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43B075-9444-4DDF-8F9D-ACBC4995BF44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Natural Language Interaction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0"/>
            <a:ext cx="82296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smtClean="0"/>
              <a:t>Natural language interaction</a:t>
            </a:r>
            <a:r>
              <a:rPr lang="en-US" smtClean="0"/>
              <a:t>: a human-computer interaction method whereby inputs to and outputs from a computer-based application are in a conventional spoken language such as English.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Based on research in artificial intelligence.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Current implementations are tedious and difficult to work with, not as viable as other interaction methods.</a:t>
            </a:r>
          </a:p>
        </p:txBody>
      </p:sp>
    </p:spTree>
    <p:extLst>
      <p:ext uri="{BB962C8B-B14F-4D97-AF65-F5344CB8AC3E}">
        <p14:creationId xmlns:p14="http://schemas.microsoft.com/office/powerpoint/2010/main" val="239886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150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19ED8FD-9BCB-4E4E-BB75-6F199C843EAF}" type="slidenum">
              <a:rPr lang="en-US">
                <a:latin typeface="Arial Black" panose="020B0A04020102020204" pitchFamily="34" charset="0"/>
              </a:rPr>
              <a:pPr eaLnBrk="1" hangingPunct="1"/>
              <a:t>17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1508" name="Date Placeholder 6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86541E2-CFB1-4D70-AA8B-FFD387B7CA7F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Usability Problems with Hardware Devices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905000"/>
            <a:ext cx="4038600" cy="4114800"/>
          </a:xfrm>
        </p:spPr>
        <p:txBody>
          <a:bodyPr/>
          <a:lstStyle/>
          <a:p>
            <a:pPr eaLnBrk="1" hangingPunct="1"/>
            <a:r>
              <a:rPr lang="en-US" sz="2400"/>
              <a:t>Visual Blocking</a:t>
            </a:r>
          </a:p>
          <a:p>
            <a:pPr lvl="1" eaLnBrk="1" hangingPunct="1"/>
            <a:r>
              <a:rPr lang="en-US" sz="2000"/>
              <a:t>touch screen, light pen</a:t>
            </a:r>
          </a:p>
          <a:p>
            <a:pPr eaLnBrk="1" hangingPunct="1"/>
            <a:r>
              <a:rPr lang="en-US" sz="2400"/>
              <a:t>User Fatigue</a:t>
            </a:r>
          </a:p>
          <a:p>
            <a:pPr lvl="1" eaLnBrk="1" hangingPunct="1"/>
            <a:r>
              <a:rPr lang="en-US" sz="2000"/>
              <a:t>touch screen, light pen</a:t>
            </a:r>
          </a:p>
          <a:p>
            <a:pPr eaLnBrk="1" hangingPunct="1"/>
            <a:r>
              <a:rPr lang="en-US" sz="2400"/>
              <a:t>Movement Scaling</a:t>
            </a:r>
          </a:p>
          <a:p>
            <a:pPr lvl="1" eaLnBrk="1" hangingPunct="1"/>
            <a:r>
              <a:rPr lang="en-US" sz="2000"/>
              <a:t>keyboard, mouse, joystick, trackball, graphics tablet, voice</a:t>
            </a:r>
          </a:p>
          <a:p>
            <a:pPr eaLnBrk="1" hangingPunct="1"/>
            <a:r>
              <a:rPr lang="en-US" sz="2400"/>
              <a:t>Durability</a:t>
            </a:r>
          </a:p>
          <a:p>
            <a:pPr lvl="1" eaLnBrk="1" hangingPunct="1"/>
            <a:r>
              <a:rPr lang="en-US" sz="2000"/>
              <a:t>trackball, touch screen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/>
          </a:p>
        </p:txBody>
      </p:sp>
      <p:sp>
        <p:nvSpPr>
          <p:cNvPr id="21511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176964" y="1981200"/>
            <a:ext cx="4033837" cy="3886200"/>
          </a:xfrm>
        </p:spPr>
        <p:txBody>
          <a:bodyPr/>
          <a:lstStyle/>
          <a:p>
            <a:pPr eaLnBrk="1" hangingPunct="1"/>
            <a:r>
              <a:rPr lang="en-US" sz="2400"/>
              <a:t>Adequate Feedback</a:t>
            </a:r>
          </a:p>
          <a:p>
            <a:pPr lvl="1" eaLnBrk="1" hangingPunct="1"/>
            <a:r>
              <a:rPr lang="en-US" sz="2000"/>
              <a:t>keyboard, mouse, joystick, trackball, graphics tablet, voice</a:t>
            </a:r>
          </a:p>
          <a:p>
            <a:pPr eaLnBrk="1" hangingPunct="1"/>
            <a:r>
              <a:rPr lang="en-US" sz="2400"/>
              <a:t>Speed</a:t>
            </a:r>
          </a:p>
          <a:p>
            <a:pPr lvl="1" eaLnBrk="1" hangingPunct="1"/>
            <a:r>
              <a:rPr lang="en-US" sz="2000"/>
              <a:t>keyboard</a:t>
            </a:r>
          </a:p>
          <a:p>
            <a:pPr eaLnBrk="1" hangingPunct="1"/>
            <a:r>
              <a:rPr lang="en-US" sz="2400"/>
              <a:t>Pointing Accuracy</a:t>
            </a:r>
          </a:p>
          <a:p>
            <a:pPr lvl="1" eaLnBrk="1" hangingPunct="1"/>
            <a:r>
              <a:rPr lang="en-US" sz="2000"/>
              <a:t>joystick, touch screen, light pen, voice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67092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Natural Language Interaction (Cont.)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3886200"/>
          </a:xfrm>
        </p:spPr>
        <p:txBody>
          <a:bodyPr/>
          <a:lstStyle/>
          <a:p>
            <a:pPr eaLnBrk="1" hangingPunct="1"/>
            <a:r>
              <a:rPr lang="en-US" smtClean="0"/>
              <a:t>Usability problems with hardware devices:</a:t>
            </a:r>
          </a:p>
          <a:p>
            <a:pPr eaLnBrk="1" hangingPunct="1"/>
            <a:r>
              <a:rPr lang="en-US" smtClean="0"/>
              <a:t>Visual Blocking</a:t>
            </a:r>
          </a:p>
          <a:p>
            <a:pPr lvl="1" eaLnBrk="1" hangingPunct="1"/>
            <a:r>
              <a:rPr lang="en-US" smtClean="0"/>
              <a:t>touch screen, light pen.</a:t>
            </a:r>
          </a:p>
          <a:p>
            <a:pPr eaLnBrk="1" hangingPunct="1"/>
            <a:r>
              <a:rPr lang="en-US" smtClean="0"/>
              <a:t>User Fatigue</a:t>
            </a:r>
          </a:p>
          <a:p>
            <a:pPr lvl="1" eaLnBrk="1" hangingPunct="1"/>
            <a:r>
              <a:rPr lang="en-US" smtClean="0"/>
              <a:t>touch screen, light pen.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932CB2-9591-4151-BC12-DFDF56BF1862}" type="slidenum">
              <a:rPr lang="en-US">
                <a:latin typeface="Arial Black" panose="020B0A04020102020204" pitchFamily="34" charset="0"/>
              </a:rPr>
              <a:pPr eaLnBrk="1" hangingPunct="1"/>
              <a:t>18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2534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FD87238-B30B-49FF-B050-B7A969CC8B05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8406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Natural Language Interaction (Cont.)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3886200"/>
          </a:xfrm>
        </p:spPr>
        <p:txBody>
          <a:bodyPr/>
          <a:lstStyle/>
          <a:p>
            <a:pPr eaLnBrk="1" hangingPunct="1"/>
            <a:r>
              <a:rPr lang="en-US" smtClean="0"/>
              <a:t>Movement Scaling</a:t>
            </a:r>
          </a:p>
          <a:p>
            <a:pPr lvl="1" eaLnBrk="1" hangingPunct="1"/>
            <a:r>
              <a:rPr lang="en-US" smtClean="0"/>
              <a:t>keyboard, mouse, joystick, trackball, graphics tablet, voice.</a:t>
            </a:r>
          </a:p>
          <a:p>
            <a:pPr eaLnBrk="1" hangingPunct="1"/>
            <a:r>
              <a:rPr lang="en-US" smtClean="0"/>
              <a:t>Durability</a:t>
            </a:r>
          </a:p>
          <a:p>
            <a:pPr lvl="1" eaLnBrk="1" hangingPunct="1"/>
            <a:r>
              <a:rPr lang="en-US" smtClean="0"/>
              <a:t>trackball, touch screen.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ACFE532-E0AB-42F5-AEE0-FD7B1DF81BCE}" type="slidenum">
              <a:rPr lang="en-US">
                <a:latin typeface="Arial Black" panose="020B0A04020102020204" pitchFamily="34" charset="0"/>
              </a:rPr>
              <a:pPr eaLnBrk="1" hangingPunct="1"/>
              <a:t>19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355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1B66C3F-9DAA-4089-B7CF-1D1576858F9F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38987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Natural Language Interaction (Cont.)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3886200"/>
          </a:xfrm>
        </p:spPr>
        <p:txBody>
          <a:bodyPr/>
          <a:lstStyle/>
          <a:p>
            <a:pPr eaLnBrk="1" hangingPunct="1"/>
            <a:r>
              <a:rPr lang="en-US" smtClean="0"/>
              <a:t>Adequate Feedback</a:t>
            </a:r>
          </a:p>
          <a:p>
            <a:pPr lvl="1" eaLnBrk="1" hangingPunct="1"/>
            <a:r>
              <a:rPr lang="en-US" smtClean="0"/>
              <a:t>keyboard, mouse, joystick, trackball, graphics tablet, voice.</a:t>
            </a:r>
          </a:p>
          <a:p>
            <a:pPr eaLnBrk="1" hangingPunct="1"/>
            <a:r>
              <a:rPr lang="en-US" smtClean="0"/>
              <a:t>Speed</a:t>
            </a:r>
          </a:p>
          <a:p>
            <a:pPr lvl="1" eaLnBrk="1" hangingPunct="1"/>
            <a:r>
              <a:rPr lang="en-US" smtClean="0"/>
              <a:t>Keyboard.</a:t>
            </a:r>
          </a:p>
          <a:p>
            <a:pPr eaLnBrk="1" hangingPunct="1"/>
            <a:r>
              <a:rPr lang="en-US" smtClean="0"/>
              <a:t>Pointing Accuracy</a:t>
            </a:r>
          </a:p>
          <a:p>
            <a:pPr lvl="1" eaLnBrk="1" hangingPunct="1"/>
            <a:r>
              <a:rPr lang="en-US" smtClean="0"/>
              <a:t>joystick, touch screen, light pen, voice.</a:t>
            </a: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4AD46CF-4855-43A8-BD94-4DC643D7F479}" type="slidenum">
              <a:rPr lang="en-US">
                <a:latin typeface="Arial Black" panose="020B0A04020102020204" pitchFamily="34" charset="0"/>
              </a:rPr>
              <a:pPr eaLnBrk="1" hangingPunct="1"/>
              <a:t>20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4582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2261B0-12E1-40C1-AA2B-E1B8C55D1653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5754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Natural Language Interaction (Cont.)</a:t>
            </a:r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2BEFA95-99E1-434F-AC4D-355B8CA4173F}" type="slidenum">
              <a:rPr lang="en-US">
                <a:latin typeface="Arial Black" panose="020B0A04020102020204" pitchFamily="34" charset="0"/>
              </a:rPr>
              <a:pPr eaLnBrk="1" hangingPunct="1"/>
              <a:t>21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5605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60992FB-73F2-4E4D-B261-D730DAEFF52B}" type="datetime1">
              <a:rPr lang="en-US" smtClean="0"/>
              <a:t>3/31/2023</a:t>
            </a:fld>
            <a:endParaRPr lang="en-US" smtClean="0"/>
          </a:p>
        </p:txBody>
      </p:sp>
      <p:pic>
        <p:nvPicPr>
          <p:cNvPr id="25606" name="Picture 2" descr="TBL12_0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1600200"/>
            <a:ext cx="6477000" cy="4719638"/>
          </a:xfrm>
          <a:noFill/>
        </p:spPr>
      </p:pic>
    </p:spTree>
    <p:extLst>
      <p:ext uri="{BB962C8B-B14F-4D97-AF65-F5344CB8AC3E}">
        <p14:creationId xmlns:p14="http://schemas.microsoft.com/office/powerpoint/2010/main" val="359038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BBAC60B-55A3-4983-89C6-97005183904F}" type="slidenum">
              <a:rPr lang="en-US">
                <a:latin typeface="Arial Black" panose="020B0A04020102020204" pitchFamily="34" charset="0"/>
              </a:rPr>
              <a:pPr eaLnBrk="1" hangingPunct="1"/>
              <a:t>22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662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D397426-8D18-48D9-86D0-23AB89C9C760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Designing Interfaces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Forms has several general areas common  to most forms:</a:t>
            </a:r>
          </a:p>
          <a:p>
            <a:pPr lvl="1" eaLnBrk="1" hangingPunct="1"/>
            <a:r>
              <a:rPr lang="en-US" smtClean="0"/>
              <a:t>Header information.</a:t>
            </a:r>
          </a:p>
          <a:p>
            <a:pPr lvl="1" eaLnBrk="1" hangingPunct="1"/>
            <a:r>
              <a:rPr lang="en-US" smtClean="0"/>
              <a:t>Sequence and time-related information.</a:t>
            </a:r>
          </a:p>
          <a:p>
            <a:pPr lvl="1" eaLnBrk="1" hangingPunct="1"/>
            <a:r>
              <a:rPr lang="en-US" smtClean="0"/>
              <a:t>Instruction or formatting information.</a:t>
            </a:r>
          </a:p>
          <a:p>
            <a:pPr lvl="1" eaLnBrk="1" hangingPunct="1"/>
            <a:r>
              <a:rPr lang="en-US" smtClean="0"/>
              <a:t>Body or data details.</a:t>
            </a:r>
          </a:p>
        </p:txBody>
      </p:sp>
    </p:spTree>
    <p:extLst>
      <p:ext uri="{BB962C8B-B14F-4D97-AF65-F5344CB8AC3E}">
        <p14:creationId xmlns:p14="http://schemas.microsoft.com/office/powerpoint/2010/main" val="106596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765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677040-087F-4788-88A7-6FD3CC1BC15B}" type="slidenum">
              <a:rPr lang="en-US">
                <a:latin typeface="Arial Black" panose="020B0A04020102020204" pitchFamily="34" charset="0"/>
              </a:rPr>
              <a:pPr eaLnBrk="1" hangingPunct="1"/>
              <a:t>23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7652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0F59184-BDD0-4D1F-B935-846E0A028869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Designing Interfaces (Cont.)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dirty="0" smtClean="0"/>
              <a:t>Totals or data summary.</a:t>
            </a:r>
          </a:p>
          <a:p>
            <a:pPr lvl="1" eaLnBrk="1" hangingPunct="1"/>
            <a:r>
              <a:rPr lang="en-US" dirty="0" smtClean="0"/>
              <a:t>Authorization or signatures.</a:t>
            </a:r>
          </a:p>
          <a:p>
            <a:pPr lvl="1" eaLnBrk="1" hangingPunct="1"/>
            <a:r>
              <a:rPr lang="en-US" dirty="0" smtClean="0"/>
              <a:t>Comments.</a:t>
            </a:r>
          </a:p>
          <a:p>
            <a:pPr eaLnBrk="1" hangingPunct="1"/>
            <a:r>
              <a:rPr lang="en-US" smtClean="0"/>
              <a:t>Use standard formats similar to paper-based forms and reports.</a:t>
            </a:r>
          </a:p>
          <a:p>
            <a:pPr eaLnBrk="1" hangingPunct="1"/>
            <a:r>
              <a:rPr lang="en-US" dirty="0" smtClean="0"/>
              <a:t>Left-to-right, top-to-bottom navigation.</a:t>
            </a:r>
          </a:p>
        </p:txBody>
      </p:sp>
    </p:spTree>
    <p:extLst>
      <p:ext uri="{BB962C8B-B14F-4D97-AF65-F5344CB8AC3E}">
        <p14:creationId xmlns:p14="http://schemas.microsoft.com/office/powerpoint/2010/main" val="273308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697A42-938C-428C-8308-239D88EDD59D}" type="slidenum">
              <a:rPr lang="en-US">
                <a:latin typeface="Arial Black" panose="020B0A04020102020204" pitchFamily="34" charset="0"/>
              </a:rPr>
              <a:pPr eaLnBrk="1" hangingPunct="1"/>
              <a:t>24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8676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CA1730E-471A-4840-972A-A6941EDF02D1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Designing Interfaces (Cont.)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Flexibility and consistency:</a:t>
            </a:r>
          </a:p>
          <a:p>
            <a:pPr lvl="1" eaLnBrk="1" hangingPunct="1"/>
            <a:r>
              <a:rPr lang="en-US" smtClean="0"/>
              <a:t>Free movement between fields.</a:t>
            </a:r>
          </a:p>
          <a:p>
            <a:pPr lvl="1" eaLnBrk="1" hangingPunct="1"/>
            <a:r>
              <a:rPr lang="en-US" smtClean="0"/>
              <a:t>No permanent data storage until the user requests.</a:t>
            </a:r>
          </a:p>
          <a:p>
            <a:pPr lvl="1" eaLnBrk="1" hangingPunct="1"/>
            <a:r>
              <a:rPr lang="en-US" smtClean="0"/>
              <a:t>Each key and command assigned to one function.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8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61CE9A-D6F1-4A6F-A9F3-FEDC5878EC0D}" type="slidenum">
              <a:rPr lang="en-US">
                <a:latin typeface="Arial Black" panose="020B0A04020102020204" pitchFamily="34" charset="0"/>
              </a:rPr>
              <a:pPr eaLnBrk="1" hangingPunct="1"/>
              <a:t>25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29700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C5EFC44-8AD8-43CB-AEBE-19528E47D953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Structuring Data Entry</a:t>
            </a:r>
          </a:p>
        </p:txBody>
      </p:sp>
      <p:graphicFrame>
        <p:nvGraphicFramePr>
          <p:cNvPr id="316419" name="Group 3"/>
          <p:cNvGraphicFramePr>
            <a:graphicFrameLocks noGrp="1"/>
          </p:cNvGraphicFramePr>
          <p:nvPr>
            <p:ph type="tbl" idx="1"/>
          </p:nvPr>
        </p:nvGraphicFramePr>
        <p:xfrm>
          <a:off x="2362200" y="1752600"/>
          <a:ext cx="7772400" cy="4145232"/>
        </p:xfrm>
        <a:graphic>
          <a:graphicData uri="http://schemas.openxmlformats.org/drawingml/2006/table">
            <a:tbl>
              <a:tblPr/>
              <a:tblGrid>
                <a:gridCol w="2057400"/>
                <a:gridCol w="5715000"/>
              </a:tblGrid>
              <a:tr h="700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Entry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Never require data that are already online or that can be computed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Defaults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Always provide default values when appropriate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09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Units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Make clear the type of data units requested for entry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Replacement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Use character replacement when appropriate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Captioning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Always place a caption adjacent to fields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Format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Provide formatting examples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Justify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Automatically justify data entries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Help</a:t>
                      </a: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Provide context-sensitive help when appropriate</a:t>
                      </a:r>
                    </a:p>
                  </a:txBody>
                  <a:tcPr marT="45717" marB="4571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709891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130BFA-D492-41A2-9494-DDEAA650B876}" type="slidenum">
              <a:rPr lang="en-US">
                <a:latin typeface="Arial Black" panose="020B0A04020102020204" pitchFamily="34" charset="0"/>
              </a:rPr>
              <a:pPr eaLnBrk="1" hangingPunct="1"/>
              <a:t>26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1748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DE4E258-6850-4BCC-879A-0DD471E2E49A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731839"/>
            <a:ext cx="8229600" cy="822325"/>
          </a:xfrm>
        </p:spPr>
        <p:txBody>
          <a:bodyPr/>
          <a:lstStyle/>
          <a:p>
            <a:pPr eaLnBrk="1" hangingPunct="1"/>
            <a:r>
              <a:rPr lang="en-US" sz="4000"/>
              <a:t>Controlling Data Input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Objective: reduce data entry errors.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Common sources data entry errors in a field: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Appending: adding additional characters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Truncating: losing characters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Transcripting: entering invalid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Transposing: reversing sequence of characters</a:t>
            </a:r>
          </a:p>
        </p:txBody>
      </p:sp>
    </p:spTree>
    <p:extLst>
      <p:ext uri="{BB962C8B-B14F-4D97-AF65-F5344CB8AC3E}">
        <p14:creationId xmlns:p14="http://schemas.microsoft.com/office/powerpoint/2010/main" val="691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mtClean="0"/>
              <a:t>Providing Feedback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1981200" y="1676400"/>
            <a:ext cx="8229600" cy="3886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Three types of system feedback: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i="1" smtClean="0"/>
              <a:t>Status information</a:t>
            </a:r>
            <a:r>
              <a:rPr lang="en-US" smtClean="0"/>
              <a:t>: keep user informed of what’s going on, helpful when user has to wait for response.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i="1" smtClean="0"/>
              <a:t>Prompting cues</a:t>
            </a:r>
            <a:r>
              <a:rPr lang="en-US" smtClean="0"/>
              <a:t>: tell user when input is needed, and how to provide the input.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i="1" smtClean="0"/>
              <a:t>Error or warning messages</a:t>
            </a:r>
            <a:r>
              <a:rPr lang="en-US" smtClean="0"/>
              <a:t>: inform user that something is wrong, either with data entry or system operation.</a:t>
            </a:r>
          </a:p>
        </p:txBody>
      </p:sp>
      <p:sp>
        <p:nvSpPr>
          <p:cNvPr id="3277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C6015AA-1E96-4802-BFA0-6E9B078DCA07}" type="slidenum">
              <a:rPr lang="en-US">
                <a:latin typeface="Arial Black" panose="020B0A04020102020204" pitchFamily="34" charset="0"/>
              </a:rPr>
              <a:pPr eaLnBrk="1" hangingPunct="1"/>
              <a:t>27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2774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AD04FA-F769-42C8-A900-1B8C3AD43D6A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1195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E8EE653-7C12-4EDC-9758-4E457FAEE031}" type="slidenum">
              <a:rPr lang="en-US">
                <a:latin typeface="Arial Black" panose="020B0A04020102020204" pitchFamily="34" charset="0"/>
              </a:rPr>
              <a:pPr eaLnBrk="1" hangingPunct="1"/>
              <a:t>28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3796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A078CA-A7CF-4FE8-8D6E-0C8AF050EA55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990600"/>
          </a:xfrm>
        </p:spPr>
        <p:txBody>
          <a:bodyPr/>
          <a:lstStyle/>
          <a:p>
            <a:pPr eaLnBrk="1" hangingPunct="1"/>
            <a:r>
              <a:rPr lang="en-US" smtClean="0"/>
              <a:t>Providing Help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2296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Place yourself in user’s place when designing help.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Guidelines for designing usable help: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smtClean="0"/>
              <a:t>Simplicity</a:t>
            </a:r>
            <a:r>
              <a:rPr lang="en-US" smtClean="0"/>
              <a:t> - Help messages should be short and to the point.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smtClean="0"/>
              <a:t>Organize</a:t>
            </a:r>
            <a:r>
              <a:rPr lang="en-US" smtClean="0"/>
              <a:t> - Information in help messages should be easily absorbed by users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smtClean="0"/>
              <a:t>Show</a:t>
            </a:r>
            <a:r>
              <a:rPr lang="en-US" smtClean="0"/>
              <a:t> - It is useful to explicitly show users how to perform an operation.</a:t>
            </a:r>
          </a:p>
        </p:txBody>
      </p:sp>
    </p:spTree>
    <p:extLst>
      <p:ext uri="{BB962C8B-B14F-4D97-AF65-F5344CB8AC3E}">
        <p14:creationId xmlns:p14="http://schemas.microsoft.com/office/powerpoint/2010/main" val="147430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E40D62-CC55-477F-85DF-20F12497DA82}" type="slidenum">
              <a:rPr lang="en-US">
                <a:latin typeface="Arial Black" panose="020B0A04020102020204" pitchFamily="34" charset="0"/>
              </a:rPr>
              <a:pPr eaLnBrk="1" hangingPunct="1"/>
              <a:t>29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4820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56FCE07-986F-4D66-B62A-566046E0998C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4000"/>
              <a:t>Designing Dialogues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Dialogues: the sequence of interaction between a user and a system.</a:t>
            </a:r>
          </a:p>
          <a:p>
            <a:pPr eaLnBrk="1" hangingPunct="1"/>
            <a:r>
              <a:rPr lang="en-US" smtClean="0"/>
              <a:t>Dialogue design involves:</a:t>
            </a:r>
          </a:p>
          <a:p>
            <a:pPr lvl="1" eaLnBrk="1" hangingPunct="1"/>
            <a:r>
              <a:rPr lang="en-US" smtClean="0"/>
              <a:t>Designing a dialogue sequence.</a:t>
            </a:r>
          </a:p>
          <a:p>
            <a:pPr lvl="1" eaLnBrk="1" hangingPunct="1"/>
            <a:r>
              <a:rPr lang="en-US" smtClean="0"/>
              <a:t>Building a prototype.</a:t>
            </a:r>
          </a:p>
          <a:p>
            <a:pPr lvl="1" eaLnBrk="1" hangingPunct="1"/>
            <a:r>
              <a:rPr lang="en-US" smtClean="0"/>
              <a:t>Assessing usability.</a:t>
            </a:r>
          </a:p>
        </p:txBody>
      </p:sp>
    </p:spTree>
    <p:extLst>
      <p:ext uri="{BB962C8B-B14F-4D97-AF65-F5344CB8AC3E}">
        <p14:creationId xmlns:p14="http://schemas.microsoft.com/office/powerpoint/2010/main" val="201020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r>
              <a:rPr lang="en-US" sz="4000"/>
              <a:t>Designing the Dialogue Sequence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Typical dialogue between user and Customer Information System:</a:t>
            </a:r>
          </a:p>
          <a:p>
            <a:pPr lvl="1"/>
            <a:r>
              <a:rPr lang="en-US" smtClean="0"/>
              <a:t>Request to view individual customer information.</a:t>
            </a:r>
          </a:p>
          <a:p>
            <a:pPr lvl="1"/>
            <a:r>
              <a:rPr lang="en-US" smtClean="0"/>
              <a:t>Specify the customer of interest.</a:t>
            </a:r>
          </a:p>
          <a:p>
            <a:pPr lvl="1"/>
            <a:r>
              <a:rPr lang="en-US" smtClean="0"/>
              <a:t>Select the year-to-date transaction summary display.</a:t>
            </a: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4D1438D-5A1C-4746-9B92-67EB8559B54E}" type="slidenum">
              <a:rPr lang="en-US">
                <a:latin typeface="Arial Black" panose="020B0A04020102020204" pitchFamily="34" charset="0"/>
              </a:rPr>
              <a:pPr eaLnBrk="1" hangingPunct="1"/>
              <a:t>30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5846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A864DBA-AECC-4C5B-8CAE-9B1B16B1D775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1273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mtClean="0"/>
              <a:t>Review the customer information.</a:t>
            </a:r>
          </a:p>
          <a:p>
            <a:pPr lvl="1"/>
            <a:r>
              <a:rPr lang="en-US" smtClean="0"/>
              <a:t>Leave system.</a:t>
            </a:r>
          </a:p>
          <a:p>
            <a:r>
              <a:rPr lang="en-US" b="1" smtClean="0"/>
              <a:t>Dialogue diagramming</a:t>
            </a:r>
            <a:r>
              <a:rPr lang="en-US" smtClean="0"/>
              <a:t>: a formal method for designing and representing human-computer dialogues using box and line diagrams.</a:t>
            </a:r>
          </a:p>
        </p:txBody>
      </p:sp>
      <p:sp>
        <p:nvSpPr>
          <p:cNvPr id="3686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53DFC72-3BFC-478E-B4C0-7CC21E807E8D}" type="slidenum">
              <a:rPr lang="en-US">
                <a:latin typeface="Arial Black" panose="020B0A04020102020204" pitchFamily="34" charset="0"/>
              </a:rPr>
              <a:pPr eaLnBrk="1" hangingPunct="1"/>
              <a:t>31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6870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4D5BF5A-4C38-4CEF-9933-3CBAFF2F6234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61352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1752600" y="1981200"/>
            <a:ext cx="8610600" cy="3886200"/>
          </a:xfrm>
        </p:spPr>
        <p:txBody>
          <a:bodyPr/>
          <a:lstStyle/>
          <a:p>
            <a:r>
              <a:rPr lang="en-US" smtClean="0"/>
              <a:t>Three sections of the box are used as:</a:t>
            </a:r>
          </a:p>
          <a:p>
            <a:pPr lvl="1"/>
            <a:r>
              <a:rPr lang="en-US" i="1" smtClean="0"/>
              <a:t>Top</a:t>
            </a:r>
            <a:r>
              <a:rPr lang="en-US" smtClean="0"/>
              <a:t>: contains a unique display reference number used by other displays for referencing it.</a:t>
            </a:r>
          </a:p>
          <a:p>
            <a:pPr lvl="1"/>
            <a:r>
              <a:rPr lang="en-US" i="1" smtClean="0"/>
              <a:t>Middle</a:t>
            </a:r>
            <a:r>
              <a:rPr lang="en-US" smtClean="0"/>
              <a:t>: contains the name or description of the display.</a:t>
            </a:r>
          </a:p>
          <a:p>
            <a:pPr lvl="1"/>
            <a:r>
              <a:rPr lang="en-US" i="1" smtClean="0"/>
              <a:t>Bottom</a:t>
            </a:r>
            <a:r>
              <a:rPr lang="en-US" smtClean="0"/>
              <a:t>: contains display reference numbers that can be accessed from the current display.</a:t>
            </a:r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76F92BC-3F99-4382-8776-324DD9158F13}" type="slidenum">
              <a:rPr lang="en-US">
                <a:latin typeface="Arial Black" panose="020B0A04020102020204" pitchFamily="34" charset="0"/>
              </a:rPr>
              <a:pPr eaLnBrk="1" hangingPunct="1"/>
              <a:t>32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7894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8721EA4-C176-4A73-88AE-1D1FFE3C345E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6087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38915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891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3B0D6EB-34C3-4CCE-9C71-864AC6F06DCE}" type="slidenum">
              <a:rPr lang="en-US">
                <a:latin typeface="Arial Black" panose="020B0A04020102020204" pitchFamily="34" charset="0"/>
              </a:rPr>
              <a:pPr eaLnBrk="1" hangingPunct="1"/>
              <a:t>33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8917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26F10E-F7BF-4A56-9175-496969330849}" type="datetime1">
              <a:rPr lang="en-US" smtClean="0"/>
              <a:t>3/31/2023</a:t>
            </a:fld>
            <a:endParaRPr lang="en-US" smtClean="0"/>
          </a:p>
        </p:txBody>
      </p:sp>
      <p:pic>
        <p:nvPicPr>
          <p:cNvPr id="38918" name="Picture 4" descr="FIG12_17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2362200"/>
            <a:ext cx="7620000" cy="3124200"/>
          </a:xfrm>
          <a:noFill/>
        </p:spPr>
      </p:pic>
    </p:spTree>
    <p:extLst>
      <p:ext uri="{BB962C8B-B14F-4D97-AF65-F5344CB8AC3E}">
        <p14:creationId xmlns:p14="http://schemas.microsoft.com/office/powerpoint/2010/main" val="280743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Dialogue diagrams depict the sequence, conditional branching, and repetition of dialogues.</a:t>
            </a:r>
          </a:p>
        </p:txBody>
      </p:sp>
      <p:sp>
        <p:nvSpPr>
          <p:cNvPr id="3994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05FF6B9-B355-4508-AF29-7F1C268464DA}" type="slidenum">
              <a:rPr lang="en-US">
                <a:latin typeface="Arial Black" panose="020B0A04020102020204" pitchFamily="34" charset="0"/>
              </a:rPr>
              <a:pPr eaLnBrk="1" hangingPunct="1"/>
              <a:t>34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39942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67A46A-DD91-4FF7-9ECD-9FD29B7999C1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2467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Designing the Dialogue Sequence (Cont.)</a:t>
            </a:r>
          </a:p>
        </p:txBody>
      </p:sp>
      <p:sp>
        <p:nvSpPr>
          <p:cNvPr id="40963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4096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D24AC8-E403-4706-8091-55DFFDA10DD1}" type="slidenum">
              <a:rPr lang="en-US">
                <a:latin typeface="Arial Black" panose="020B0A04020102020204" pitchFamily="34" charset="0"/>
              </a:rPr>
              <a:pPr eaLnBrk="1" hangingPunct="1"/>
              <a:t>35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40965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4CB5CE-6B8F-46FF-9900-5BC38DEB33A6}" type="datetime1">
              <a:rPr lang="en-US" smtClean="0"/>
              <a:t>3/31/2023</a:t>
            </a:fld>
            <a:endParaRPr lang="en-US" smtClean="0"/>
          </a:p>
        </p:txBody>
      </p:sp>
      <p:pic>
        <p:nvPicPr>
          <p:cNvPr id="40966" name="Picture 3" descr="FIG12_1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6200" y="1676400"/>
            <a:ext cx="4457700" cy="4572000"/>
          </a:xfrm>
          <a:noFill/>
        </p:spPr>
      </p:pic>
    </p:spTree>
    <p:extLst>
      <p:ext uri="{BB962C8B-B14F-4D97-AF65-F5344CB8AC3E}">
        <p14:creationId xmlns:p14="http://schemas.microsoft.com/office/powerpoint/2010/main" val="28349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Building Prototypes and Assessing Usability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Optional activities.</a:t>
            </a:r>
          </a:p>
          <a:p>
            <a:r>
              <a:rPr lang="en-US" smtClean="0"/>
              <a:t>Building prototypes displays using a graphical development environment.</a:t>
            </a:r>
          </a:p>
          <a:p>
            <a:pPr lvl="1"/>
            <a:r>
              <a:rPr lang="en-US" smtClean="0"/>
              <a:t>Microsoft’s Visual Studio .NET</a:t>
            </a:r>
          </a:p>
          <a:p>
            <a:pPr lvl="1"/>
            <a:r>
              <a:rPr lang="en-US" smtClean="0"/>
              <a:t>Borland’s Enterprise Studio</a:t>
            </a:r>
          </a:p>
          <a:p>
            <a:pPr lvl="1"/>
            <a:r>
              <a:rPr lang="en-US" smtClean="0"/>
              <a:t>Easy-to-use input and output (form, report, or window) design utilities.</a:t>
            </a:r>
          </a:p>
        </p:txBody>
      </p:sp>
      <p:sp>
        <p:nvSpPr>
          <p:cNvPr id="4198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8246834-020C-4DE9-9476-FECC35CE7F2E}" type="slidenum">
              <a:rPr lang="en-US">
                <a:latin typeface="Arial Black" panose="020B0A04020102020204" pitchFamily="34" charset="0"/>
              </a:rPr>
              <a:pPr eaLnBrk="1" hangingPunct="1"/>
              <a:t>36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41990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E8BB123-C021-4902-940D-AA1954217A70}" type="datetime1">
              <a:rPr lang="en-US" smtClean="0"/>
              <a:t>3/31/2023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5304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430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A575707-BB91-4B06-91B5-47FA30D10B41}" type="slidenum">
              <a:rPr lang="en-US">
                <a:latin typeface="Arial Black" panose="020B0A04020102020204" pitchFamily="34" charset="0"/>
              </a:rPr>
              <a:pPr eaLnBrk="1" hangingPunct="1"/>
              <a:t>37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43012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333F50E-3B91-43C0-A5A0-A6A69904A0DE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Graphical Interface Design Issues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2200" y="1676400"/>
            <a:ext cx="7772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Become an expert user of the GUI environment.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Understand how other applications have been designed.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Understand standards.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Gain an understanding of the available resources and how they can be used.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Become familiar with standards for menus and forms.</a:t>
            </a:r>
          </a:p>
        </p:txBody>
      </p:sp>
    </p:spTree>
    <p:extLst>
      <p:ext uri="{BB962C8B-B14F-4D97-AF65-F5344CB8AC3E}">
        <p14:creationId xmlns:p14="http://schemas.microsoft.com/office/powerpoint/2010/main" val="828478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mtClean="0"/>
              <a:t>Prepared by SKM</a:t>
            </a:r>
          </a:p>
        </p:txBody>
      </p:sp>
      <p:sp>
        <p:nvSpPr>
          <p:cNvPr id="440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4E9829F-7178-4AF0-B7C7-FA8A78ED5F47}" type="slidenum">
              <a:rPr lang="en-US">
                <a:latin typeface="Arial Black" panose="020B0A04020102020204" pitchFamily="34" charset="0"/>
              </a:rPr>
              <a:pPr eaLnBrk="1" hangingPunct="1"/>
              <a:t>38</a:t>
            </a:fld>
            <a:endParaRPr lang="en-US">
              <a:latin typeface="Arial Black" panose="020B0A04020102020204" pitchFamily="34" charset="0"/>
            </a:endParaRPr>
          </a:p>
        </p:txBody>
      </p:sp>
      <p:sp>
        <p:nvSpPr>
          <p:cNvPr id="44036" name="Date Placeholder 5"/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B8AD42F-F4A5-427A-B9A6-B0BB2E4E426B}" type="datetime1">
              <a:rPr lang="en-US" smtClean="0"/>
              <a:t>3/31/2023</a:t>
            </a:fld>
            <a:endParaRPr lang="en-US" smtClean="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sz="3600"/>
              <a:t>Graphical Interface Design Issues (Cont.)</a:t>
            </a:r>
          </a:p>
        </p:txBody>
      </p:sp>
      <p:pic>
        <p:nvPicPr>
          <p:cNvPr id="44038" name="Picture 2" descr="FIG12_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1690810"/>
            <a:ext cx="5014913" cy="4782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706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1468</Words>
  <Application>Microsoft Office PowerPoint</Application>
  <PresentationFormat>Widescreen</PresentationFormat>
  <Paragraphs>307</Paragraphs>
  <Slides>38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Arial Black</vt:lpstr>
      <vt:lpstr>Calibri</vt:lpstr>
      <vt:lpstr>Calibri Light</vt:lpstr>
      <vt:lpstr>Tahoma</vt:lpstr>
      <vt:lpstr>Wingdings</vt:lpstr>
      <vt:lpstr>Office Theme</vt:lpstr>
      <vt:lpstr>Unit-4 Designing Interfaces and Dialogues</vt:lpstr>
      <vt:lpstr>Designing Interfaces and Dialogues (Cont.)</vt:lpstr>
      <vt:lpstr>Deliverables and Outcomes</vt:lpstr>
      <vt:lpstr>Deliverables and Outcomes (Cont.)</vt:lpstr>
      <vt:lpstr>Interaction Methods and Devices</vt:lpstr>
      <vt:lpstr>Methods of Interacting</vt:lpstr>
      <vt:lpstr>Command Language Interaction</vt:lpstr>
      <vt:lpstr>Menu Interaction</vt:lpstr>
      <vt:lpstr>Menu Interaction (Cont.)</vt:lpstr>
      <vt:lpstr>Menu Interaction (Cont.)</vt:lpstr>
      <vt:lpstr>Menu Interaction (Cont.)</vt:lpstr>
      <vt:lpstr>Form Interaction</vt:lpstr>
      <vt:lpstr>Form Interaction (Cont.)</vt:lpstr>
      <vt:lpstr>Object-Based Interaction</vt:lpstr>
      <vt:lpstr>Object-Based Interaction (Cont.)</vt:lpstr>
      <vt:lpstr>Natural Language Interaction</vt:lpstr>
      <vt:lpstr>Usability Problems with Hardware Devices</vt:lpstr>
      <vt:lpstr>Natural Language Interaction (Cont.)</vt:lpstr>
      <vt:lpstr>Natural Language Interaction (Cont.)</vt:lpstr>
      <vt:lpstr>Natural Language Interaction (Cont.)</vt:lpstr>
      <vt:lpstr>Natural Language Interaction (Cont.)</vt:lpstr>
      <vt:lpstr>Designing Interfaces</vt:lpstr>
      <vt:lpstr>Designing Interfaces (Cont.)</vt:lpstr>
      <vt:lpstr>Designing Interfaces (Cont.)</vt:lpstr>
      <vt:lpstr>Structuring Data Entry</vt:lpstr>
      <vt:lpstr>Controlling Data Input</vt:lpstr>
      <vt:lpstr>Providing Feedback</vt:lpstr>
      <vt:lpstr>Providing Help</vt:lpstr>
      <vt:lpstr>Designing Dialogues</vt:lpstr>
      <vt:lpstr>Designing the Dialogue Sequence</vt:lpstr>
      <vt:lpstr>Designing the Dialogue Sequence (Cont.)</vt:lpstr>
      <vt:lpstr>Designing the Dialogue Sequence (Cont.)</vt:lpstr>
      <vt:lpstr>Designing the Dialogue Sequence (Cont.)</vt:lpstr>
      <vt:lpstr>Designing the Dialogue Sequence (Cont.)</vt:lpstr>
      <vt:lpstr>Designing the Dialogue Sequence (Cont.)</vt:lpstr>
      <vt:lpstr>Building Prototypes and Assessing Usability</vt:lpstr>
      <vt:lpstr>Graphical Interface Design Issues</vt:lpstr>
      <vt:lpstr>Graphical Interface Design Issues (Cont.)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2022-06-22T00:40:54Z</dcterms:created>
  <dcterms:modified xsi:type="dcterms:W3CDTF">2023-03-31T07:14:41Z</dcterms:modified>
</cp:coreProperties>
</file>