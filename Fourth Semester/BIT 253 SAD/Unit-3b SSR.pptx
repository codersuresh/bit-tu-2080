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80" r:id="rId21"/>
    <p:sldId id="285" r:id="rId22"/>
    <p:sldId id="287" r:id="rId23"/>
    <p:sldId id="289" r:id="rId24"/>
    <p:sldId id="291" r:id="rId25"/>
    <p:sldId id="294" r:id="rId26"/>
    <p:sldId id="295" r:id="rId27"/>
    <p:sldId id="297" r:id="rId28"/>
    <p:sldId id="300" r:id="rId29"/>
    <p:sldId id="301" r:id="rId30"/>
    <p:sldId id="303" r:id="rId31"/>
    <p:sldId id="305" r:id="rId32"/>
    <p:sldId id="307" r:id="rId33"/>
    <p:sldId id="309" r:id="rId34"/>
    <p:sldId id="311" r:id="rId35"/>
    <p:sldId id="313" r:id="rId36"/>
    <p:sldId id="319" r:id="rId37"/>
    <p:sldId id="320" r:id="rId38"/>
    <p:sldId id="321" r:id="rId39"/>
    <p:sldId id="322" r:id="rId40"/>
    <p:sldId id="323" r:id="rId41"/>
    <p:sldId id="328" r:id="rId42"/>
    <p:sldId id="329" r:id="rId43"/>
    <p:sldId id="330" r:id="rId44"/>
    <p:sldId id="331" r:id="rId45"/>
    <p:sldId id="334" r:id="rId46"/>
    <p:sldId id="338" r:id="rId47"/>
    <p:sldId id="339" r:id="rId48"/>
    <p:sldId id="340" r:id="rId49"/>
    <p:sldId id="343" r:id="rId50"/>
    <p:sldId id="344" r:id="rId51"/>
    <p:sldId id="345" r:id="rId52"/>
    <p:sldId id="34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38BCE-8F12-4467-A6B6-1BABDC8D46C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E882A-B6BF-40F4-83CC-B054719D3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2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E95932-4E4A-467D-9CE2-29745D3EB829}" type="slidenum">
              <a:rPr lang="en-US">
                <a:latin typeface="Tahoma" panose="020B0604030504040204" pitchFamily="34" charset="0"/>
              </a:rPr>
              <a:pPr eaLnBrk="1" hangingPunct="1"/>
              <a:t>27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44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AB5747-0E1F-4067-8726-FB78FAFA33F8}" type="slidenum">
              <a:rPr lang="en-US">
                <a:latin typeface="Tahoma" panose="020B0604030504040204" pitchFamily="34" charset="0"/>
              </a:rPr>
              <a:pPr eaLnBrk="1" hangingPunct="1"/>
              <a:t>28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05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62889B-A789-4217-A8EB-E7305C5F2E73}" type="slidenum">
              <a:rPr lang="en-US">
                <a:latin typeface="Tahoma" panose="020B0604030504040204" pitchFamily="34" charset="0"/>
              </a:rPr>
              <a:pPr eaLnBrk="1" hangingPunct="1"/>
              <a:t>29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81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3B6F224-5693-468D-9F0B-A583A8C5ABDC}" type="slidenum">
              <a:rPr lang="en-US">
                <a:latin typeface="Tahoma" panose="020B0604030504040204" pitchFamily="34" charset="0"/>
              </a:rPr>
              <a:pPr eaLnBrk="1" hangingPunct="1"/>
              <a:t>30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277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8E9312-7CD2-4316-8A12-3780C455A37C}" type="slidenum">
              <a:rPr lang="en-US">
                <a:latin typeface="Tahoma" panose="020B0604030504040204" pitchFamily="34" charset="0"/>
              </a:rPr>
              <a:pPr eaLnBrk="1" hangingPunct="1"/>
              <a:t>31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818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A16631-7B06-405E-8C34-B3F89246819D}" type="slidenum">
              <a:rPr lang="en-US">
                <a:latin typeface="Tahoma" panose="020B0604030504040204" pitchFamily="34" charset="0"/>
              </a:rPr>
              <a:pPr eaLnBrk="1" hangingPunct="1"/>
              <a:t>32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673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41D9F2-45F1-48CD-AD87-FF28BB7DD9D2}" type="slidenum">
              <a:rPr lang="en-US">
                <a:latin typeface="Tahoma" panose="020B0604030504040204" pitchFamily="34" charset="0"/>
              </a:rPr>
              <a:pPr eaLnBrk="1" hangingPunct="1"/>
              <a:t>33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5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C3B624C-FCB6-4B2B-AB4C-64B4ED0584D5}" type="slidenum">
              <a:rPr lang="en-US">
                <a:latin typeface="Tahoma" panose="020B0604030504040204" pitchFamily="34" charset="0"/>
              </a:rPr>
              <a:pPr eaLnBrk="1" hangingPunct="1"/>
              <a:t>34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69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1A8466-3D4E-408F-98B2-E32D150450D3}" type="slidenum">
              <a:rPr lang="en-US">
                <a:latin typeface="Tahoma" panose="020B0604030504040204" pitchFamily="34" charset="0"/>
              </a:rPr>
              <a:pPr eaLnBrk="1" hangingPunct="1"/>
              <a:t>35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160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F500B1-6AAB-4D3F-A11C-D1FC91AE22F8}" type="slidenum">
              <a:rPr lang="en-US">
                <a:latin typeface="Tahoma" panose="020B0604030504040204" pitchFamily="34" charset="0"/>
              </a:rPr>
              <a:pPr eaLnBrk="1" hangingPunct="1"/>
              <a:t>36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53953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CD39FA-756D-4E05-8F7D-450958D6432A}" type="slidenum">
              <a:rPr lang="en-US">
                <a:latin typeface="Tahoma" panose="020B0604030504040204" pitchFamily="34" charset="0"/>
              </a:rPr>
              <a:pPr eaLnBrk="1" hangingPunct="1"/>
              <a:t>38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8904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B9C72BB-C169-4FF3-A0B0-A6C8D2A497CE}" type="slidenum">
              <a:rPr lang="en-US">
                <a:latin typeface="Tahoma" panose="020B0604030504040204" pitchFamily="34" charset="0"/>
              </a:rPr>
              <a:pPr eaLnBrk="1" hangingPunct="1"/>
              <a:t>39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9191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E3A551-60BA-45A2-ABA0-7F32CC037580}" type="slidenum">
              <a:rPr lang="en-US">
                <a:latin typeface="Tahoma" panose="020B0604030504040204" pitchFamily="34" charset="0"/>
              </a:rPr>
              <a:pPr eaLnBrk="1" hangingPunct="1"/>
              <a:t>42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02179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03FF60-4E15-434E-A8A6-C746CCFB6332}" type="slidenum">
              <a:rPr lang="en-US">
                <a:latin typeface="Tahoma" panose="020B0604030504040204" pitchFamily="34" charset="0"/>
              </a:rPr>
              <a:pPr eaLnBrk="1" hangingPunct="1"/>
              <a:t>43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86327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4AF4AE-9205-4A01-8CDC-AE8346316D60}" type="slidenum">
              <a:rPr lang="en-US">
                <a:latin typeface="Tahoma" panose="020B0604030504040204" pitchFamily="34" charset="0"/>
              </a:rPr>
              <a:pPr eaLnBrk="1" hangingPunct="1"/>
              <a:t>44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885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B4C57F-9CC1-496A-9BF6-4397CCBB1CEF}" type="slidenum">
              <a:rPr lang="en-US">
                <a:latin typeface="Tahoma" panose="020B0604030504040204" pitchFamily="34" charset="0"/>
              </a:rPr>
              <a:pPr eaLnBrk="1" hangingPunct="1"/>
              <a:t>45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48937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BE6F440-CC54-4B01-8082-9BB89A21A55C}" type="slidenum">
              <a:rPr lang="en-US">
                <a:latin typeface="Tahoma" panose="020B0604030504040204" pitchFamily="34" charset="0"/>
              </a:rPr>
              <a:pPr eaLnBrk="1" hangingPunct="1"/>
              <a:t>46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08194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78D8B0-E96F-4983-8700-4E2EF00DD686}" type="slidenum">
              <a:rPr lang="en-US">
                <a:latin typeface="Tahoma" panose="020B0604030504040204" pitchFamily="34" charset="0"/>
              </a:rPr>
              <a:pPr eaLnBrk="1" hangingPunct="1"/>
              <a:t>47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54183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BE2A9E2-09D8-44A9-BD18-EBA244CE525F}" type="slidenum">
              <a:rPr lang="en-US">
                <a:latin typeface="Tahoma" panose="020B0604030504040204" pitchFamily="34" charset="0"/>
              </a:rPr>
              <a:pPr eaLnBrk="1" hangingPunct="1"/>
              <a:t>48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3438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E882A-B6BF-40F4-83CC-B054719D36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84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4EF2-1233-469F-98AD-004CC5D9FC9C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9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0AEB-0A9F-4E31-BCC4-D2C68C160A11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3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5124-CF13-4902-83CD-FDCBF7A579DB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1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4589-A435-485F-8B0C-B7FA3008026A}" type="datetime1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5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87171-2310-4CD4-AAC2-7A7E319545C2}" type="datetime1">
              <a:rPr lang="en-US" smtClean="0"/>
              <a:t>6/15/2022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2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2E65-88E7-4977-8DA7-D34DF4C64AB2}" type="datetime1">
              <a:rPr lang="en-US" smtClean="0"/>
              <a:t>6/15/2022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9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6FA6-3228-447C-A557-D1E726BBC44C}" type="datetime1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6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4826-0006-4152-9367-8303D766FC8A}" type="datetime1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9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E64A-14F4-4605-BF26-B3F421E058B1}" type="datetime1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5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DB329-20E9-43D5-82C9-11C7B8C44EE4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8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2858-65E4-4C87-AD0F-B4E78EE802E6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3966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24EB2-6F48-40D1-AB09-96B437937D55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09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CB05-21DD-436A-91F7-DA1AD05A81AC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034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B0F-B071-47D9-8409-694C246D724A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15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F5D0-1754-45C9-9F77-16F18C0E97BA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36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2A4-1C7B-410A-A898-354E965CACB4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82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840C1-DDB6-42F1-90BF-60114FD5A3B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BDBF5-7FC6-4E96-8877-D7A1EFCA49D4}" type="datetime1">
              <a:rPr lang="en-US" smtClean="0"/>
              <a:t>6/15/2022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320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6FFE0-C740-4D8F-9CAB-CBE74FB30876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406E14-29B0-4711-8A4C-5D29B3D2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8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corporatefinanceinstitute.com/resources/knowledge/trading-investing/what-are-algorithms-algos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Structuring System Process Requirements</a:t>
            </a:r>
            <a:endParaRPr lang="en-US" sz="3200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6AB5-7485-489D-B668-CA88A034C6A5}" type="datetime1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8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Modeling</a:t>
            </a:r>
            <a:endParaRPr lang="en-US" dirty="0"/>
          </a:p>
        </p:txBody>
      </p:sp>
      <p:pic>
        <p:nvPicPr>
          <p:cNvPr id="4" name="Picture 2" descr="FIG07_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889" y="2160588"/>
            <a:ext cx="5400260" cy="3881437"/>
          </a:xfr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FBE-23EF-4F3C-AE5D-91CE769BF853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4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 smtClean="0">
                <a:latin typeface="+mn-lt"/>
              </a:rPr>
              <a:t>Process Modeling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 smtClean="0"/>
              <a:t>Graphically represent the processes that capture, manipulate, store, and distribute data between a system and its environment and among system components.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8B404-1324-4504-A59C-A611483134FB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7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>
                <a:latin typeface="+mn-lt"/>
              </a:rPr>
              <a:t>Process Modeling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 smtClean="0"/>
              <a:t>Utilize information gathered during requirements determination.</a:t>
            </a:r>
          </a:p>
          <a:p>
            <a:pPr algn="just"/>
            <a:r>
              <a:rPr lang="en-US" altLang="en-US" sz="2400" dirty="0" smtClean="0"/>
              <a:t>Processes and data structures are modeled.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EE6A-9965-40C3-9B09-2AA1216C5933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1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 smtClean="0">
                <a:latin typeface="+mn-lt"/>
              </a:rPr>
              <a:t>Deliverables and Outcomes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400" dirty="0" smtClean="0"/>
              <a:t>Context data flow diagram (DFD)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smtClean="0"/>
              <a:t>Scope of system.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 smtClean="0"/>
              <a:t>DFDs of current physical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smtClean="0"/>
              <a:t>Adequate detail only.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 smtClean="0"/>
              <a:t>DFDs of current logical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smtClean="0"/>
              <a:t>Enables analysts to understand current system.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520EC-5A1B-4FEF-A875-7A3BE3E50869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 smtClean="0">
                <a:latin typeface="+mn-lt"/>
              </a:rPr>
              <a:t>Deliverables and Outcomes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400" dirty="0" smtClean="0"/>
              <a:t>DFDs of new logical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smtClean="0"/>
              <a:t>Technology independent.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smtClean="0"/>
              <a:t>Show data flows, structure, and functional requirements of new system.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 smtClean="0"/>
              <a:t>Thorough description of each DFD component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6A0A-830E-42AF-80C3-5320B3AA98A1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5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Data Flow Diagramming Mechanics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400" dirty="0" smtClean="0"/>
              <a:t>Represent both physical and logical information systems.</a:t>
            </a:r>
          </a:p>
          <a:p>
            <a:pPr algn="just"/>
            <a:r>
              <a:rPr lang="en-US" altLang="en-US" sz="2400" dirty="0" smtClean="0"/>
              <a:t>Only four symbols are used.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FB09-8ECE-4E05-B907-C28AFAD4CE65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5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Data Flow Diagramming Mechanics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 smtClean="0"/>
              <a:t>Useful for depicting purely logical information flows.</a:t>
            </a:r>
          </a:p>
          <a:p>
            <a:pPr algn="just"/>
            <a:r>
              <a:rPr lang="en-US" altLang="en-US" sz="2400" dirty="0" smtClean="0"/>
              <a:t>DFDs that detail physical systems differ from system flowcharts which depict details of physical computing equipment.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F953-9B44-4ACB-B0DC-6B481D48F427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5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Definitions and Symbols</a:t>
            </a:r>
            <a:endParaRPr lang="en-US" sz="3200" dirty="0">
              <a:latin typeface="+mn-lt"/>
            </a:endParaRPr>
          </a:p>
        </p:txBody>
      </p:sp>
      <p:pic>
        <p:nvPicPr>
          <p:cNvPr id="4" name="Content Placeholder 3" descr="FIG07_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1727" y="2160588"/>
            <a:ext cx="5428583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34A62-3450-4F99-BBA6-1D2BAD8FBB0B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5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Definitions and Symbols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b="1" dirty="0" smtClean="0"/>
              <a:t>Process</a:t>
            </a:r>
            <a:r>
              <a:rPr lang="en-US" altLang="en-US" sz="2400" dirty="0" smtClean="0"/>
              <a:t>: work or actions performed on data (inside the system).</a:t>
            </a:r>
          </a:p>
          <a:p>
            <a:pPr algn="just"/>
            <a:r>
              <a:rPr lang="en-US" altLang="en-US" sz="2400" b="1" dirty="0" smtClean="0"/>
              <a:t>Data store</a:t>
            </a:r>
            <a:r>
              <a:rPr lang="en-US" altLang="en-US" sz="2400" dirty="0" smtClean="0"/>
              <a:t>: data at rest (inside the system).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15C-37E6-4122-988D-9DDF2EB41410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8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Definitions and Symbols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b="1" dirty="0" smtClean="0"/>
              <a:t>Source/sink</a:t>
            </a:r>
            <a:r>
              <a:rPr lang="en-US" altLang="en-US" sz="2400" dirty="0" smtClean="0"/>
              <a:t>: external entity that is origin or destination of data (outside the system).</a:t>
            </a:r>
          </a:p>
          <a:p>
            <a:pPr algn="just"/>
            <a:r>
              <a:rPr lang="en-US" altLang="en-US" sz="2400" b="1" dirty="0" smtClean="0"/>
              <a:t>Data flow</a:t>
            </a:r>
            <a:r>
              <a:rPr lang="en-US" altLang="en-US" sz="2400" dirty="0" smtClean="0"/>
              <a:t>: arrows depicting movement of data.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848E3-6570-45C8-88DA-E9B873129387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1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Developing DFDs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 smtClean="0"/>
              <a:t>Context diagram </a:t>
            </a:r>
            <a:r>
              <a:rPr lang="en-US" sz="2400" dirty="0" smtClean="0"/>
              <a:t>is an overview of an organizational system that shows: </a:t>
            </a:r>
          </a:p>
          <a:p>
            <a:pPr lvl="1" algn="just"/>
            <a:r>
              <a:rPr lang="en-US" dirty="0" smtClean="0"/>
              <a:t>the system boundaries.</a:t>
            </a:r>
          </a:p>
          <a:p>
            <a:pPr lvl="1" algn="just"/>
            <a:r>
              <a:rPr lang="en-US" dirty="0" smtClean="0"/>
              <a:t>external entities that interact with the system.</a:t>
            </a:r>
          </a:p>
          <a:p>
            <a:pPr lvl="1" algn="just"/>
            <a:r>
              <a:rPr lang="en-US" dirty="0" smtClean="0"/>
              <a:t>Major information flows between the entities and the system.</a:t>
            </a:r>
          </a:p>
          <a:p>
            <a:pPr algn="just"/>
            <a:r>
              <a:rPr lang="en-US" sz="2400" dirty="0" smtClean="0"/>
              <a:t>Note: only one process symbol, and no data stores shown.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3767-A132-4BAB-B0FF-897422EFCFA5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3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Context Diagram</a:t>
            </a:r>
            <a:endParaRPr lang="en-US" sz="3200" dirty="0">
              <a:latin typeface="+mn-lt"/>
            </a:endParaRPr>
          </a:p>
        </p:txBody>
      </p:sp>
      <p:pic>
        <p:nvPicPr>
          <p:cNvPr id="4" name="Picture 5" descr="FIG07_0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0" y="2160588"/>
            <a:ext cx="6931137" cy="3881437"/>
          </a:xfr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7E79-08E0-4C31-B30F-6EF769105F42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9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Developing DFDs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1" dirty="0" smtClean="0"/>
              <a:t>Level-0 diagram </a:t>
            </a:r>
            <a:r>
              <a:rPr lang="en-US" sz="2400" dirty="0" smtClean="0"/>
              <a:t>is a data flow diagram that represents a system’s major processes, data flows, and data stores at a high level of detail.</a:t>
            </a:r>
          </a:p>
          <a:p>
            <a:pPr lvl="1" algn="just"/>
            <a:r>
              <a:rPr lang="en-US" dirty="0" smtClean="0"/>
              <a:t>Processes are labeled 1.0, 2.0, etc. These will be decomposed into more primitive (lower-level) DFDs.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0CCBE-838E-492B-8326-DD19E14493F2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8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Level-0 Diagram</a:t>
            </a:r>
            <a:endParaRPr lang="en-US" sz="3200" dirty="0">
              <a:latin typeface="+mn-lt"/>
            </a:endParaRPr>
          </a:p>
        </p:txBody>
      </p:sp>
      <p:pic>
        <p:nvPicPr>
          <p:cNvPr id="4" name="Picture 5" descr="FIG07_0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2572" y="1"/>
            <a:ext cx="6308594" cy="6858000"/>
          </a:xfr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9C30-0A21-4302-B6CA-0EC4ABAE0C20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Data Flow Diagramming Rules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There are two DFD guidelines that apply:</a:t>
            </a:r>
          </a:p>
          <a:p>
            <a:pPr lvl="1" algn="just"/>
            <a:r>
              <a:rPr lang="en-US" i="1" dirty="0" smtClean="0"/>
              <a:t>The inputs to a process are different from the outputs of that process.</a:t>
            </a:r>
          </a:p>
          <a:p>
            <a:pPr lvl="2" algn="just"/>
            <a:r>
              <a:rPr lang="en-US" sz="2400" dirty="0" smtClean="0"/>
              <a:t>Processes purpose is to transform inputs into outputs.</a:t>
            </a:r>
          </a:p>
          <a:p>
            <a:pPr lvl="1" algn="just"/>
            <a:r>
              <a:rPr lang="en-US" i="1" dirty="0" smtClean="0"/>
              <a:t>Objects on a DFD have unique names.</a:t>
            </a:r>
            <a:endParaRPr lang="en-US" dirty="0" smtClean="0"/>
          </a:p>
          <a:p>
            <a:pPr lvl="2" algn="just"/>
            <a:r>
              <a:rPr lang="en-US" sz="2400" dirty="0" smtClean="0"/>
              <a:t>Every process has a unique name.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6BAF-68D9-4F8C-9955-540614E6AD74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Data Flow Diagramming Rules (Cont.)</a:t>
            </a:r>
          </a:p>
        </p:txBody>
      </p:sp>
      <p:pic>
        <p:nvPicPr>
          <p:cNvPr id="204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4971" y="1407886"/>
            <a:ext cx="7315200" cy="4459514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D571BA-9D36-4A6D-A745-F7D23E05400F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D4B12E-94E2-4C72-986F-E87B62C4A8A5}" type="slidenum">
              <a:rPr lang="en-US">
                <a:latin typeface="Arial Black" panose="020B0A04020102020204" pitchFamily="34" charset="0"/>
              </a:rPr>
              <a:pPr eaLnBrk="1" hangingPunct="1"/>
              <a:t>17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Decomposition of DFDs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Functional decomposition </a:t>
            </a:r>
            <a:r>
              <a:rPr lang="en-US" sz="2400" dirty="0" smtClean="0"/>
              <a:t>is an iterative process of breaking a system description down into finer and finer detail.</a:t>
            </a:r>
          </a:p>
          <a:p>
            <a:pPr lvl="1"/>
            <a:r>
              <a:rPr lang="en-US" dirty="0" smtClean="0"/>
              <a:t>Creates a set of charts in which one process on a given chart is explained in greater detail on another chart.</a:t>
            </a:r>
          </a:p>
          <a:p>
            <a:pPr lvl="1"/>
            <a:r>
              <a:rPr lang="en-US" dirty="0" smtClean="0"/>
              <a:t>Continues until no sub process can logically be broken down any further.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6900-9FBC-4172-BF6A-A8A1638C8B09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4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Decomposition of DFDs (Cont.)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i="1" dirty="0" smtClean="0"/>
              <a:t>Primitive DFD </a:t>
            </a:r>
            <a:r>
              <a:rPr lang="en-US" sz="2400" dirty="0" smtClean="0"/>
              <a:t>is the lowest level of a DFD.</a:t>
            </a:r>
          </a:p>
          <a:p>
            <a:pPr algn="just"/>
            <a:r>
              <a:rPr lang="en-US" sz="2400" b="1" dirty="0" smtClean="0"/>
              <a:t>Level-1 diagram</a:t>
            </a:r>
            <a:r>
              <a:rPr lang="en-US" sz="2400" dirty="0" smtClean="0"/>
              <a:t> results from decomposition of Level-0 diagram.</a:t>
            </a:r>
          </a:p>
          <a:p>
            <a:pPr algn="just"/>
            <a:r>
              <a:rPr lang="en-US" sz="2400" b="1" dirty="0" smtClean="0"/>
              <a:t>Level-n diagram </a:t>
            </a:r>
            <a:r>
              <a:rPr lang="en-US" sz="2400" dirty="0" smtClean="0"/>
              <a:t>is a DFD diagram that is the result of a </a:t>
            </a:r>
            <a:r>
              <a:rPr lang="en-US" sz="2400" b="1" i="1" dirty="0" smtClean="0"/>
              <a:t>n</a:t>
            </a:r>
            <a:r>
              <a:rPr lang="en-US" sz="2400" dirty="0" smtClean="0"/>
              <a:t> nested decompositions from a process on a level-0 diagram.</a:t>
            </a:r>
            <a:endParaRPr lang="en-US" sz="2400" b="1" dirty="0" smtClean="0"/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5779-B893-4A21-8ACC-0641B5B4E891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0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96963"/>
          </a:xfrm>
        </p:spPr>
        <p:txBody>
          <a:bodyPr/>
          <a:lstStyle/>
          <a:p>
            <a:pPr eaLnBrk="1" hangingPunct="1"/>
            <a:r>
              <a:rPr lang="en-US" dirty="0" smtClean="0"/>
              <a:t>Level-1 DFD</a:t>
            </a:r>
          </a:p>
        </p:txBody>
      </p:sp>
      <p:sp>
        <p:nvSpPr>
          <p:cNvPr id="23556" name="Date Placeholder 4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A42EEAB-DA22-4008-A2B4-751B61AAA7F5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DA96B12-39BB-422B-96EB-6D86579E2B28}" type="slidenum">
              <a:rPr lang="en-US">
                <a:latin typeface="Arial Black" panose="020B0A04020102020204" pitchFamily="34" charset="0"/>
              </a:rPr>
              <a:pPr eaLnBrk="1" hangingPunct="1"/>
              <a:t>20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3558" name="Text Box 3"/>
          <p:cNvSpPr txBox="1">
            <a:spLocks noChangeArrowheads="1"/>
          </p:cNvSpPr>
          <p:nvPr/>
        </p:nvSpPr>
        <p:spPr bwMode="auto">
          <a:xfrm>
            <a:off x="8153400" y="2270125"/>
            <a:ext cx="228600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Level-1 DFD shows the sub-processes of one of the processes in the Level-0 DFD.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This is a Level-1 DFD for Process 4.0.</a:t>
            </a:r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2362200" y="5486401"/>
            <a:ext cx="723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sz="2000"/>
              <a:t>Processes are labeled 4.1, 4.2, etc. These can be further decomposed in more primitive (lower-level) DFDs if necessary.</a:t>
            </a:r>
          </a:p>
        </p:txBody>
      </p:sp>
      <p:pic>
        <p:nvPicPr>
          <p:cNvPr id="23560" name="Picture 5" descr="FIG07_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4000"/>
            <a:ext cx="58674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5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200" dirty="0" smtClean="0">
                <a:latin typeface="+mn-lt"/>
              </a:rPr>
              <a:t>Level-</a:t>
            </a:r>
            <a:r>
              <a:rPr lang="en-US" sz="3200" i="1" dirty="0" smtClean="0">
                <a:latin typeface="+mn-lt"/>
              </a:rPr>
              <a:t>n</a:t>
            </a:r>
            <a:r>
              <a:rPr lang="en-US" sz="3200" dirty="0" smtClean="0">
                <a:latin typeface="+mn-lt"/>
              </a:rPr>
              <a:t> DFD</a:t>
            </a:r>
          </a:p>
        </p:txBody>
      </p:sp>
      <p:sp>
        <p:nvSpPr>
          <p:cNvPr id="24580" name="Date Placeholder 4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1817205-E1B5-48A7-9ABD-D8FC0741916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45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314274-2875-40FC-8D7D-524EBB987626}" type="slidenum">
              <a:rPr lang="en-US">
                <a:latin typeface="Arial Black" panose="020B0A04020102020204" pitchFamily="34" charset="0"/>
              </a:rPr>
              <a:pPr eaLnBrk="1" hangingPunct="1"/>
              <a:t>21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4582" name="Text Box 3"/>
          <p:cNvSpPr txBox="1">
            <a:spLocks noChangeArrowheads="1"/>
          </p:cNvSpPr>
          <p:nvPr/>
        </p:nvSpPr>
        <p:spPr bwMode="auto">
          <a:xfrm>
            <a:off x="8153400" y="2270125"/>
            <a:ext cx="220980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Level-</a:t>
            </a:r>
            <a:r>
              <a:rPr lang="en-US" i="1"/>
              <a:t>n</a:t>
            </a:r>
            <a:r>
              <a:rPr lang="en-US"/>
              <a:t> DFD shows the sub-processes of one of the processes in the Level </a:t>
            </a:r>
            <a:r>
              <a:rPr lang="en-US" i="1"/>
              <a:t>n-1</a:t>
            </a:r>
            <a:r>
              <a:rPr lang="en-US"/>
              <a:t> DFD.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This is a Level-2 DFD for Process 4.3.</a:t>
            </a:r>
          </a:p>
        </p:txBody>
      </p:sp>
      <p:sp>
        <p:nvSpPr>
          <p:cNvPr id="24583" name="Text Box 4"/>
          <p:cNvSpPr txBox="1">
            <a:spLocks noChangeArrowheads="1"/>
          </p:cNvSpPr>
          <p:nvPr/>
        </p:nvSpPr>
        <p:spPr bwMode="auto">
          <a:xfrm>
            <a:off x="2438400" y="5257801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sz="2000"/>
              <a:t>Processes are labeled 4.3.1, 4.3.2, etc. If this is the lowest level of the hierarchy, it is called a </a:t>
            </a:r>
            <a:r>
              <a:rPr lang="en-US" sz="2000" i="1"/>
              <a:t>primitive DFD.</a:t>
            </a:r>
          </a:p>
        </p:txBody>
      </p:sp>
      <p:pic>
        <p:nvPicPr>
          <p:cNvPr id="24584" name="Picture 5" descr="FIG07_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86000"/>
            <a:ext cx="5867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02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200" dirty="0" smtClean="0">
                <a:latin typeface="+mn-lt"/>
              </a:rPr>
              <a:t>Balancing DFDs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b="1" dirty="0"/>
              <a:t>Conservation Principle</a:t>
            </a:r>
            <a:r>
              <a:rPr lang="en-US" sz="2400" dirty="0"/>
              <a:t>: conserve inputs and outputs to a process at the next level of decomposition.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b="1" dirty="0"/>
              <a:t>Balancing: </a:t>
            </a:r>
            <a:r>
              <a:rPr lang="en-US" sz="2400" dirty="0"/>
              <a:t>conservation of inputs and outputs to a data flow diagram process when that process is decomposed to a lower level.</a:t>
            </a:r>
          </a:p>
        </p:txBody>
      </p:sp>
      <p:sp>
        <p:nvSpPr>
          <p:cNvPr id="25604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8777B7B-0A79-467D-8368-5D83A578B8C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560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FC22CCE-30C6-4CFA-A66A-6E3AC15DCED8}" type="slidenum">
              <a:rPr lang="en-US">
                <a:latin typeface="Arial Black" panose="020B0A04020102020204" pitchFamily="34" charset="0"/>
              </a:rPr>
              <a:pPr eaLnBrk="1" hangingPunct="1"/>
              <a:t>22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5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200" dirty="0" smtClean="0">
                <a:latin typeface="+mn-lt"/>
              </a:rPr>
              <a:t>Balancing DFDs (Cont.)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Balanced means: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/>
              <a:t>Number of inputs to lower level DFD equals number of inputs to associated process of higher-level DFD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/>
              <a:t>Number of outputs to lower level DFD equals number of outputs to associated process of higher-level DFD</a:t>
            </a:r>
          </a:p>
        </p:txBody>
      </p:sp>
      <p:sp>
        <p:nvSpPr>
          <p:cNvPr id="26628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B854EF-3F4E-4C2D-A522-13EFE8CDE264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64A4EA0-1E71-4639-8D8D-B55D96BCA794}" type="slidenum">
              <a:rPr lang="en-US">
                <a:latin typeface="Arial Black" panose="020B0A04020102020204" pitchFamily="34" charset="0"/>
              </a:rPr>
              <a:pPr eaLnBrk="1" hangingPunct="1"/>
              <a:t>23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3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4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dirty="0" smtClean="0">
                <a:latin typeface="+mn-lt"/>
              </a:rPr>
              <a:t>Balancing DFDs (Cont.)</a:t>
            </a:r>
          </a:p>
        </p:txBody>
      </p:sp>
      <p:sp>
        <p:nvSpPr>
          <p:cNvPr id="27652" name="Date Placeholder 4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DEC7BAF-8C81-45D9-8DE7-4C0FAC07F74E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765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5DF54B-7926-4D58-B8FA-853CDB2BB1FB}" type="slidenum">
              <a:rPr lang="en-US">
                <a:latin typeface="Arial Black" panose="020B0A04020102020204" pitchFamily="34" charset="0"/>
              </a:rPr>
              <a:pPr eaLnBrk="1" hangingPunct="1"/>
              <a:t>24</a:t>
            </a:fld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27653" name="Picture 2" descr="FIG07_1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47801"/>
            <a:ext cx="64770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3" descr="FIG07_1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05200"/>
            <a:ext cx="6477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Text Box 5"/>
          <p:cNvSpPr txBox="1">
            <a:spLocks noChangeArrowheads="1"/>
          </p:cNvSpPr>
          <p:nvPr/>
        </p:nvSpPr>
        <p:spPr bwMode="auto">
          <a:xfrm>
            <a:off x="8763000" y="2574926"/>
            <a:ext cx="18288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This is unbalanced because the process of the context diagram has only one input but the Level-0 diagram has two inputs.</a:t>
            </a:r>
          </a:p>
        </p:txBody>
      </p:sp>
      <p:sp>
        <p:nvSpPr>
          <p:cNvPr id="27657" name="Text Box 6"/>
          <p:cNvSpPr txBox="1">
            <a:spLocks noChangeArrowheads="1"/>
          </p:cNvSpPr>
          <p:nvPr/>
        </p:nvSpPr>
        <p:spPr bwMode="auto">
          <a:xfrm>
            <a:off x="2419350" y="2579688"/>
            <a:ext cx="10096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1 input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1 output</a:t>
            </a:r>
          </a:p>
        </p:txBody>
      </p:sp>
      <p:sp>
        <p:nvSpPr>
          <p:cNvPr id="27658" name="Text Box 7"/>
          <p:cNvSpPr txBox="1">
            <a:spLocks noChangeArrowheads="1"/>
          </p:cNvSpPr>
          <p:nvPr/>
        </p:nvSpPr>
        <p:spPr bwMode="auto">
          <a:xfrm>
            <a:off x="2438400" y="4637088"/>
            <a:ext cx="10096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2 inputs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1 output</a:t>
            </a:r>
          </a:p>
        </p:txBody>
      </p:sp>
    </p:spTree>
    <p:extLst>
      <p:ext uri="{BB962C8B-B14F-4D97-AF65-F5344CB8AC3E}">
        <p14:creationId xmlns:p14="http://schemas.microsoft.com/office/powerpoint/2010/main" val="93662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200" dirty="0" smtClean="0">
                <a:latin typeface="+mn-lt"/>
              </a:rPr>
              <a:t>Balancing DFDs (Cont.)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b="1" dirty="0"/>
              <a:t>Data flow splitting </a:t>
            </a:r>
            <a:r>
              <a:rPr lang="en-US" sz="2400" dirty="0"/>
              <a:t>is when a</a:t>
            </a:r>
            <a:r>
              <a:rPr lang="en-US" sz="2400" dirty="0" smtClean="0"/>
              <a:t> composite data flow at a higher level is split and different parts go to different processes in the lower level DFD.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 smtClean="0"/>
              <a:t>The DFD remains balanced because the same data is involved, but split into two parts.</a:t>
            </a:r>
          </a:p>
        </p:txBody>
      </p:sp>
      <p:sp>
        <p:nvSpPr>
          <p:cNvPr id="28676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DC648D-55A5-49F7-8553-2CA778BC41DD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8E5976-8897-4610-9374-1342F8166539}" type="slidenum">
              <a:rPr lang="en-US">
                <a:latin typeface="Arial Black" panose="020B0A04020102020204" pitchFamily="34" charset="0"/>
              </a:rPr>
              <a:pPr eaLnBrk="1" hangingPunct="1"/>
              <a:t>25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6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Balancing DFDs (Cont.)</a:t>
            </a:r>
          </a:p>
        </p:txBody>
      </p:sp>
      <p:pic>
        <p:nvPicPr>
          <p:cNvPr id="29702" name="Picture 5" descr="FIG07_11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1600200"/>
            <a:ext cx="6705600" cy="2154238"/>
          </a:xfrm>
          <a:noFill/>
        </p:spPr>
      </p:pic>
      <p:sp>
        <p:nvSpPr>
          <p:cNvPr id="29701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5304F6-0B01-4D39-B81A-AFA1B2225695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3BA4A8B-8C4B-4D8E-A5D7-BB5DDE234506}" type="slidenum">
              <a:rPr lang="en-US">
                <a:latin typeface="Arial Black" panose="020B0A04020102020204" pitchFamily="34" charset="0"/>
              </a:rPr>
              <a:pPr eaLnBrk="1" hangingPunct="1"/>
              <a:t>26</a:t>
            </a:fld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29703" name="Picture 6" descr="FIG07_11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10000"/>
            <a:ext cx="5334000" cy="271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545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 smtClean="0"/>
              <a:t>Four Different Types of DFDs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/>
              <a:t>Current Physical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/>
              <a:t>Process labels identify technology (people or systems) used to process the data.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/>
              <a:t>Data flows and data stores identify actual name of the physical media.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/>
              <a:t>Current Logical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/>
              <a:t>Physical aspects of system are removed as much as possible.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/>
              <a:t>Current system is reduced to data and processes that transform them.</a:t>
            </a:r>
          </a:p>
        </p:txBody>
      </p:sp>
      <p:sp>
        <p:nvSpPr>
          <p:cNvPr id="31748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F62D71-11CC-4CDE-8E85-5B140574B19C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BC4644-99F2-452E-BF6E-46E5DD4991F9}" type="slidenum">
              <a:rPr lang="en-US">
                <a:latin typeface="Arial Black" panose="020B0A04020102020204" pitchFamily="34" charset="0"/>
              </a:rPr>
              <a:pPr eaLnBrk="1" hangingPunct="1"/>
              <a:t>27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8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latin typeface="+mn-lt"/>
              </a:rPr>
              <a:t>Four Different Types of DFDs (Cont.)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altLang="en-US" sz="2400" b="1" dirty="0" smtClean="0"/>
              <a:t>New Logical</a:t>
            </a:r>
          </a:p>
          <a:p>
            <a:pPr lvl="1" algn="just" eaLnBrk="1" hangingPunct="1"/>
            <a:r>
              <a:rPr lang="en-US" altLang="en-US" dirty="0" smtClean="0"/>
              <a:t>Includes additional functions.</a:t>
            </a:r>
          </a:p>
          <a:p>
            <a:pPr lvl="1" algn="just" eaLnBrk="1" hangingPunct="1"/>
            <a:r>
              <a:rPr lang="en-US" altLang="en-US" dirty="0" smtClean="0"/>
              <a:t>Obsolete functions are removed.</a:t>
            </a:r>
          </a:p>
          <a:p>
            <a:pPr lvl="1" algn="just" eaLnBrk="1" hangingPunct="1"/>
            <a:r>
              <a:rPr lang="en-US" altLang="en-US" dirty="0" smtClean="0"/>
              <a:t>Inefficient data flows are reorganized.</a:t>
            </a:r>
          </a:p>
          <a:p>
            <a:pPr algn="just" eaLnBrk="1" hangingPunct="1"/>
            <a:r>
              <a:rPr lang="en-US" altLang="en-US" sz="2400" b="1" dirty="0" smtClean="0"/>
              <a:t>New Physical</a:t>
            </a:r>
          </a:p>
          <a:p>
            <a:pPr lvl="1" algn="just" eaLnBrk="1" hangingPunct="1"/>
            <a:r>
              <a:rPr lang="en-US" altLang="en-US" dirty="0" smtClean="0"/>
              <a:t>Represents the physical implementation of the new system.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sz="2400" dirty="0" smtClean="0"/>
          </a:p>
          <a:p>
            <a:pPr algn="just" eaLnBrk="1" hangingPunct="1"/>
            <a:endParaRPr lang="en-US" altLang="en-US" sz="2400" dirty="0" smtClean="0"/>
          </a:p>
        </p:txBody>
      </p:sp>
      <p:sp>
        <p:nvSpPr>
          <p:cNvPr id="32772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A6D96B-9459-401F-8C94-80CCA9D19061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277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02F1CA-CACF-42BE-A025-06CB47F1E132}" type="slidenum">
              <a:rPr lang="en-US">
                <a:latin typeface="Arial Black" panose="020B0A04020102020204" pitchFamily="34" charset="0"/>
              </a:rPr>
              <a:pPr eaLnBrk="1" hangingPunct="1"/>
              <a:t>28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60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 smtClean="0">
                <a:latin typeface="+mn-lt"/>
              </a:rPr>
              <a:t>Guidelines for Drawing DFDs (Cont.)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 smtClean="0"/>
              <a:t>Completeness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DFD must include all components necessary for system.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Each component must be fully described in the project dictionary or CASE repository.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 smtClean="0"/>
              <a:t>Consistency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The extent to which information contained on one level of a set of nested DFDs is also included on other levels.</a:t>
            </a:r>
          </a:p>
        </p:txBody>
      </p:sp>
      <p:sp>
        <p:nvSpPr>
          <p:cNvPr id="33796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1E1DCC-8478-43A8-9FCD-7DCD635E283F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6442EF-63ED-4851-8376-F10A780ABD20}" type="slidenum">
              <a:rPr lang="en-US">
                <a:latin typeface="Arial Black" panose="020B0A04020102020204" pitchFamily="34" charset="0"/>
              </a:rPr>
              <a:pPr eaLnBrk="1" hangingPunct="1"/>
              <a:t>29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24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latin typeface="+mn-lt"/>
              </a:rPr>
              <a:t>Guidelines for Drawing DFDs (Cont.)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 smtClean="0"/>
              <a:t>Timing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Time is not represented well on DFDs.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Best to draw DFDs as if the system has never started and will never stop.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 smtClean="0"/>
              <a:t>Iterative Development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 smtClean="0"/>
              <a:t>Analyst should expect to redraw diagram several times before reaching the closest approximation to the system being modeled.</a:t>
            </a:r>
          </a:p>
        </p:txBody>
      </p:sp>
      <p:sp>
        <p:nvSpPr>
          <p:cNvPr id="34820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FC6A2BB-750D-4AD5-9406-41660579BAF3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D8C8250-B0B0-40D9-B43D-FEF8D55A20A8}" type="slidenum">
              <a:rPr lang="en-US">
                <a:latin typeface="Arial Black" panose="020B0A04020102020204" pitchFamily="34" charset="0"/>
              </a:rPr>
              <a:pPr eaLnBrk="1" hangingPunct="1"/>
              <a:t>30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66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latin typeface="+mn-lt"/>
              </a:rPr>
              <a:t>Guidelines for Drawing DFDs (Cont.)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altLang="en-US" sz="2400" b="1" dirty="0" smtClean="0"/>
              <a:t>Primitive DFDs</a:t>
            </a:r>
          </a:p>
          <a:p>
            <a:pPr lvl="1" algn="just" eaLnBrk="1" hangingPunct="1"/>
            <a:r>
              <a:rPr lang="en-US" altLang="en-US" dirty="0" smtClean="0"/>
              <a:t>Lowest logical level of decomposition.</a:t>
            </a:r>
          </a:p>
          <a:p>
            <a:pPr lvl="1" algn="just" eaLnBrk="1" hangingPunct="1"/>
            <a:r>
              <a:rPr lang="en-US" altLang="en-US" dirty="0" smtClean="0"/>
              <a:t>Decision has to be made when to stop decomposition.</a:t>
            </a:r>
          </a:p>
        </p:txBody>
      </p:sp>
      <p:sp>
        <p:nvSpPr>
          <p:cNvPr id="35844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54AD0D-5F4B-467A-94DE-6107763DFF5D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88ED4B-7837-4993-925D-0876C4F27D11}" type="slidenum">
              <a:rPr lang="en-US">
                <a:latin typeface="Arial Black" panose="020B0A04020102020204" pitchFamily="34" charset="0"/>
              </a:rPr>
              <a:pPr eaLnBrk="1" hangingPunct="1"/>
              <a:t>31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24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>
                <a:latin typeface="+mn-lt"/>
              </a:rPr>
              <a:t>Guidelines for Drawing DFDs (Cont.)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altLang="en-US" sz="2400" dirty="0"/>
              <a:t>Rules for stopping decomposition</a:t>
            </a:r>
          </a:p>
          <a:p>
            <a:pPr lvl="1" algn="just" eaLnBrk="1" hangingPunct="1"/>
            <a:r>
              <a:rPr lang="en-US" altLang="en-US" dirty="0"/>
              <a:t>When each process has been reduced to a single decision, calculation or database operation.</a:t>
            </a:r>
          </a:p>
          <a:p>
            <a:pPr lvl="1" algn="just" eaLnBrk="1" hangingPunct="1"/>
            <a:r>
              <a:rPr lang="en-US" altLang="en-US" dirty="0"/>
              <a:t>When each data store represents data about a single entity.</a:t>
            </a:r>
          </a:p>
        </p:txBody>
      </p:sp>
      <p:sp>
        <p:nvSpPr>
          <p:cNvPr id="36868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2167AB-ACFC-4557-92A2-F6B68596045C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68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946AF2-5F63-45B4-A087-0688E21DB0A3}" type="slidenum">
              <a:rPr lang="en-US">
                <a:latin typeface="Arial Black" panose="020B0A04020102020204" pitchFamily="34" charset="0"/>
              </a:rPr>
              <a:pPr eaLnBrk="1" hangingPunct="1"/>
              <a:t>32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9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Guidelines for Drawing DFDs (Cont.)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8229600" cy="4114800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en-US" sz="2400" dirty="0"/>
              <a:t>When the system user does not care to see any more detail.</a:t>
            </a:r>
          </a:p>
          <a:p>
            <a:pPr lvl="1" eaLnBrk="1" hangingPunct="1"/>
            <a:r>
              <a:rPr lang="en-US" altLang="en-US" sz="2400" dirty="0"/>
              <a:t>When every data flow does not need to be split further to show that data are handled in various ways.</a:t>
            </a:r>
          </a:p>
        </p:txBody>
      </p:sp>
      <p:sp>
        <p:nvSpPr>
          <p:cNvPr id="37892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C2C8EB-D698-4546-BFD0-B218067C332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C2EDF9-C0C9-4B60-A57F-907F9C4AA647}" type="slidenum">
              <a:rPr lang="en-US">
                <a:latin typeface="Arial Black" panose="020B0A04020102020204" pitchFamily="34" charset="0"/>
              </a:rPr>
              <a:pPr eaLnBrk="1" hangingPunct="1"/>
              <a:t>33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1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Guidelines for Drawing DFDs (Cont.)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8229600" cy="4114800"/>
          </a:xfrm>
        </p:spPr>
        <p:txBody>
          <a:bodyPr/>
          <a:lstStyle/>
          <a:p>
            <a:pPr lvl="1" eaLnBrk="1" hangingPunct="1"/>
            <a:r>
              <a:rPr lang="en-US" altLang="en-US" sz="3200"/>
              <a:t>When you believe that you have shown each business form or transaction, online display and report as a single data flow.</a:t>
            </a:r>
          </a:p>
          <a:p>
            <a:pPr lvl="1" eaLnBrk="1" hangingPunct="1"/>
            <a:r>
              <a:rPr lang="en-US" altLang="en-US" sz="3200"/>
              <a:t>When you believe that there is a separate process for each choice on all lowest-level menu options.</a:t>
            </a:r>
          </a:p>
        </p:txBody>
      </p:sp>
      <p:sp>
        <p:nvSpPr>
          <p:cNvPr id="38916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4D6061-2828-4A24-B7CE-9D9DE22741D6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C09429-EF51-4612-A911-8C196F2601E8}" type="slidenum">
              <a:rPr lang="en-US">
                <a:latin typeface="Arial Black" panose="020B0A04020102020204" pitchFamily="34" charset="0"/>
              </a:rPr>
              <a:pPr eaLnBrk="1" hangingPunct="1"/>
              <a:t>34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23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Using DFDs as Analysis Tools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Gap Analysis </a:t>
            </a:r>
            <a:r>
              <a:rPr lang="en-US" altLang="en-US" smtClean="0"/>
              <a:t>is the process of discovering discrepancies between two or more sets of data flow diagrams or discrepancies within a single DFD.</a:t>
            </a:r>
          </a:p>
          <a:p>
            <a:pPr eaLnBrk="1" hangingPunct="1"/>
            <a:r>
              <a:rPr lang="en-US" altLang="en-US" smtClean="0"/>
              <a:t>Inefficiencies in a system can often be identified through DFDs.</a:t>
            </a:r>
          </a:p>
        </p:txBody>
      </p:sp>
      <p:sp>
        <p:nvSpPr>
          <p:cNvPr id="39940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FC9C20-F625-4789-BBA2-AA2DBD01B8C0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15493E-41EB-4AC0-AC96-3A3D00F43E38}" type="slidenum">
              <a:rPr lang="en-US">
                <a:latin typeface="Arial Black" panose="020B0A04020102020204" pitchFamily="34" charset="0"/>
              </a:rPr>
              <a:pPr eaLnBrk="1" hangingPunct="1"/>
              <a:t>35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03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Logic Modeling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flow diagrams do not show the logic inside the processes.</a:t>
            </a:r>
          </a:p>
          <a:p>
            <a:pPr eaLnBrk="1" hangingPunct="1"/>
            <a:r>
              <a:rPr lang="en-US" altLang="en-US" smtClean="0"/>
              <a:t>Logic modeling involves representing internal structure and functionality of processes depicted on a DFD.</a:t>
            </a:r>
          </a:p>
          <a:p>
            <a:pPr eaLnBrk="1" hangingPunct="1"/>
            <a:r>
              <a:rPr lang="en-US" altLang="en-US" smtClean="0"/>
              <a:t>Logic modeling can also be used to show when processes on a DFD occur.</a:t>
            </a:r>
          </a:p>
        </p:txBody>
      </p:sp>
      <p:sp>
        <p:nvSpPr>
          <p:cNvPr id="5124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4A196C9-0C57-4D41-9AB6-AB9A3802A67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5C4622-81E3-4CF0-84BC-888FF169CBBD}" type="slidenum">
              <a:rPr lang="en-US">
                <a:latin typeface="Arial Black" panose="020B0A04020102020204" pitchFamily="34" charset="0"/>
              </a:rPr>
              <a:pPr eaLnBrk="1" hangingPunct="1"/>
              <a:t>36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Modeling a System’s Logic</a:t>
            </a:r>
          </a:p>
        </p:txBody>
      </p:sp>
      <p:pic>
        <p:nvPicPr>
          <p:cNvPr id="6150" name="Picture 2" descr="FIG08_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1600200"/>
            <a:ext cx="6096000" cy="4381500"/>
          </a:xfrm>
          <a:noFill/>
        </p:spPr>
      </p:pic>
      <p:sp>
        <p:nvSpPr>
          <p:cNvPr id="6149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E36C17-E9FF-41ED-9B5A-6F44556E1279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614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614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C26600-8A95-4F83-9CE5-BF5AD6D41E8C}" type="slidenum">
              <a:rPr lang="en-US">
                <a:latin typeface="Arial Black" panose="020B0A04020102020204" pitchFamily="34" charset="0"/>
              </a:rPr>
              <a:pPr eaLnBrk="1" hangingPunct="1"/>
              <a:t>37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2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Deliverables and Outcomes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Structured English representation of process logic.</a:t>
            </a:r>
          </a:p>
          <a:p>
            <a:pPr eaLnBrk="1" hangingPunct="1"/>
            <a:r>
              <a:rPr lang="en-US" altLang="en-US" smtClean="0"/>
              <a:t>Decision Tables representation.</a:t>
            </a:r>
          </a:p>
          <a:p>
            <a:pPr eaLnBrk="1" hangingPunct="1"/>
            <a:r>
              <a:rPr lang="en-US" altLang="en-US" smtClean="0"/>
              <a:t>Sequence diagram.</a:t>
            </a:r>
          </a:p>
          <a:p>
            <a:pPr eaLnBrk="1" hangingPunct="1"/>
            <a:r>
              <a:rPr lang="en-US" altLang="en-US" smtClean="0"/>
              <a:t>Activity diagram.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7172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D32158-C629-4799-AF2B-75D523383695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717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25E996-9635-4F45-83C1-1F0090BC8CDC}" type="slidenum">
              <a:rPr lang="en-US">
                <a:latin typeface="Arial Black" panose="020B0A04020102020204" pitchFamily="34" charset="0"/>
              </a:rPr>
              <a:pPr eaLnBrk="1" hangingPunct="1"/>
              <a:t>38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1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Structured English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Structured English</a:t>
            </a:r>
            <a:r>
              <a:rPr lang="en-US" altLang="en-US" smtClean="0"/>
              <a:t>: modified form of English language used to specify the logic of information system processes.</a:t>
            </a:r>
          </a:p>
          <a:p>
            <a:pPr eaLnBrk="1" hangingPunct="1"/>
            <a:r>
              <a:rPr lang="en-US" altLang="en-US" smtClean="0"/>
              <a:t>No single standard.</a:t>
            </a:r>
          </a:p>
          <a:p>
            <a:pPr eaLnBrk="1" hangingPunct="1"/>
            <a:r>
              <a:rPr lang="en-US" altLang="en-US" smtClean="0"/>
              <a:t>Typically relies on action verbs and noun phrases and contains no adjectives or No specific standards.</a:t>
            </a:r>
          </a:p>
        </p:txBody>
      </p:sp>
      <p:sp>
        <p:nvSpPr>
          <p:cNvPr id="8196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6F3379E-E866-4224-89F8-0F4224D20A22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A6AE4C-D67E-40EB-A3FA-93DB9A17BA8B}" type="slidenum">
              <a:rPr lang="en-US">
                <a:latin typeface="Arial Black" panose="020B0A04020102020204" pitchFamily="34" charset="0"/>
              </a:rPr>
              <a:pPr eaLnBrk="1" hangingPunct="1"/>
              <a:t>39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1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Modeling Logic with Structured English (Cont.)</a:t>
            </a:r>
          </a:p>
        </p:txBody>
      </p:sp>
      <p:pic>
        <p:nvPicPr>
          <p:cNvPr id="9222" name="Picture 2" descr="FIG08_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1264" y="1981200"/>
            <a:ext cx="7229475" cy="3886200"/>
          </a:xfrm>
          <a:noFill/>
        </p:spPr>
      </p:pic>
      <p:sp>
        <p:nvSpPr>
          <p:cNvPr id="9221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701FD8-B397-4B1D-AE04-1C06C7F46632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921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9E18A3-89BE-4077-9BA3-ACD23F156090}" type="slidenum">
              <a:rPr lang="en-US">
                <a:latin typeface="Arial Black" panose="020B0A04020102020204" pitchFamily="34" charset="0"/>
              </a:rPr>
              <a:pPr eaLnBrk="1" hangingPunct="1"/>
              <a:t>40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97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Modeling Logic with Structured English (Cont.)</a:t>
            </a:r>
          </a:p>
        </p:txBody>
      </p:sp>
      <p:pic>
        <p:nvPicPr>
          <p:cNvPr id="10246" name="Picture 3" descr="FIG08_0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936" y="2160588"/>
            <a:ext cx="2788165" cy="3881437"/>
          </a:xfrm>
          <a:noFill/>
        </p:spPr>
      </p:pic>
      <p:sp>
        <p:nvSpPr>
          <p:cNvPr id="10245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4364BB-B202-42F7-BF8C-6D08FADA900F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024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02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65CA24-E62D-452F-88EB-86FEC45601CE}" type="slidenum">
              <a:rPr lang="en-US">
                <a:latin typeface="Arial Black" panose="020B0A04020102020204" pitchFamily="34" charset="0"/>
              </a:rPr>
              <a:pPr eaLnBrk="1" hangingPunct="1"/>
              <a:t>41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0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Decision Tables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Decision table</a:t>
            </a:r>
            <a:r>
              <a:rPr lang="en-US" altLang="en-US" smtClean="0"/>
              <a:t>: a matrix representation of the logic of a decision which specifies the possible conditions for the decision and the resulting actions.</a:t>
            </a:r>
          </a:p>
          <a:p>
            <a:pPr eaLnBrk="1" hangingPunct="1"/>
            <a:r>
              <a:rPr lang="en-US" altLang="en-US" smtClean="0"/>
              <a:t>Best used for complicated decision logic.</a:t>
            </a:r>
          </a:p>
        </p:txBody>
      </p:sp>
      <p:sp>
        <p:nvSpPr>
          <p:cNvPr id="11268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F3D80B-F9DD-451A-9B3D-53FB82370F48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692782-6272-4CF2-807C-F9BC46B60A38}" type="slidenum">
              <a:rPr lang="en-US">
                <a:latin typeface="Arial Black" panose="020B0A04020102020204" pitchFamily="34" charset="0"/>
              </a:rPr>
              <a:pPr eaLnBrk="1" hangingPunct="1"/>
              <a:t>42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89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Decision Tables (Cont.)</a:t>
            </a:r>
            <a:endParaRPr lang="en-US" altLang="en-US" sz="2400">
              <a:solidFill>
                <a:srgbClr val="000000"/>
              </a:solidFill>
              <a:latin typeface="Geneva" charset="0"/>
            </a:endParaRPr>
          </a:p>
        </p:txBody>
      </p:sp>
      <p:sp>
        <p:nvSpPr>
          <p:cNvPr id="12292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CF865B-4652-4B7D-872E-9A1C3AAA2512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A97611-BA53-4A3F-9452-27CAE25C2F7D}" type="slidenum">
              <a:rPr lang="en-US">
                <a:latin typeface="Arial Black" panose="020B0A04020102020204" pitchFamily="34" charset="0"/>
              </a:rPr>
              <a:pPr eaLnBrk="1" hangingPunct="1"/>
              <a:t>43</a:t>
            </a:fld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12293" name="Picture 2" descr="FIG08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81201"/>
            <a:ext cx="762000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2362201" y="5607050"/>
            <a:ext cx="664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8571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Decision Tables (Cont.)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Condition stubs</a:t>
            </a:r>
            <a:r>
              <a:rPr lang="en-US" altLang="en-US" smtClean="0"/>
              <a:t>: that part of a decision table that lists the conditions relevant to the decision.</a:t>
            </a:r>
          </a:p>
          <a:p>
            <a:pPr eaLnBrk="1" hangingPunct="1"/>
            <a:r>
              <a:rPr lang="en-US" altLang="en-US" b="1" smtClean="0"/>
              <a:t>Action stubs</a:t>
            </a:r>
            <a:r>
              <a:rPr lang="en-US" altLang="en-US" smtClean="0"/>
              <a:t>: that part of a decision table that lists the actions that result for a given set of conditions.</a:t>
            </a:r>
          </a:p>
        </p:txBody>
      </p:sp>
      <p:sp>
        <p:nvSpPr>
          <p:cNvPr id="13316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9714CE2-7A87-48B4-B243-CB4B7E2AD45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95DB57-959D-4B55-B6DD-3B7F1D1BFBF7}" type="slidenum">
              <a:rPr lang="en-US">
                <a:latin typeface="Arial Black" panose="020B0A04020102020204" pitchFamily="34" charset="0"/>
              </a:rPr>
              <a:pPr eaLnBrk="1" hangingPunct="1"/>
              <a:t>44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Decision Tables (Cont.)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Rules</a:t>
            </a:r>
            <a:r>
              <a:rPr lang="en-US" altLang="en-US" smtClean="0"/>
              <a:t>: that part of a decision table that  specifies which actions are to be followed for a given set of condition.</a:t>
            </a:r>
          </a:p>
          <a:p>
            <a:pPr eaLnBrk="1" hangingPunct="1"/>
            <a:r>
              <a:rPr lang="en-US" altLang="en-US" b="1" smtClean="0"/>
              <a:t>Indifferent condition</a:t>
            </a:r>
            <a:r>
              <a:rPr lang="en-US" altLang="en-US" smtClean="0"/>
              <a:t>: in a decision table, a condition whose value does not affect which actions are taken for two or more rules.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4340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DDD8856-3256-467A-9990-4A8A6D650D57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559D4A7-5CA1-44D7-BCA6-0ACF7003AEF9}" type="slidenum">
              <a:rPr lang="en-US">
                <a:latin typeface="Arial Black" panose="020B0A04020102020204" pitchFamily="34" charset="0"/>
              </a:rPr>
              <a:pPr eaLnBrk="1" hangingPunct="1"/>
              <a:t>45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5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Modeling Logic with Decision Tables (Cont.)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Procedure for Creating Decision Tables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Name the condition and the values that each condition can assume.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Name all possible actions that can occur.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List all possible rules.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Define the actions for each rule.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Simplify the table.</a:t>
            </a:r>
          </a:p>
        </p:txBody>
      </p:sp>
      <p:sp>
        <p:nvSpPr>
          <p:cNvPr id="15364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95D2B2-BE43-4D23-8D40-99D24293600C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084320-A49A-44D8-ADDB-F5D6ED163DE5}" type="slidenum">
              <a:rPr lang="en-US">
                <a:latin typeface="Arial Black" panose="020B0A04020102020204" pitchFamily="34" charset="0"/>
              </a:rPr>
              <a:pPr eaLnBrk="1" hangingPunct="1"/>
              <a:t>46</a:t>
            </a:fld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0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Modeling Logic with Decision Tables (Cont.)</a:t>
            </a:r>
            <a:endParaRPr lang="en-US" altLang="en-US" sz="4000">
              <a:solidFill>
                <a:srgbClr val="000000"/>
              </a:solidFill>
              <a:latin typeface="Geneva" charset="0"/>
            </a:endParaRPr>
          </a:p>
        </p:txBody>
      </p:sp>
      <p:sp>
        <p:nvSpPr>
          <p:cNvPr id="16388" name="Date Placeholder 5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78228A-282B-46C3-8A72-BA7B80B3DD75}" type="datetime1">
              <a:rPr lang="en-US" smtClean="0"/>
              <a:t>6/15/2022</a:t>
            </a:fld>
            <a:endParaRPr lang="en-US" smtClean="0"/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D09260-15C2-476B-A75C-E120D31106F9}" type="slidenum">
              <a:rPr lang="en-US">
                <a:latin typeface="Arial Black" panose="020B0A04020102020204" pitchFamily="34" charset="0"/>
              </a:rPr>
              <a:pPr eaLnBrk="1" hangingPunct="1"/>
              <a:t>47</a:t>
            </a:fld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16390" name="Picture 4" descr="FIG08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752601"/>
            <a:ext cx="762000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99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Deciding Among Structured English and Decision Tables</a:t>
            </a:r>
          </a:p>
        </p:txBody>
      </p:sp>
      <p:graphicFrame>
        <p:nvGraphicFramePr>
          <p:cNvPr id="325635" name="Group 3"/>
          <p:cNvGraphicFramePr>
            <a:graphicFrameLocks noGrp="1"/>
          </p:cNvGraphicFramePr>
          <p:nvPr>
            <p:ph type="tbl" idx="1"/>
          </p:nvPr>
        </p:nvGraphicFramePr>
        <p:xfrm>
          <a:off x="2438400" y="1828800"/>
          <a:ext cx="6819900" cy="4562694"/>
        </p:xfrm>
        <a:graphic>
          <a:graphicData uri="http://schemas.openxmlformats.org/drawingml/2006/table">
            <a:tbl>
              <a:tblPr/>
              <a:tblGrid>
                <a:gridCol w="2273300"/>
                <a:gridCol w="2273300"/>
                <a:gridCol w="2273300"/>
              </a:tblGrid>
              <a:tr h="9448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Criteria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Structured English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Decision Tables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7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Determining Conditions and Actions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Second 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Third 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Transforming Conditions and Actions into Sequence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Third 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013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Checking Consistency and Completeness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Third 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  <a:endParaRPr lang="en-US" smtClean="0"/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705188-BED8-495F-B6B1-E968A8B9447E}" type="slidenum">
              <a:rPr lang="en-US">
                <a:latin typeface="Arial Black" panose="020B0A04020102020204" pitchFamily="34" charset="0"/>
              </a:rPr>
              <a:pPr eaLnBrk="1" hangingPunct="1"/>
              <a:t>48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7412" name="Date Placeholder 5"/>
          <p:cNvSpPr>
            <a:spLocks noGrp="1"/>
          </p:cNvSpPr>
          <p:nvPr>
            <p:ph type="dt" sz="half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8BB1698-8C77-48DB-B7A2-A2A4CEED2790}" type="datetime1">
              <a:rPr lang="en-US" smtClean="0"/>
              <a:t>6/15/2022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45870716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Decision Tree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decision tree is a support tool with a tree-like structure that models probable outcomes, cost of resources, utilities, and possible consequences. Decision trees provide a way to present </a:t>
            </a:r>
            <a:r>
              <a:rPr lang="en-US" sz="2400" dirty="0">
                <a:hlinkClick r:id="rId2"/>
              </a:rPr>
              <a:t>algorithms</a:t>
            </a:r>
            <a:r>
              <a:rPr lang="en-US" sz="2400" dirty="0"/>
              <a:t> with conditional control statements. They include branches that represent decision-making steps that can lead to a favorable result.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3CF8-68BE-434F-8FD7-DF03469CE2D5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920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Contd.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754" y="1453452"/>
            <a:ext cx="5975318" cy="434994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35DAD-AAA1-4154-B54A-0DB90257EA54}" type="datetime1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406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Pseudo code</a:t>
            </a:r>
            <a:endParaRPr lang="en-US" sz="32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16" y="2230233"/>
            <a:ext cx="5475330" cy="351129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0AEB-0A9F-4E31-BCC4-D2C68C160A11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98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Contd.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0AEB-0A9F-4E31-BCC4-D2C68C160A11}" type="datetime1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6E14-29B0-4711-8A4C-5D29B3D26AAF}" type="slidenum">
              <a:rPr lang="en-US" smtClean="0"/>
              <a:t>52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21408"/>
            <a:ext cx="7165710" cy="3919953"/>
          </a:xfrm>
        </p:spPr>
      </p:pic>
    </p:spTree>
    <p:extLst>
      <p:ext uri="{BB962C8B-B14F-4D97-AF65-F5344CB8AC3E}">
        <p14:creationId xmlns:p14="http://schemas.microsoft.com/office/powerpoint/2010/main" val="20788515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1867</Words>
  <Application>Microsoft Office PowerPoint</Application>
  <PresentationFormat>Widescreen</PresentationFormat>
  <Paragraphs>356</Paragraphs>
  <Slides>52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Arial Black</vt:lpstr>
      <vt:lpstr>Calibri</vt:lpstr>
      <vt:lpstr>Geneva</vt:lpstr>
      <vt:lpstr>Tahoma</vt:lpstr>
      <vt:lpstr>Trebuchet MS</vt:lpstr>
      <vt:lpstr>Wingdings</vt:lpstr>
      <vt:lpstr>Wingdings 3</vt:lpstr>
      <vt:lpstr>Facet</vt:lpstr>
      <vt:lpstr>Structuring System Process Requirements</vt:lpstr>
      <vt:lpstr>Process Modeling</vt:lpstr>
      <vt:lpstr>Process Modeling (Cont.)</vt:lpstr>
      <vt:lpstr>Process Modeling (Cont.)</vt:lpstr>
      <vt:lpstr>Deliverables and Outcomes</vt:lpstr>
      <vt:lpstr>Deliverables and Outcomes (Cont.)</vt:lpstr>
      <vt:lpstr>Data Flow Diagramming Mechanics</vt:lpstr>
      <vt:lpstr>Data Flow Diagramming Mechanics (Cont.)</vt:lpstr>
      <vt:lpstr>Definitions and Symbols</vt:lpstr>
      <vt:lpstr>Definitions and Symbols (Cont.)</vt:lpstr>
      <vt:lpstr>Definitions and Symbols (Cont.)</vt:lpstr>
      <vt:lpstr>Developing DFDs</vt:lpstr>
      <vt:lpstr>Context Diagram</vt:lpstr>
      <vt:lpstr>Developing DFDs (Cont.)</vt:lpstr>
      <vt:lpstr>Level-0 Diagram</vt:lpstr>
      <vt:lpstr>Data Flow Diagramming Rules</vt:lpstr>
      <vt:lpstr>Data Flow Diagramming Rules (Cont.)</vt:lpstr>
      <vt:lpstr>Decomposition of DFDs</vt:lpstr>
      <vt:lpstr>Decomposition of DFDs (Cont.)</vt:lpstr>
      <vt:lpstr>Level-1 DFD</vt:lpstr>
      <vt:lpstr>Level-n DFD</vt:lpstr>
      <vt:lpstr>Balancing DFDs</vt:lpstr>
      <vt:lpstr>Balancing DFDs (Cont.)</vt:lpstr>
      <vt:lpstr>Balancing DFDs (Cont.)</vt:lpstr>
      <vt:lpstr>Balancing DFDs (Cont.)</vt:lpstr>
      <vt:lpstr>Balancing DFDs (Cont.)</vt:lpstr>
      <vt:lpstr>Four Different Types of DFDs</vt:lpstr>
      <vt:lpstr>Four Different Types of DFDs (Cont.)</vt:lpstr>
      <vt:lpstr>Guidelines for Drawing DFDs (Cont.)</vt:lpstr>
      <vt:lpstr>Guidelines for Drawing DFDs (Cont.)</vt:lpstr>
      <vt:lpstr>Guidelines for Drawing DFDs (Cont.)</vt:lpstr>
      <vt:lpstr>Guidelines for Drawing DFDs (Cont.)</vt:lpstr>
      <vt:lpstr>Guidelines for Drawing DFDs (Cont.)</vt:lpstr>
      <vt:lpstr>Guidelines for Drawing DFDs (Cont.)</vt:lpstr>
      <vt:lpstr>Using DFDs as Analysis Tools</vt:lpstr>
      <vt:lpstr>Logic Modeling</vt:lpstr>
      <vt:lpstr>Modeling a System’s Logic</vt:lpstr>
      <vt:lpstr>Deliverables and Outcomes</vt:lpstr>
      <vt:lpstr>Modeling Logic with Structured English</vt:lpstr>
      <vt:lpstr>Modeling Logic with Structured English (Cont.)</vt:lpstr>
      <vt:lpstr>Modeling Logic with Structured English (Cont.)</vt:lpstr>
      <vt:lpstr>Modeling Logic with Decision Tables</vt:lpstr>
      <vt:lpstr>Modeling Logic with Decision Tables (Cont.)</vt:lpstr>
      <vt:lpstr>Modeling Logic with Decision Tables (Cont.)</vt:lpstr>
      <vt:lpstr>Modeling Logic with Decision Tables (Cont.)</vt:lpstr>
      <vt:lpstr>Modeling Logic with Decision Tables (Cont.)</vt:lpstr>
      <vt:lpstr>Modeling Logic with Decision Tables (Cont.)</vt:lpstr>
      <vt:lpstr>Deciding Among Structured English and Decision Tables</vt:lpstr>
      <vt:lpstr>Decision Tree</vt:lpstr>
      <vt:lpstr>Contd.</vt:lpstr>
      <vt:lpstr>Pseudo code</vt:lpstr>
      <vt:lpstr>Contd.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Structuring System Process Requirements</dc:title>
  <dc:creator>Microsoft account</dc:creator>
  <cp:lastModifiedBy>Microsoft account</cp:lastModifiedBy>
  <cp:revision>23</cp:revision>
  <dcterms:created xsi:type="dcterms:W3CDTF">2022-06-05T13:50:22Z</dcterms:created>
  <dcterms:modified xsi:type="dcterms:W3CDTF">2022-06-15T16:33:01Z</dcterms:modified>
</cp:coreProperties>
</file>