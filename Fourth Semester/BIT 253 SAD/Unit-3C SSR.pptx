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26"/>
  </p:notesMasterIdLst>
  <p:sldIdLst>
    <p:sldId id="256" r:id="rId2"/>
    <p:sldId id="260" r:id="rId3"/>
    <p:sldId id="261" r:id="rId4"/>
    <p:sldId id="262" r:id="rId5"/>
    <p:sldId id="266" r:id="rId6"/>
    <p:sldId id="269" r:id="rId7"/>
    <p:sldId id="270" r:id="rId8"/>
    <p:sldId id="272" r:id="rId9"/>
    <p:sldId id="274" r:id="rId10"/>
    <p:sldId id="277" r:id="rId11"/>
    <p:sldId id="278" r:id="rId12"/>
    <p:sldId id="281" r:id="rId13"/>
    <p:sldId id="283" r:id="rId14"/>
    <p:sldId id="285" r:id="rId15"/>
    <p:sldId id="288" r:id="rId16"/>
    <p:sldId id="289" r:id="rId17"/>
    <p:sldId id="291" r:id="rId18"/>
    <p:sldId id="293" r:id="rId19"/>
    <p:sldId id="295" r:id="rId20"/>
    <p:sldId id="297" r:id="rId21"/>
    <p:sldId id="299" r:id="rId22"/>
    <p:sldId id="301" r:id="rId23"/>
    <p:sldId id="303" r:id="rId24"/>
    <p:sldId id="305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9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3C0A0B-EF21-4647-9B19-6A1712341682}" type="datetimeFigureOut">
              <a:rPr lang="en-US" smtClean="0"/>
              <a:t>6/17/2022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613D71-1525-4611-931F-3019766A7A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9956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613D71-1525-4611-931F-3019766A7A5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1612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613D71-1525-4611-931F-3019766A7A58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3230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613D71-1525-4611-931F-3019766A7A5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0475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BB101-26CE-4225-9C10-13ACA1C2D019}" type="datetime1">
              <a:rPr lang="en-US" smtClean="0"/>
              <a:t>6/17/2022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Prepared by SKM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CC984-581B-4BD0-9026-4FDCFC69F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80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552DA-BC5B-46F8-A51D-BD56B98C0D8F}" type="datetime1">
              <a:rPr lang="en-US" smtClean="0"/>
              <a:t>6/17/2022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Prepared by SKM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CC984-581B-4BD0-9026-4FDCFC69F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18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0AC96-FBE0-42A2-BBD5-A86B6F45082C}" type="datetime1">
              <a:rPr lang="en-US" smtClean="0"/>
              <a:t>6/17/2022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Prepared by SKM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CC984-581B-4BD0-9026-4FDCFC69F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0191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C6480-4D72-43EA-9AED-1B250D3F9C3A}" type="datetime1">
              <a:rPr lang="en-US" smtClean="0"/>
              <a:t>6/17/2022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Prepared by SKM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CC984-581B-4BD0-9026-4FDCFC69F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6981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9263B-55EB-4FD9-B9A5-6E5368C287D5}" type="datetime1">
              <a:rPr lang="en-US" smtClean="0"/>
              <a:t>6/17/2022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Prepared by SKM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CC984-581B-4BD0-9026-4FDCFC69F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9436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E47F1-5B2B-423D-8DBC-A7E4C82518F5}" type="datetime1">
              <a:rPr lang="en-US" smtClean="0"/>
              <a:t>6/17/2022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Prepared by SKM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CC984-581B-4BD0-9026-4FDCFC69F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770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B2AB8-E8FA-472A-B402-C05F9406E4B5}" type="datetime1">
              <a:rPr lang="en-US" smtClean="0"/>
              <a:t>6/17/2022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Prepared by SKM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CC984-581B-4BD0-9026-4FDCFC69F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3683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92520-8105-458A-9D33-2F841C9FF98C}" type="datetime1">
              <a:rPr lang="en-US" smtClean="0"/>
              <a:t>6/17/2022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Prepared by SKM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CC984-581B-4BD0-9026-4FDCFC69F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73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D6E9F-B5BC-41EF-AECE-5700608D5524}" type="datetime1">
              <a:rPr lang="en-US" smtClean="0"/>
              <a:t>6/17/2022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Prepared by SKM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CC984-581B-4BD0-9026-4FDCFC69F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4126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4E2CD-65D9-431D-8632-02B66BC356A2}" type="datetime1">
              <a:rPr lang="en-US" smtClean="0"/>
              <a:t>6/17/2022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Prepared by SKM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CC984-581B-4BD0-9026-4FDCFC69F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126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09D12-E80D-42A9-8BEE-3C18DD165FBC}" type="datetime1">
              <a:rPr lang="en-US" smtClean="0"/>
              <a:t>6/17/2022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Prepared by SKM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CC984-581B-4BD0-9026-4FDCFC69FB78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622896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54724-0122-4ADF-AA29-6ED40345258D}" type="datetime1">
              <a:rPr lang="en-US" smtClean="0"/>
              <a:t>6/17/2022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Prepared by SKM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CC984-581B-4BD0-9026-4FDCFC69F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3402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871FD-65BE-45FA-85EB-90C7A7BD12C1}" type="datetime1">
              <a:rPr lang="en-US" smtClean="0"/>
              <a:t>6/17/2022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Prepared by SKM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CC984-581B-4BD0-9026-4FDCFC69FB78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877966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9C9E3-4DB8-4248-B318-DE6E05F21349}" type="datetime1">
              <a:rPr lang="en-US" smtClean="0"/>
              <a:t>6/17/2022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Prepared by SKM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CC984-581B-4BD0-9026-4FDCFC69F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6139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C1B68-43D0-4D53-BC8B-05BA36894A95}" type="datetime1">
              <a:rPr lang="en-US" smtClean="0"/>
              <a:t>6/17/2022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Prepared by SKM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CC984-581B-4BD0-9026-4FDCFC69F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6661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5C6CF-258C-46C0-BAB8-44DD521DA268}" type="datetime1">
              <a:rPr lang="en-US" smtClean="0"/>
              <a:t>6/17/2022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Prepared by SKM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CC984-581B-4BD0-9026-4FDCFC69F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2718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26"/>
          <p:cNvSpPr txBox="1">
            <a:spLocks noChangeArrowheads="1"/>
          </p:cNvSpPr>
          <p:nvPr userDrawn="1"/>
        </p:nvSpPr>
        <p:spPr bwMode="auto">
          <a:xfrm>
            <a:off x="304800" y="6172200"/>
            <a:ext cx="812800" cy="336550"/>
          </a:xfrm>
          <a:prstGeom prst="rect">
            <a:avLst/>
          </a:prstGeom>
          <a:noFill/>
          <a:ln>
            <a:noFill/>
          </a:ln>
          <a:effectLst>
            <a:outerShdw dist="45791" dir="2021404" algn="ctr" rotWithShape="0">
              <a:srgbClr val="9999FF"/>
            </a:outerShdw>
          </a:effectLst>
          <a:ex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endParaRPr lang="en-US" sz="1600">
              <a:solidFill>
                <a:schemeClr val="tx1"/>
              </a:solidFill>
              <a:cs typeface="+mn-cs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812800" y="304800"/>
            <a:ext cx="10668000" cy="5715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2B9E0F-8EBA-456B-9EB4-62898E41AEFB}" type="datetime1">
              <a:rPr lang="en-US" smtClean="0"/>
              <a:t>6/17/2022</a:t>
            </a:fld>
            <a:endParaRPr lang="en-US"/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540000" y="6324600"/>
            <a:ext cx="6807200" cy="3048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smtClean="0"/>
              <a:t>Prepared by SKM</a:t>
            </a:r>
            <a:endParaRPr lang="en-US"/>
          </a:p>
        </p:txBody>
      </p:sp>
      <p:sp>
        <p:nvSpPr>
          <p:cNvPr id="9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11432F-26CB-4A7A-AFD8-C5776186DC8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796627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bldLvl="3" autoUpdateAnimBg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49977D-4C81-4694-9E22-2221D1EA322B}" type="datetime1">
              <a:rPr lang="en-US" smtClean="0"/>
              <a:t>6/17/2022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Prepared by SKM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19ECC984-581B-4BD0-9026-4FDCFC69F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3860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dirty="0" smtClean="0">
                <a:solidFill>
                  <a:schemeClr val="accent1"/>
                </a:solidFill>
              </a:rPr>
              <a:t>Unit-3C SSR</a:t>
            </a:r>
            <a:br>
              <a:rPr lang="en-US" sz="4400" dirty="0" smtClean="0">
                <a:solidFill>
                  <a:schemeClr val="accent1"/>
                </a:solidFill>
              </a:rPr>
            </a:br>
            <a:r>
              <a:rPr lang="en-US" sz="4400" dirty="0" smtClean="0">
                <a:solidFill>
                  <a:schemeClr val="accent1"/>
                </a:solidFill>
              </a:rPr>
              <a:t>Conceptual Data Modeling</a:t>
            </a:r>
            <a:endParaRPr lang="en-US" sz="4400" dirty="0">
              <a:solidFill>
                <a:schemeClr val="accent1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A4AB4-A535-4F22-BC95-8E90F84CA544}" type="datetime1">
              <a:rPr lang="en-US" smtClean="0"/>
              <a:t>6/17/2022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Prepared by SKM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CC984-581B-4BD0-9026-4FDCFC69FB7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375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484632">
              <a:defRPr/>
            </a:pPr>
            <a:r>
              <a:rPr lang="en-US" dirty="0">
                <a:solidFill>
                  <a:schemeClr val="accent1">
                    <a:tint val="83000"/>
                    <a:satMod val="150000"/>
                  </a:schemeClr>
                </a:solidFill>
              </a:rPr>
              <a:t>Conceptual Data Modeling</a:t>
            </a:r>
          </a:p>
        </p:txBody>
      </p:sp>
      <p:sp>
        <p:nvSpPr>
          <p:cNvPr id="18944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>
          <a:xfrm>
            <a:off x="2362200" y="1524000"/>
            <a:ext cx="7772400" cy="4495800"/>
          </a:xfrm>
        </p:spPr>
        <p:txBody>
          <a:bodyPr>
            <a:normAutofit/>
          </a:bodyPr>
          <a:lstStyle/>
          <a:p>
            <a:pPr marL="448056" indent="-384048">
              <a:buFont typeface="Wingdings 2"/>
              <a:buChar char=""/>
              <a:defRPr/>
            </a:pPr>
            <a:r>
              <a:rPr lang="en-US" dirty="0"/>
              <a:t>Representation of organizational data</a:t>
            </a:r>
          </a:p>
          <a:p>
            <a:pPr marL="448056" indent="-384048">
              <a:buFont typeface="Wingdings 2"/>
              <a:buChar char=""/>
              <a:defRPr/>
            </a:pPr>
            <a:r>
              <a:rPr lang="en-US" dirty="0"/>
              <a:t>Purpose is to show rules about the meaning and interrelationships among data</a:t>
            </a:r>
          </a:p>
          <a:p>
            <a:pPr marL="448056" indent="-384048">
              <a:buFont typeface="Wingdings 2"/>
              <a:buChar char=""/>
              <a:defRPr/>
            </a:pPr>
            <a:r>
              <a:rPr lang="en-US" dirty="0"/>
              <a:t>Entity-Relationship (E-R) diagrams are commonly used to show how data are organized</a:t>
            </a:r>
          </a:p>
          <a:p>
            <a:pPr marL="448056" indent="-384048">
              <a:buFont typeface="Wingdings 2"/>
              <a:buChar char=""/>
              <a:defRPr/>
            </a:pPr>
            <a:r>
              <a:rPr lang="en-US" dirty="0"/>
              <a:t>Main goal of conceptual data modeling is to create accurate E-R diagrams</a:t>
            </a:r>
          </a:p>
          <a:p>
            <a:pPr marL="448056" indent="-384048">
              <a:buFont typeface="Wingdings 2"/>
              <a:buChar char=""/>
              <a:defRPr/>
            </a:pPr>
            <a:r>
              <a:rPr lang="en-US" dirty="0"/>
              <a:t>Methods such as interviewing, questionnaires, and JAD are used to collect information</a:t>
            </a:r>
          </a:p>
          <a:p>
            <a:pPr marL="448056" indent="-384048">
              <a:buFont typeface="Wingdings 2"/>
              <a:buChar char=""/>
              <a:defRPr/>
            </a:pPr>
            <a:r>
              <a:rPr lang="en-US" dirty="0"/>
              <a:t>Consistency must be maintained among process flow, decision logic, and data modeling descriptions</a:t>
            </a:r>
          </a:p>
        </p:txBody>
      </p:sp>
      <p:sp>
        <p:nvSpPr>
          <p:cNvPr id="2150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en-US" smtClean="0">
                <a:cs typeface="Arial" charset="0"/>
              </a:rPr>
              <a:t>Prepared by SKM</a:t>
            </a:r>
            <a:endParaRPr lang="en-US">
              <a:cs typeface="Arial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FCD18-B420-4E4C-85B2-6038680F537A}" type="datetime1">
              <a:rPr lang="en-US" smtClean="0"/>
              <a:t>6/17/2022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CC984-581B-4BD0-9026-4FDCFC69FB7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844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484632">
              <a:defRPr/>
            </a:pPr>
            <a:r>
              <a:rPr lang="en-US">
                <a:solidFill>
                  <a:schemeClr val="accent1">
                    <a:tint val="83000"/>
                    <a:satMod val="150000"/>
                  </a:schemeClr>
                </a:solidFill>
              </a:rPr>
              <a:t>The Process of Conceptual Data Modeling</a:t>
            </a:r>
          </a:p>
        </p:txBody>
      </p:sp>
      <p:sp>
        <p:nvSpPr>
          <p:cNvPr id="22530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>
          <a:xfrm>
            <a:off x="1981200" y="1882775"/>
            <a:ext cx="8229600" cy="45720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dirty="0"/>
              <a:t>First step is to develop a data model for the system being replaced</a:t>
            </a:r>
          </a:p>
          <a:p>
            <a:pPr>
              <a:lnSpc>
                <a:spcPct val="90000"/>
              </a:lnSpc>
            </a:pPr>
            <a:r>
              <a:rPr lang="en-US" dirty="0"/>
              <a:t>Next, a new conceptual data model is built that includes all the requirements of the new system</a:t>
            </a:r>
          </a:p>
          <a:p>
            <a:pPr>
              <a:lnSpc>
                <a:spcPct val="90000"/>
              </a:lnSpc>
            </a:pPr>
            <a:r>
              <a:rPr lang="en-US" dirty="0"/>
              <a:t>In the design stage, the conceptual data model is translated into a physical design</a:t>
            </a:r>
          </a:p>
          <a:p>
            <a:pPr>
              <a:lnSpc>
                <a:spcPct val="90000"/>
              </a:lnSpc>
            </a:pPr>
            <a:r>
              <a:rPr lang="en-US" dirty="0"/>
              <a:t>Project repository links all design and data modeling steps performed during SDLC</a:t>
            </a:r>
          </a:p>
        </p:txBody>
      </p:sp>
      <p:sp>
        <p:nvSpPr>
          <p:cNvPr id="22531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en-US" smtClean="0">
                <a:cs typeface="Arial" charset="0"/>
              </a:rPr>
              <a:t>Prepared by SKM</a:t>
            </a:r>
            <a:endParaRPr lang="en-US">
              <a:cs typeface="Arial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941F5-19C5-4D53-A3E7-5643A09622CB}" type="datetime1">
              <a:rPr lang="en-US" smtClean="0"/>
              <a:t>6/17/2022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CC984-581B-4BD0-9026-4FDCFC69FB7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161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Rectangle 2"/>
          <p:cNvSpPr>
            <a:spLocks noGrp="1" noChangeArrowheads="1"/>
          </p:cNvSpPr>
          <p:nvPr>
            <p:ph type="title"/>
          </p:nvPr>
        </p:nvSpPr>
        <p:spPr>
          <a:xfrm>
            <a:off x="2133600" y="304800"/>
            <a:ext cx="7772400" cy="838200"/>
          </a:xfrm>
        </p:spPr>
        <p:txBody>
          <a:bodyPr/>
          <a:lstStyle/>
          <a:p>
            <a:pPr marL="484632">
              <a:defRPr/>
            </a:pPr>
            <a:r>
              <a:rPr lang="en-US">
                <a:solidFill>
                  <a:schemeClr val="accent1">
                    <a:tint val="83000"/>
                    <a:satMod val="150000"/>
                  </a:schemeClr>
                </a:solidFill>
              </a:rPr>
              <a:t>Deliverables and Outcome</a:t>
            </a:r>
          </a:p>
        </p:txBody>
      </p:sp>
      <p:sp>
        <p:nvSpPr>
          <p:cNvPr id="19149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>
          <a:xfrm>
            <a:off x="2362200" y="1447800"/>
            <a:ext cx="7772400" cy="4572000"/>
          </a:xfrm>
        </p:spPr>
        <p:txBody>
          <a:bodyPr>
            <a:normAutofit/>
          </a:bodyPr>
          <a:lstStyle/>
          <a:p>
            <a:pPr marL="448056" indent="-384048">
              <a:buFont typeface="Wingdings 2"/>
              <a:buChar char=""/>
              <a:defRPr/>
            </a:pPr>
            <a:r>
              <a:rPr lang="en-US" dirty="0"/>
              <a:t>Primary deliverable is the entity-relationship diagram, or ERD</a:t>
            </a:r>
          </a:p>
          <a:p>
            <a:pPr marL="448056" indent="-384048">
              <a:buFont typeface="Wingdings 2"/>
              <a:buChar char=""/>
              <a:defRPr/>
            </a:pPr>
            <a:r>
              <a:rPr lang="en-US" dirty="0"/>
              <a:t>There may be as many as 4 </a:t>
            </a:r>
            <a:r>
              <a:rPr lang="en-US" dirty="0" err="1"/>
              <a:t>ERDs</a:t>
            </a:r>
            <a:r>
              <a:rPr lang="en-US" dirty="0"/>
              <a:t> produced and analyzed during conceptual data modeling</a:t>
            </a:r>
          </a:p>
          <a:p>
            <a:pPr marL="822960" lvl="1">
              <a:buFont typeface="Verdana"/>
              <a:buChar char="›"/>
              <a:defRPr/>
            </a:pPr>
            <a:r>
              <a:rPr lang="en-US" dirty="0"/>
              <a:t>Covers just data needed in the project’s application</a:t>
            </a:r>
          </a:p>
          <a:p>
            <a:pPr marL="822960" lvl="1">
              <a:buFont typeface="Verdana"/>
              <a:buChar char="›"/>
              <a:defRPr/>
            </a:pPr>
            <a:r>
              <a:rPr lang="en-US" dirty="0"/>
              <a:t>An E-R diagram for system being replaced</a:t>
            </a:r>
          </a:p>
          <a:p>
            <a:pPr marL="822960" lvl="1">
              <a:buFont typeface="Verdana"/>
              <a:buChar char="›"/>
              <a:defRPr/>
            </a:pPr>
            <a:r>
              <a:rPr lang="en-US" dirty="0"/>
              <a:t>An E-R diagram for the whole database from which the new application’s data are extracted</a:t>
            </a:r>
          </a:p>
          <a:p>
            <a:pPr marL="822960" lvl="1">
              <a:buFont typeface="Verdana"/>
              <a:buChar char="›"/>
              <a:defRPr/>
            </a:pPr>
            <a:r>
              <a:rPr lang="en-US" dirty="0"/>
              <a:t>An E-R diagram for the whole database from which data for the application system being replaced are drawn</a:t>
            </a:r>
          </a:p>
        </p:txBody>
      </p:sp>
      <p:sp>
        <p:nvSpPr>
          <p:cNvPr id="23555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en-US" smtClean="0">
                <a:cs typeface="Arial" charset="0"/>
              </a:rPr>
              <a:t>Prepared by SKM</a:t>
            </a:r>
            <a:endParaRPr lang="en-US">
              <a:cs typeface="Arial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74F1A-2BDB-4A7B-BB4B-CF425AB35CEA}" type="datetime1">
              <a:rPr lang="en-US" smtClean="0"/>
              <a:t>6/17/2022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CC984-581B-4BD0-9026-4FDCFC69FB7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5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Footer Placeholder 2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en-US" smtClean="0">
                <a:cs typeface="Arial" charset="0"/>
              </a:rPr>
              <a:t>Prepared by SKM</a:t>
            </a:r>
            <a:endParaRPr lang="en-US">
              <a:cs typeface="Arial" charset="0"/>
            </a:endParaRPr>
          </a:p>
        </p:txBody>
      </p:sp>
      <p:pic>
        <p:nvPicPr>
          <p:cNvPr id="281600" name="Picture 0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90602" y="774700"/>
            <a:ext cx="7881550" cy="5016500"/>
          </a:xfrm>
          <a:prstGeom prst="rect">
            <a:avLst/>
          </a:prstGeom>
          <a:noFill/>
          <a:ln>
            <a:noFill/>
          </a:ln>
          <a:effectLst>
            <a:outerShdw dist="45791" dir="2021404" algn="ctr" rotWithShape="0">
              <a:schemeClr val="bg2"/>
            </a:outerShdw>
          </a:effectLst>
          <a:extLst/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EBFD1-51CD-42F4-8B51-79D8A2972FFA}" type="datetime1">
              <a:rPr lang="en-US" smtClean="0"/>
              <a:t>6/17/2022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CC984-581B-4BD0-9026-4FDCFC69FB7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455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Footer Placeholder 3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en-US" smtClean="0">
                <a:cs typeface="Arial" charset="0"/>
              </a:rPr>
              <a:t>Prepared by SKM</a:t>
            </a:r>
            <a:endParaRPr lang="en-US">
              <a:cs typeface="Arial" charset="0"/>
            </a:endParaRPr>
          </a:p>
        </p:txBody>
      </p:sp>
      <p:pic>
        <p:nvPicPr>
          <p:cNvPr id="263180" name="Picture 1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83523" y="304800"/>
            <a:ext cx="7713342" cy="6324600"/>
          </a:xfrm>
          <a:prstGeom prst="rect">
            <a:avLst/>
          </a:prstGeom>
          <a:noFill/>
          <a:ln>
            <a:noFill/>
          </a:ln>
          <a:effectLst>
            <a:outerShdw dist="45791" dir="2021404" algn="ctr" rotWithShape="0">
              <a:schemeClr val="bg2"/>
            </a:outerShdw>
          </a:effectLst>
          <a:extLst/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D2329E2-8499-4096-AD87-E2DFF049551E}" type="datetime1">
              <a:rPr lang="en-US" smtClean="0"/>
              <a:t>6/17/2022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11432F-26CB-4A7A-AFD8-C5776186DC84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225525"/>
      </p:ext>
    </p:extLst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484632">
              <a:defRPr/>
            </a:pPr>
            <a:r>
              <a:rPr lang="en-US" sz="4000" dirty="0">
                <a:solidFill>
                  <a:schemeClr val="accent1">
                    <a:tint val="83000"/>
                    <a:satMod val="150000"/>
                  </a:schemeClr>
                </a:solidFill>
              </a:rPr>
              <a:t>Deliverables and Outcome</a:t>
            </a:r>
          </a:p>
        </p:txBody>
      </p:sp>
      <p:sp>
        <p:nvSpPr>
          <p:cNvPr id="26626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>
          <a:xfrm>
            <a:off x="1981200" y="1882775"/>
            <a:ext cx="7459362" cy="45720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dirty="0" smtClean="0"/>
              <a:t>Second deliverable is a set of entries about data objects to be stored in repository or project dictionary</a:t>
            </a:r>
          </a:p>
          <a:p>
            <a:pPr lvl="1">
              <a:lnSpc>
                <a:spcPct val="90000"/>
              </a:lnSpc>
            </a:pPr>
            <a:r>
              <a:rPr lang="en-US" dirty="0" smtClean="0"/>
              <a:t>Data elements that are included in the DFD must appear in the data model and conversely</a:t>
            </a:r>
          </a:p>
          <a:p>
            <a:pPr lvl="1">
              <a:lnSpc>
                <a:spcPct val="90000"/>
              </a:lnSpc>
            </a:pPr>
            <a:r>
              <a:rPr lang="en-US" dirty="0" smtClean="0"/>
              <a:t>Each data store in a process model must relate to business objects represented in the data model</a:t>
            </a:r>
          </a:p>
        </p:txBody>
      </p:sp>
      <p:sp>
        <p:nvSpPr>
          <p:cNvPr id="2662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en-US" smtClean="0">
                <a:cs typeface="Arial" charset="0"/>
              </a:rPr>
              <a:t>Prepared by SKM</a:t>
            </a:r>
            <a:endParaRPr lang="en-US">
              <a:cs typeface="Arial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1B5C1-7634-4C1C-8594-E9ABCCC28C6C}" type="datetime1">
              <a:rPr lang="en-US" smtClean="0"/>
              <a:t>6/17/2022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CC984-581B-4BD0-9026-4FDCFC69FB7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633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484632">
              <a:defRPr/>
            </a:pPr>
            <a:r>
              <a:rPr lang="en-US">
                <a:solidFill>
                  <a:schemeClr val="accent1">
                    <a:tint val="83000"/>
                    <a:satMod val="150000"/>
                  </a:schemeClr>
                </a:solidFill>
              </a:rPr>
              <a:t>Gathering Information for Conceptual Data Modeling</a:t>
            </a:r>
          </a:p>
        </p:txBody>
      </p:sp>
      <p:sp>
        <p:nvSpPr>
          <p:cNvPr id="27650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>
          <a:xfrm>
            <a:off x="1981200" y="1882775"/>
            <a:ext cx="8229600" cy="4572000"/>
          </a:xfrm>
        </p:spPr>
        <p:txBody>
          <a:bodyPr/>
          <a:lstStyle/>
          <a:p>
            <a:r>
              <a:rPr lang="en-US" smtClean="0"/>
              <a:t>Two Perspectives:</a:t>
            </a:r>
          </a:p>
          <a:p>
            <a:pPr lvl="1"/>
            <a:r>
              <a:rPr lang="en-US" smtClean="0"/>
              <a:t>Top-down</a:t>
            </a:r>
          </a:p>
          <a:p>
            <a:pPr lvl="2"/>
            <a:r>
              <a:rPr lang="en-US" smtClean="0"/>
              <a:t>Data model is derived from an intimate understanding of the business</a:t>
            </a:r>
          </a:p>
          <a:p>
            <a:pPr lvl="1"/>
            <a:r>
              <a:rPr lang="en-US" smtClean="0"/>
              <a:t>Bottom-up</a:t>
            </a:r>
          </a:p>
          <a:p>
            <a:pPr lvl="2"/>
            <a:r>
              <a:rPr lang="en-US" smtClean="0"/>
              <a:t>Data model is derived by reviewing specifications and business documents</a:t>
            </a:r>
          </a:p>
        </p:txBody>
      </p:sp>
      <p:sp>
        <p:nvSpPr>
          <p:cNvPr id="27651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en-US" smtClean="0">
                <a:cs typeface="Arial" charset="0"/>
              </a:rPr>
              <a:t>Prepared by SKM</a:t>
            </a:r>
            <a:endParaRPr lang="en-US">
              <a:cs typeface="Arial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A0C04-671F-495A-ADE8-28B5DF847CE1}" type="datetime1">
              <a:rPr lang="en-US" smtClean="0"/>
              <a:t>6/17/2022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CC984-581B-4BD0-9026-4FDCFC69FB7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682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38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484632">
              <a:defRPr/>
            </a:pPr>
            <a:r>
              <a:rPr lang="en-US">
                <a:solidFill>
                  <a:schemeClr val="accent1">
                    <a:tint val="83000"/>
                    <a:satMod val="150000"/>
                  </a:schemeClr>
                </a:solidFill>
              </a:rPr>
              <a:t>Introduction to Entity-Relationship Modeling</a:t>
            </a:r>
          </a:p>
        </p:txBody>
      </p:sp>
      <p:sp>
        <p:nvSpPr>
          <p:cNvPr id="28674" name="Rectangle 1027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>
          <a:xfrm>
            <a:off x="1981200" y="1882775"/>
            <a:ext cx="8229600" cy="45720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mtClean="0"/>
              <a:t>Notation uses three main constructs</a:t>
            </a:r>
          </a:p>
          <a:p>
            <a:pPr lvl="1">
              <a:lnSpc>
                <a:spcPct val="90000"/>
              </a:lnSpc>
            </a:pPr>
            <a:r>
              <a:rPr lang="en-US" smtClean="0"/>
              <a:t>Data entities</a:t>
            </a:r>
          </a:p>
          <a:p>
            <a:pPr lvl="1">
              <a:lnSpc>
                <a:spcPct val="90000"/>
              </a:lnSpc>
            </a:pPr>
            <a:r>
              <a:rPr lang="en-US" smtClean="0"/>
              <a:t>Relationships</a:t>
            </a:r>
          </a:p>
          <a:p>
            <a:pPr lvl="1">
              <a:lnSpc>
                <a:spcPct val="90000"/>
              </a:lnSpc>
            </a:pPr>
            <a:r>
              <a:rPr lang="en-US" smtClean="0"/>
              <a:t>Attributes</a:t>
            </a:r>
          </a:p>
          <a:p>
            <a:pPr>
              <a:lnSpc>
                <a:spcPct val="90000"/>
              </a:lnSpc>
            </a:pPr>
            <a:r>
              <a:rPr lang="en-US" smtClean="0"/>
              <a:t>Entity-Relationship (E-R) Diagram</a:t>
            </a:r>
          </a:p>
          <a:p>
            <a:pPr lvl="1">
              <a:lnSpc>
                <a:spcPct val="90000"/>
              </a:lnSpc>
            </a:pPr>
            <a:r>
              <a:rPr lang="en-US" smtClean="0"/>
              <a:t>A detailed, logical, and graphical representation of the entities, associations and data elements for an organization or business</a:t>
            </a:r>
          </a:p>
        </p:txBody>
      </p:sp>
      <p:sp>
        <p:nvSpPr>
          <p:cNvPr id="28675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en-US" smtClean="0">
                <a:cs typeface="Arial" charset="0"/>
              </a:rPr>
              <a:t>Prepared by SKM</a:t>
            </a:r>
            <a:endParaRPr lang="en-US">
              <a:cs typeface="Arial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27D04-D2F1-47DC-9A16-FACBA24A5209}" type="datetime1">
              <a:rPr lang="en-US" smtClean="0"/>
              <a:t>6/17/2022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CC984-581B-4BD0-9026-4FDCFC69FB7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734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Rectangle 2"/>
          <p:cNvSpPr>
            <a:spLocks noGrp="1" noChangeArrowheads="1"/>
          </p:cNvSpPr>
          <p:nvPr>
            <p:ph type="title"/>
          </p:nvPr>
        </p:nvSpPr>
        <p:spPr>
          <a:xfrm>
            <a:off x="2133600" y="304800"/>
            <a:ext cx="7772400" cy="1371600"/>
          </a:xfrm>
        </p:spPr>
        <p:txBody>
          <a:bodyPr>
            <a:normAutofit fontScale="90000"/>
          </a:bodyPr>
          <a:lstStyle/>
          <a:p>
            <a:pPr marL="484632">
              <a:defRPr/>
            </a:pPr>
            <a:r>
              <a:rPr lang="en-US" sz="4000">
                <a:solidFill>
                  <a:schemeClr val="accent1">
                    <a:tint val="83000"/>
                    <a:satMod val="150000"/>
                  </a:schemeClr>
                </a:solidFill>
              </a:rPr>
              <a:t>Entity-Relationship (E-R) Modeling</a:t>
            </a:r>
            <a:br>
              <a:rPr lang="en-US" sz="4000">
                <a:solidFill>
                  <a:schemeClr val="accent1">
                    <a:tint val="83000"/>
                    <a:satMod val="150000"/>
                  </a:schemeClr>
                </a:solidFill>
              </a:rPr>
            </a:br>
            <a:r>
              <a:rPr lang="en-US" sz="2800">
                <a:solidFill>
                  <a:schemeClr val="accent1">
                    <a:tint val="83000"/>
                    <a:satMod val="150000"/>
                  </a:schemeClr>
                </a:solidFill>
              </a:rPr>
              <a:t>Key Terms</a:t>
            </a:r>
          </a:p>
        </p:txBody>
      </p:sp>
      <p:sp>
        <p:nvSpPr>
          <p:cNvPr id="29698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>
          <a:xfrm>
            <a:off x="1981200" y="1882775"/>
            <a:ext cx="8229600" cy="45720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Entity</a:t>
            </a:r>
          </a:p>
          <a:p>
            <a:pPr lvl="1">
              <a:lnSpc>
                <a:spcPct val="90000"/>
              </a:lnSpc>
            </a:pPr>
            <a:r>
              <a:rPr lang="en-US"/>
              <a:t>A person, place, object, event or concept in the user environment about which the organization wishes to maintain data</a:t>
            </a:r>
          </a:p>
          <a:p>
            <a:pPr lvl="1">
              <a:lnSpc>
                <a:spcPct val="90000"/>
              </a:lnSpc>
            </a:pPr>
            <a:r>
              <a:rPr lang="en-US"/>
              <a:t>Represented by a rectangle in E-R diagrams</a:t>
            </a:r>
          </a:p>
          <a:p>
            <a:pPr>
              <a:lnSpc>
                <a:spcPct val="90000"/>
              </a:lnSpc>
            </a:pPr>
            <a:r>
              <a:rPr lang="en-US"/>
              <a:t>Entity Type</a:t>
            </a:r>
          </a:p>
          <a:p>
            <a:pPr lvl="1">
              <a:lnSpc>
                <a:spcPct val="90000"/>
              </a:lnSpc>
            </a:pPr>
            <a:r>
              <a:rPr lang="en-US"/>
              <a:t>A collection of entities that share common properties or characteristics</a:t>
            </a:r>
          </a:p>
          <a:p>
            <a:pPr>
              <a:lnSpc>
                <a:spcPct val="90000"/>
              </a:lnSpc>
            </a:pPr>
            <a:r>
              <a:rPr lang="en-US"/>
              <a:t>Entity Instance</a:t>
            </a:r>
          </a:p>
          <a:p>
            <a:pPr lvl="1">
              <a:lnSpc>
                <a:spcPct val="90000"/>
              </a:lnSpc>
            </a:pPr>
            <a:r>
              <a:rPr lang="en-US"/>
              <a:t>Single occurrence of an entity type</a:t>
            </a:r>
          </a:p>
        </p:txBody>
      </p:sp>
      <p:sp>
        <p:nvSpPr>
          <p:cNvPr id="29699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en-US" dirty="0" smtClean="0">
                <a:cs typeface="Arial" charset="0"/>
              </a:rPr>
              <a:t>Prepared by SKM</a:t>
            </a:r>
            <a:endParaRPr lang="en-US" dirty="0">
              <a:cs typeface="Arial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A1623-F095-47CC-96E1-2A162719793D}" type="datetime1">
              <a:rPr lang="en-US" smtClean="0"/>
              <a:t>6/17/2022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CC984-581B-4BD0-9026-4FDCFC69FB7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607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0" name="Rectangle 2"/>
          <p:cNvSpPr>
            <a:spLocks noGrp="1" noChangeArrowheads="1"/>
          </p:cNvSpPr>
          <p:nvPr>
            <p:ph type="title"/>
          </p:nvPr>
        </p:nvSpPr>
        <p:spPr>
          <a:xfrm>
            <a:off x="2133600" y="304800"/>
            <a:ext cx="7772400" cy="1371600"/>
          </a:xfrm>
        </p:spPr>
        <p:txBody>
          <a:bodyPr>
            <a:normAutofit fontScale="90000"/>
          </a:bodyPr>
          <a:lstStyle/>
          <a:p>
            <a:pPr marL="484632">
              <a:defRPr/>
            </a:pPr>
            <a:r>
              <a:rPr lang="en-US" sz="4000">
                <a:solidFill>
                  <a:schemeClr val="accent1">
                    <a:tint val="83000"/>
                    <a:satMod val="150000"/>
                  </a:schemeClr>
                </a:solidFill>
              </a:rPr>
              <a:t>Entity-Relationship (E-R) Modeling (continued)</a:t>
            </a:r>
            <a:br>
              <a:rPr lang="en-US" sz="4000">
                <a:solidFill>
                  <a:schemeClr val="accent1">
                    <a:tint val="83000"/>
                    <a:satMod val="150000"/>
                  </a:schemeClr>
                </a:solidFill>
              </a:rPr>
            </a:br>
            <a:r>
              <a:rPr lang="en-US" sz="2800">
                <a:solidFill>
                  <a:schemeClr val="accent1">
                    <a:tint val="83000"/>
                    <a:satMod val="150000"/>
                  </a:schemeClr>
                </a:solidFill>
              </a:rPr>
              <a:t>Key Terms</a:t>
            </a:r>
          </a:p>
        </p:txBody>
      </p:sp>
      <p:sp>
        <p:nvSpPr>
          <p:cNvPr id="30722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>
          <a:xfrm>
            <a:off x="1981200" y="1882775"/>
            <a:ext cx="8229600" cy="4572000"/>
          </a:xfrm>
        </p:spPr>
        <p:txBody>
          <a:bodyPr/>
          <a:lstStyle/>
          <a:p>
            <a:r>
              <a:rPr lang="en-US" dirty="0"/>
              <a:t>Attribute</a:t>
            </a:r>
          </a:p>
          <a:p>
            <a:pPr lvl="1"/>
            <a:r>
              <a:rPr lang="en-US" dirty="0"/>
              <a:t>A named property or characteristic of an entity that is of interest to an organization</a:t>
            </a:r>
          </a:p>
          <a:p>
            <a:r>
              <a:rPr lang="en-US" dirty="0"/>
              <a:t>Candidate Keys &amp; Identifiers (primary key)</a:t>
            </a:r>
          </a:p>
          <a:p>
            <a:pPr lvl="1"/>
            <a:r>
              <a:rPr lang="en-US" dirty="0"/>
              <a:t>Each entity type must have an attribute or set of attributes that distinguishes one instance from other instances of the same type</a:t>
            </a:r>
          </a:p>
          <a:p>
            <a:pPr lvl="1"/>
            <a:r>
              <a:rPr lang="en-US" dirty="0"/>
              <a:t>Candidate key</a:t>
            </a:r>
          </a:p>
          <a:p>
            <a:pPr lvl="2"/>
            <a:r>
              <a:rPr lang="en-US" dirty="0"/>
              <a:t>Attribute (or combination of attributes) that uniquely identifies each instance of an entity type</a:t>
            </a:r>
          </a:p>
        </p:txBody>
      </p:sp>
      <p:sp>
        <p:nvSpPr>
          <p:cNvPr id="30723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en-US" dirty="0" smtClean="0">
                <a:cs typeface="Arial" charset="0"/>
              </a:rPr>
              <a:t>Prepared by SKM</a:t>
            </a:r>
            <a:endParaRPr lang="en-US" dirty="0">
              <a:cs typeface="Arial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66D3D-F689-4610-AC12-4C7CD96D6D8C}" type="datetime1">
              <a:rPr lang="en-US" smtClean="0"/>
              <a:t>6/17/2022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CC984-581B-4BD0-9026-4FDCFC69FB7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290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Footer Placeholder 2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en-US" dirty="0" smtClean="0">
                <a:cs typeface="Arial" charset="0"/>
              </a:rPr>
              <a:t>Prepared by SKM</a:t>
            </a:r>
            <a:endParaRPr lang="en-US" dirty="0">
              <a:cs typeface="Arial" charset="0"/>
            </a:endParaRPr>
          </a:p>
        </p:txBody>
      </p:sp>
      <p:pic>
        <p:nvPicPr>
          <p:cNvPr id="31747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33600" y="228601"/>
            <a:ext cx="8305800" cy="5802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E9AF4-898E-4405-B5F2-4192C5E37987}" type="datetime1">
              <a:rPr lang="en-US" smtClean="0"/>
              <a:t>6/17/2022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CC984-581B-4BD0-9026-4FDCFC69FB7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425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42" name="Rectangle 2"/>
          <p:cNvSpPr>
            <a:spLocks noGrp="1" noChangeArrowheads="1"/>
          </p:cNvSpPr>
          <p:nvPr>
            <p:ph type="title"/>
          </p:nvPr>
        </p:nvSpPr>
        <p:spPr>
          <a:xfrm>
            <a:off x="2133600" y="0"/>
            <a:ext cx="7772400" cy="1676400"/>
          </a:xfrm>
        </p:spPr>
        <p:txBody>
          <a:bodyPr>
            <a:normAutofit fontScale="90000"/>
          </a:bodyPr>
          <a:lstStyle/>
          <a:p>
            <a:pPr marL="484632">
              <a:defRPr/>
            </a:pPr>
            <a:r>
              <a:rPr lang="en-US" sz="4000">
                <a:solidFill>
                  <a:schemeClr val="accent1">
                    <a:tint val="83000"/>
                    <a:satMod val="150000"/>
                  </a:schemeClr>
                </a:solidFill>
              </a:rPr>
              <a:t>Entity-Relationship (E-R) Modeling (continued)</a:t>
            </a:r>
            <a:br>
              <a:rPr lang="en-US" sz="4000">
                <a:solidFill>
                  <a:schemeClr val="accent1">
                    <a:tint val="83000"/>
                    <a:satMod val="150000"/>
                  </a:schemeClr>
                </a:solidFill>
              </a:rPr>
            </a:br>
            <a:r>
              <a:rPr lang="en-US" sz="2800">
                <a:solidFill>
                  <a:schemeClr val="accent1">
                    <a:tint val="83000"/>
                    <a:satMod val="150000"/>
                  </a:schemeClr>
                </a:solidFill>
              </a:rPr>
              <a:t>Key Terms</a:t>
            </a:r>
          </a:p>
        </p:txBody>
      </p:sp>
      <p:sp>
        <p:nvSpPr>
          <p:cNvPr id="32770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>
          <a:xfrm>
            <a:off x="1981200" y="1882775"/>
            <a:ext cx="8229600" cy="4572000"/>
          </a:xfrm>
        </p:spPr>
        <p:txBody>
          <a:bodyPr/>
          <a:lstStyle/>
          <a:p>
            <a:pPr marL="533400" indent="-533400"/>
            <a:r>
              <a:rPr lang="en-US"/>
              <a:t>Identifier</a:t>
            </a:r>
          </a:p>
          <a:p>
            <a:pPr marL="914400" lvl="1" indent="-457200"/>
            <a:r>
              <a:rPr lang="en-US"/>
              <a:t>A candidate key that has been selected as the unique identifying characteristic for an entity type</a:t>
            </a:r>
          </a:p>
          <a:p>
            <a:pPr marL="914400" lvl="1" indent="-457200"/>
            <a:r>
              <a:rPr lang="en-US"/>
              <a:t>Selection rules for an identifier</a:t>
            </a:r>
          </a:p>
          <a:p>
            <a:pPr marL="1295400" lvl="2" indent="-381000">
              <a:buFont typeface="Wingdings" pitchFamily="2" charset="2"/>
              <a:buAutoNum type="arabicPeriod"/>
            </a:pPr>
            <a:r>
              <a:rPr lang="en-US"/>
              <a:t>Choose a candidate key that will not change its value</a:t>
            </a:r>
          </a:p>
          <a:p>
            <a:pPr marL="1295400" lvl="2" indent="-381000">
              <a:buFont typeface="Wingdings" pitchFamily="2" charset="2"/>
              <a:buAutoNum type="arabicPeriod"/>
            </a:pPr>
            <a:r>
              <a:rPr lang="en-US"/>
              <a:t>Choose a candidate key that will never be null</a:t>
            </a:r>
          </a:p>
          <a:p>
            <a:pPr marL="1295400" lvl="2" indent="-381000">
              <a:buFont typeface="Wingdings" pitchFamily="2" charset="2"/>
              <a:buAutoNum type="arabicPeriod"/>
            </a:pPr>
            <a:r>
              <a:rPr lang="en-US"/>
              <a:t>Avoid using intelligent keys</a:t>
            </a:r>
          </a:p>
          <a:p>
            <a:pPr marL="1295400" lvl="2" indent="-381000">
              <a:buFont typeface="Wingdings" pitchFamily="2" charset="2"/>
              <a:buAutoNum type="arabicPeriod"/>
            </a:pPr>
            <a:r>
              <a:rPr lang="en-US"/>
              <a:t>Consider substituting single value surrogate keys for large composite keys</a:t>
            </a:r>
          </a:p>
          <a:p>
            <a:pPr marL="533400" indent="-533400">
              <a:buNone/>
            </a:pPr>
            <a:endParaRPr lang="en-US"/>
          </a:p>
        </p:txBody>
      </p:sp>
      <p:sp>
        <p:nvSpPr>
          <p:cNvPr id="32771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en-US" smtClean="0">
                <a:cs typeface="Arial" charset="0"/>
              </a:rPr>
              <a:t>Prepared by SKM</a:t>
            </a:r>
            <a:endParaRPr lang="en-US">
              <a:cs typeface="Arial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C346C-4E52-4AC6-BEF6-06D90D0AE92E}" type="datetime1">
              <a:rPr lang="en-US" smtClean="0"/>
              <a:t>6/17/2022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CC984-581B-4BD0-9026-4FDCFC69FB7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020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4" name="Rectangle 2"/>
          <p:cNvSpPr>
            <a:spLocks noGrp="1" noChangeArrowheads="1"/>
          </p:cNvSpPr>
          <p:nvPr>
            <p:ph type="title"/>
          </p:nvPr>
        </p:nvSpPr>
        <p:spPr>
          <a:xfrm>
            <a:off x="2133600" y="304800"/>
            <a:ext cx="7772400" cy="1371600"/>
          </a:xfrm>
        </p:spPr>
        <p:txBody>
          <a:bodyPr>
            <a:normAutofit fontScale="90000"/>
          </a:bodyPr>
          <a:lstStyle/>
          <a:p>
            <a:pPr marL="484632">
              <a:defRPr/>
            </a:pPr>
            <a:r>
              <a:rPr lang="en-US" sz="4000">
                <a:solidFill>
                  <a:schemeClr val="accent1">
                    <a:tint val="83000"/>
                    <a:satMod val="150000"/>
                  </a:schemeClr>
                </a:solidFill>
              </a:rPr>
              <a:t>Entity-Relationship (E-R) Modeling(continued)</a:t>
            </a:r>
            <a:br>
              <a:rPr lang="en-US" sz="4000">
                <a:solidFill>
                  <a:schemeClr val="accent1">
                    <a:tint val="83000"/>
                    <a:satMod val="150000"/>
                  </a:schemeClr>
                </a:solidFill>
              </a:rPr>
            </a:br>
            <a:r>
              <a:rPr lang="en-US" sz="2800">
                <a:solidFill>
                  <a:schemeClr val="accent1">
                    <a:tint val="83000"/>
                    <a:satMod val="150000"/>
                  </a:schemeClr>
                </a:solidFill>
              </a:rPr>
              <a:t>Key Terms</a:t>
            </a:r>
          </a:p>
        </p:txBody>
      </p:sp>
      <p:sp>
        <p:nvSpPr>
          <p:cNvPr id="33794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>
          <a:xfrm>
            <a:off x="1981200" y="1882775"/>
            <a:ext cx="8229600" cy="4572000"/>
          </a:xfrm>
        </p:spPr>
        <p:txBody>
          <a:bodyPr/>
          <a:lstStyle/>
          <a:p>
            <a:r>
              <a:rPr lang="en-US" smtClean="0"/>
              <a:t>Multivalued Attribute</a:t>
            </a:r>
          </a:p>
          <a:p>
            <a:pPr lvl="1"/>
            <a:r>
              <a:rPr lang="en-US" smtClean="0"/>
              <a:t>An attribute that may take on more than one value for each entity instance</a:t>
            </a:r>
          </a:p>
          <a:p>
            <a:pPr lvl="1"/>
            <a:r>
              <a:rPr lang="en-US" smtClean="0"/>
              <a:t>Represented on E-R diagram in two ways:</a:t>
            </a:r>
          </a:p>
          <a:p>
            <a:pPr lvl="2"/>
            <a:r>
              <a:rPr lang="en-US" smtClean="0"/>
              <a:t>double-lined ellipse</a:t>
            </a:r>
          </a:p>
          <a:p>
            <a:pPr lvl="2"/>
            <a:r>
              <a:rPr lang="en-US" smtClean="0"/>
              <a:t>weak entity</a:t>
            </a:r>
          </a:p>
          <a:p>
            <a:pPr lvl="2"/>
            <a:endParaRPr lang="en-US" smtClean="0"/>
          </a:p>
          <a:p>
            <a:pPr lvl="1"/>
            <a:endParaRPr lang="en-US" smtClean="0"/>
          </a:p>
        </p:txBody>
      </p:sp>
      <p:sp>
        <p:nvSpPr>
          <p:cNvPr id="33795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en-US" smtClean="0">
                <a:cs typeface="Arial" charset="0"/>
              </a:rPr>
              <a:t>Prepared by SKM</a:t>
            </a:r>
            <a:endParaRPr lang="en-US">
              <a:cs typeface="Arial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78E33-E8EA-4432-80AD-D1568439621B}" type="datetime1">
              <a:rPr lang="en-US" smtClean="0"/>
              <a:t>6/17/2022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CC984-581B-4BD0-9026-4FDCFC69FB7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058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6" name="Rectangle 2"/>
          <p:cNvSpPr>
            <a:spLocks noGrp="1" noChangeArrowheads="1"/>
          </p:cNvSpPr>
          <p:nvPr>
            <p:ph type="title"/>
          </p:nvPr>
        </p:nvSpPr>
        <p:spPr>
          <a:xfrm>
            <a:off x="2133600" y="304800"/>
            <a:ext cx="7772400" cy="1524000"/>
          </a:xfrm>
        </p:spPr>
        <p:txBody>
          <a:bodyPr>
            <a:normAutofit fontScale="90000"/>
          </a:bodyPr>
          <a:lstStyle/>
          <a:p>
            <a:pPr marL="484632">
              <a:defRPr/>
            </a:pPr>
            <a:r>
              <a:rPr lang="en-US" sz="4000">
                <a:solidFill>
                  <a:schemeClr val="accent1">
                    <a:tint val="83000"/>
                    <a:satMod val="150000"/>
                  </a:schemeClr>
                </a:solidFill>
              </a:rPr>
              <a:t>Entity-Relationship (E-R) Modeling (continued)</a:t>
            </a:r>
            <a:br>
              <a:rPr lang="en-US" sz="4000">
                <a:solidFill>
                  <a:schemeClr val="accent1">
                    <a:tint val="83000"/>
                    <a:satMod val="150000"/>
                  </a:schemeClr>
                </a:solidFill>
              </a:rPr>
            </a:br>
            <a:r>
              <a:rPr lang="en-US" sz="2800">
                <a:solidFill>
                  <a:schemeClr val="accent1">
                    <a:tint val="83000"/>
                    <a:satMod val="150000"/>
                  </a:schemeClr>
                </a:solidFill>
              </a:rPr>
              <a:t>Key Terms</a:t>
            </a:r>
          </a:p>
        </p:txBody>
      </p:sp>
      <p:sp>
        <p:nvSpPr>
          <p:cNvPr id="34818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>
          <a:xfrm>
            <a:off x="1981200" y="1882775"/>
            <a:ext cx="8229600" cy="45720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mtClean="0"/>
              <a:t>Relationship</a:t>
            </a:r>
          </a:p>
          <a:p>
            <a:pPr lvl="1">
              <a:lnSpc>
                <a:spcPct val="90000"/>
              </a:lnSpc>
            </a:pPr>
            <a:r>
              <a:rPr lang="en-US" smtClean="0"/>
              <a:t>An association between the instances of one or more entity types that is of interest to the organization</a:t>
            </a:r>
          </a:p>
          <a:p>
            <a:pPr lvl="1">
              <a:lnSpc>
                <a:spcPct val="90000"/>
              </a:lnSpc>
            </a:pPr>
            <a:r>
              <a:rPr lang="en-US" smtClean="0"/>
              <a:t>Association indicates that an event has occurred or that there is a natural link between entity types</a:t>
            </a:r>
          </a:p>
          <a:p>
            <a:pPr lvl="1">
              <a:lnSpc>
                <a:spcPct val="90000"/>
              </a:lnSpc>
            </a:pPr>
            <a:r>
              <a:rPr lang="en-US" smtClean="0"/>
              <a:t>Relationships are always labeled with verb phrases</a:t>
            </a:r>
          </a:p>
        </p:txBody>
      </p:sp>
      <p:sp>
        <p:nvSpPr>
          <p:cNvPr id="34819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en-US" dirty="0" smtClean="0">
                <a:cs typeface="Arial" charset="0"/>
              </a:rPr>
              <a:t>Prepared by SKM</a:t>
            </a:r>
            <a:endParaRPr lang="en-US" dirty="0">
              <a:cs typeface="Arial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ECD13-9CDC-488C-B807-B55D763A1FA0}" type="datetime1">
              <a:rPr lang="en-US" smtClean="0"/>
              <a:t>6/17/2022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CC984-581B-4BD0-9026-4FDCFC69FB7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354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484632">
              <a:defRPr/>
            </a:pPr>
            <a:r>
              <a:rPr lang="en-US">
                <a:solidFill>
                  <a:schemeClr val="accent1">
                    <a:tint val="83000"/>
                    <a:satMod val="150000"/>
                  </a:schemeClr>
                </a:solidFill>
              </a:rPr>
              <a:t>Conceptual Data Modeling and the E-R Diagram</a:t>
            </a:r>
          </a:p>
        </p:txBody>
      </p:sp>
      <p:sp>
        <p:nvSpPr>
          <p:cNvPr id="35843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en-US" dirty="0" smtClean="0">
                <a:cs typeface="Arial" charset="0"/>
              </a:rPr>
              <a:t>Prepared by SKM</a:t>
            </a:r>
            <a:endParaRPr lang="en-US" dirty="0">
              <a:cs typeface="Arial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AE605-5F3B-4F5F-B37F-19A306736FBD}" type="datetime1">
              <a:rPr lang="en-US" smtClean="0"/>
              <a:t>6/17/2022</a:t>
            </a:fld>
            <a:endParaRPr lang="en-US"/>
          </a:p>
        </p:txBody>
      </p:sp>
      <p:sp>
        <p:nvSpPr>
          <p:cNvPr id="8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 </a:t>
            </a:r>
            <a:r>
              <a:rPr lang="en-US"/>
              <a:t>Goal</a:t>
            </a:r>
          </a:p>
          <a:p>
            <a:pPr lvl="1"/>
            <a:r>
              <a:rPr lang="en-US"/>
              <a:t>Capture as much of the meaning of the data as possible</a:t>
            </a:r>
          </a:p>
          <a:p>
            <a:r>
              <a:rPr lang="en-US"/>
              <a:t> Result</a:t>
            </a:r>
          </a:p>
          <a:p>
            <a:pPr lvl="1"/>
            <a:r>
              <a:rPr lang="en-US"/>
              <a:t> A better design that is easier to maintain</a:t>
            </a:r>
          </a:p>
          <a:p>
            <a:pPr lvl="1"/>
            <a:endParaRPr lang="en-US"/>
          </a:p>
          <a:p>
            <a:endParaRPr lang="en-US"/>
          </a:p>
          <a:p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CC984-581B-4BD0-9026-4FDCFC69FB7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49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484632">
              <a:defRPr/>
            </a:pPr>
            <a:r>
              <a:rPr lang="en-US">
                <a:solidFill>
                  <a:schemeClr val="accent1">
                    <a:tint val="83000"/>
                    <a:satMod val="150000"/>
                  </a:schemeClr>
                </a:solidFill>
              </a:rPr>
              <a:t>Degree of Relationship</a:t>
            </a:r>
          </a:p>
        </p:txBody>
      </p:sp>
      <p:sp>
        <p:nvSpPr>
          <p:cNvPr id="20480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>
          <a:xfrm>
            <a:off x="2362200" y="1600200"/>
            <a:ext cx="7772400" cy="4419600"/>
          </a:xfrm>
        </p:spPr>
        <p:txBody>
          <a:bodyPr>
            <a:normAutofit/>
          </a:bodyPr>
          <a:lstStyle/>
          <a:p>
            <a:pPr marL="448056" indent="-384048">
              <a:buFont typeface="Wingdings 2"/>
              <a:buChar char=""/>
              <a:defRPr/>
            </a:pPr>
            <a:r>
              <a:rPr lang="en-US"/>
              <a:t>Degree</a:t>
            </a:r>
          </a:p>
          <a:p>
            <a:pPr marL="822960" lvl="1">
              <a:buFont typeface="Verdana"/>
              <a:buChar char="›"/>
              <a:defRPr/>
            </a:pPr>
            <a:r>
              <a:rPr lang="en-US"/>
              <a:t>Number of entity types that participate in a relationship</a:t>
            </a:r>
          </a:p>
          <a:p>
            <a:pPr marL="448056" indent="-384048">
              <a:buFont typeface="Wingdings 2"/>
              <a:buChar char=""/>
              <a:defRPr/>
            </a:pPr>
            <a:r>
              <a:rPr lang="en-US"/>
              <a:t>Three Cases:</a:t>
            </a:r>
          </a:p>
          <a:p>
            <a:pPr marL="822960" lvl="1">
              <a:buFont typeface="Verdana"/>
              <a:buChar char="›"/>
              <a:defRPr/>
            </a:pPr>
            <a:r>
              <a:rPr lang="en-US"/>
              <a:t>Unary</a:t>
            </a:r>
          </a:p>
          <a:p>
            <a:pPr marL="1106424" lvl="2">
              <a:buFont typeface="Wingdings 2"/>
              <a:buChar char=""/>
              <a:defRPr/>
            </a:pPr>
            <a:r>
              <a:rPr lang="en-US"/>
              <a:t>A relationship between the instances of one entity type</a:t>
            </a:r>
          </a:p>
          <a:p>
            <a:pPr marL="822960" lvl="1">
              <a:buFont typeface="Verdana"/>
              <a:buChar char="›"/>
              <a:defRPr/>
            </a:pPr>
            <a:r>
              <a:rPr lang="en-US"/>
              <a:t>Binary</a:t>
            </a:r>
          </a:p>
          <a:p>
            <a:pPr marL="1106424" lvl="2">
              <a:buFont typeface="Wingdings 2"/>
              <a:buChar char=""/>
              <a:defRPr/>
            </a:pPr>
            <a:r>
              <a:rPr lang="en-US"/>
              <a:t>A relationship between the instances of two entity types</a:t>
            </a:r>
          </a:p>
          <a:p>
            <a:pPr marL="822960" lvl="1">
              <a:buFont typeface="Verdana"/>
              <a:buChar char="›"/>
              <a:defRPr/>
            </a:pPr>
            <a:r>
              <a:rPr lang="en-US"/>
              <a:t>Ternary</a:t>
            </a:r>
          </a:p>
          <a:p>
            <a:pPr marL="1106424" lvl="2">
              <a:buFont typeface="Wingdings 2"/>
              <a:buChar char=""/>
              <a:defRPr/>
            </a:pPr>
            <a:r>
              <a:rPr lang="en-US"/>
              <a:t>A simultaneous relationship among the instances of three entity types</a:t>
            </a:r>
          </a:p>
          <a:p>
            <a:pPr marL="1106424" lvl="2">
              <a:buFont typeface="Wingdings 2"/>
              <a:buChar char=""/>
              <a:defRPr/>
            </a:pPr>
            <a:r>
              <a:rPr lang="en-US"/>
              <a:t>Not the same as three binary relationships</a:t>
            </a:r>
          </a:p>
        </p:txBody>
      </p:sp>
      <p:sp>
        <p:nvSpPr>
          <p:cNvPr id="3686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en-US" smtClean="0">
                <a:cs typeface="Arial" charset="0"/>
              </a:rPr>
              <a:t>Prepared by SKM</a:t>
            </a:r>
            <a:endParaRPr lang="en-US">
              <a:cs typeface="Arial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AD791-3180-4EAD-B325-5043B9CF93F7}" type="datetime1">
              <a:rPr lang="en-US" smtClean="0"/>
              <a:t>6/17/2022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CC984-581B-4BD0-9026-4FDCFC69FB7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863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Footer Placeholder 2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en-US" dirty="0" smtClean="0">
                <a:cs typeface="Arial" charset="0"/>
              </a:rPr>
              <a:t>Prepared by SKM</a:t>
            </a:r>
            <a:endParaRPr lang="en-US" dirty="0">
              <a:cs typeface="Arial" charset="0"/>
            </a:endParaRPr>
          </a:p>
        </p:txBody>
      </p:sp>
      <p:pic>
        <p:nvPicPr>
          <p:cNvPr id="37891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14600" y="381000"/>
            <a:ext cx="7253288" cy="5835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F6677-5D5A-42B0-B160-9AF20C0D5651}" type="datetime1">
              <a:rPr lang="en-US" smtClean="0"/>
              <a:t>6/17/2022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CC984-581B-4BD0-9026-4FDCFC69FB7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317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484632">
              <a:defRPr/>
            </a:pPr>
            <a:r>
              <a:rPr lang="en-US">
                <a:solidFill>
                  <a:schemeClr val="accent1">
                    <a:tint val="83000"/>
                    <a:satMod val="150000"/>
                  </a:schemeClr>
                </a:solidFill>
              </a:rPr>
              <a:t>Cardinality</a:t>
            </a:r>
          </a:p>
        </p:txBody>
      </p:sp>
      <p:sp>
        <p:nvSpPr>
          <p:cNvPr id="20685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>
          <a:xfrm>
            <a:off x="2362200" y="1447800"/>
            <a:ext cx="7772400" cy="4572000"/>
          </a:xfrm>
        </p:spPr>
        <p:txBody>
          <a:bodyPr>
            <a:normAutofit/>
          </a:bodyPr>
          <a:lstStyle/>
          <a:p>
            <a:pPr marL="448056" indent="-384048">
              <a:buFont typeface="Wingdings 2"/>
              <a:buChar char=""/>
              <a:defRPr/>
            </a:pPr>
            <a:endParaRPr lang="en-US"/>
          </a:p>
          <a:p>
            <a:pPr marL="448056" indent="-384048">
              <a:buFont typeface="Wingdings 2"/>
              <a:buChar char=""/>
              <a:defRPr/>
            </a:pPr>
            <a:r>
              <a:rPr lang="en-US"/>
              <a:t>The number of instances of entity B that can be associated with each instance of entity A</a:t>
            </a:r>
          </a:p>
          <a:p>
            <a:pPr marL="448056" indent="-384048">
              <a:buFont typeface="Wingdings 2"/>
              <a:buChar char=""/>
              <a:defRPr/>
            </a:pPr>
            <a:r>
              <a:rPr lang="en-US"/>
              <a:t>Minimum Cardinality</a:t>
            </a:r>
          </a:p>
          <a:p>
            <a:pPr marL="822960" lvl="1">
              <a:buFont typeface="Verdana"/>
              <a:buChar char="›"/>
              <a:defRPr/>
            </a:pPr>
            <a:r>
              <a:rPr lang="en-US"/>
              <a:t>The minimum number of instances of entity B that may be associated with each instance of entity A</a:t>
            </a:r>
          </a:p>
          <a:p>
            <a:pPr marL="448056" indent="-384048">
              <a:buFont typeface="Wingdings 2"/>
              <a:buChar char=""/>
              <a:defRPr/>
            </a:pPr>
            <a:r>
              <a:rPr lang="en-US"/>
              <a:t>Maximum Cardinality</a:t>
            </a:r>
          </a:p>
          <a:p>
            <a:pPr marL="822960" lvl="1">
              <a:buFont typeface="Verdana"/>
              <a:buChar char="›"/>
              <a:defRPr/>
            </a:pPr>
            <a:r>
              <a:rPr lang="en-US"/>
              <a:t>The maximum number of instances of entity B that may be associated with each instance of entity A</a:t>
            </a:r>
          </a:p>
        </p:txBody>
      </p:sp>
      <p:sp>
        <p:nvSpPr>
          <p:cNvPr id="38915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en-US" smtClean="0">
                <a:cs typeface="Arial" charset="0"/>
              </a:rPr>
              <a:t>Prepared by SKM</a:t>
            </a:r>
            <a:endParaRPr lang="en-US">
              <a:cs typeface="Arial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1A3CD-7E61-4133-B9E4-F4EBDB8A462C}" type="datetime1">
              <a:rPr lang="en-US" smtClean="0"/>
              <a:t>6/17/2022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CC984-581B-4BD0-9026-4FDCFC69FB78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158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484632">
              <a:defRPr/>
            </a:pPr>
            <a:r>
              <a:rPr lang="en-US">
                <a:solidFill>
                  <a:schemeClr val="accent1">
                    <a:tint val="83000"/>
                    <a:satMod val="150000"/>
                  </a:schemeClr>
                </a:solidFill>
              </a:rPr>
              <a:t>Associative Entity</a:t>
            </a:r>
          </a:p>
        </p:txBody>
      </p:sp>
      <p:sp>
        <p:nvSpPr>
          <p:cNvPr id="39938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>
          <a:xfrm>
            <a:off x="1981200" y="1882775"/>
            <a:ext cx="8229600" cy="4572000"/>
          </a:xfrm>
        </p:spPr>
        <p:txBody>
          <a:bodyPr/>
          <a:lstStyle/>
          <a:p>
            <a:r>
              <a:rPr lang="en-US" smtClean="0"/>
              <a:t>An entity type that associates the instances of one or more entity types and contains attributes that are peculiar to the relationship between those entity instances</a:t>
            </a:r>
          </a:p>
        </p:txBody>
      </p:sp>
      <p:sp>
        <p:nvSpPr>
          <p:cNvPr id="39939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en-US" smtClean="0">
                <a:cs typeface="Arial" charset="0"/>
              </a:rPr>
              <a:t>Prepared by SKM</a:t>
            </a:r>
            <a:endParaRPr lang="en-US">
              <a:cs typeface="Arial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1A1F8-A40F-4834-9B94-C86164780306}" type="datetime1">
              <a:rPr lang="en-US" smtClean="0"/>
              <a:t>6/17/2022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CC984-581B-4BD0-9026-4FDCFC69FB78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9961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Footer Placeholder 2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en-US" smtClean="0">
                <a:cs typeface="Arial" charset="0"/>
              </a:rPr>
              <a:t>Prepared by SKM</a:t>
            </a:r>
            <a:endParaRPr lang="en-US">
              <a:cs typeface="Arial" charset="0"/>
            </a:endParaRPr>
          </a:p>
        </p:txBody>
      </p:sp>
      <p:pic>
        <p:nvPicPr>
          <p:cNvPr id="40963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827214" y="2278064"/>
            <a:ext cx="8535987" cy="2306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9E667-2C0B-4D8F-969B-D4D9A4ED33E3}" type="datetime1">
              <a:rPr lang="en-US" smtClean="0"/>
              <a:t>6/17/2022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CC984-581B-4BD0-9026-4FDCFC69FB7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196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484632">
              <a:defRPr/>
            </a:pPr>
            <a:r>
              <a:rPr lang="en-US" sz="3600">
                <a:solidFill>
                  <a:schemeClr val="accent1">
                    <a:tint val="83000"/>
                    <a:satMod val="150000"/>
                  </a:schemeClr>
                </a:solidFill>
              </a:rPr>
              <a:t>PVF WebStore:</a:t>
            </a:r>
            <a:br>
              <a:rPr lang="en-US" sz="3600">
                <a:solidFill>
                  <a:schemeClr val="accent1">
                    <a:tint val="83000"/>
                    <a:satMod val="150000"/>
                  </a:schemeClr>
                </a:solidFill>
              </a:rPr>
            </a:br>
            <a:r>
              <a:rPr lang="en-US" sz="3600">
                <a:solidFill>
                  <a:schemeClr val="accent1">
                    <a:tint val="83000"/>
                    <a:satMod val="150000"/>
                  </a:schemeClr>
                </a:solidFill>
              </a:rPr>
              <a:t> Conceptual Data Modeling</a:t>
            </a:r>
          </a:p>
        </p:txBody>
      </p:sp>
      <p:sp>
        <p:nvSpPr>
          <p:cNvPr id="41986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>
          <a:xfrm>
            <a:off x="2362200" y="1600200"/>
            <a:ext cx="7772400" cy="4419600"/>
          </a:xfrm>
        </p:spPr>
        <p:txBody>
          <a:bodyPr/>
          <a:lstStyle/>
          <a:p>
            <a:r>
              <a:rPr lang="en-US"/>
              <a:t>Conceptual data modeling for Internet applications is no different than the process followed for other types of applications</a:t>
            </a:r>
          </a:p>
          <a:p>
            <a:r>
              <a:rPr lang="en-US"/>
              <a:t>Pine Valley Furniture WebStore</a:t>
            </a:r>
          </a:p>
          <a:p>
            <a:pPr lvl="1"/>
            <a:r>
              <a:rPr lang="en-US"/>
              <a:t>Four entity types defined</a:t>
            </a:r>
          </a:p>
          <a:p>
            <a:pPr lvl="2"/>
            <a:r>
              <a:rPr lang="en-US"/>
              <a:t>Customer</a:t>
            </a:r>
          </a:p>
          <a:p>
            <a:pPr lvl="2"/>
            <a:r>
              <a:rPr lang="en-US"/>
              <a:t>Inventory</a:t>
            </a:r>
          </a:p>
          <a:p>
            <a:pPr lvl="2"/>
            <a:r>
              <a:rPr lang="en-US"/>
              <a:t>Order</a:t>
            </a:r>
          </a:p>
          <a:p>
            <a:pPr lvl="2"/>
            <a:r>
              <a:rPr lang="en-US"/>
              <a:t>Shopping cart</a:t>
            </a:r>
          </a:p>
        </p:txBody>
      </p:sp>
      <p:sp>
        <p:nvSpPr>
          <p:cNvPr id="4198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en-US" dirty="0" smtClean="0">
                <a:cs typeface="Arial" charset="0"/>
              </a:rPr>
              <a:t>Prepared by SKM</a:t>
            </a:r>
            <a:endParaRPr lang="en-US" dirty="0">
              <a:cs typeface="Arial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E7044-E8E7-4304-8780-05B38A6C455D}" type="datetime1">
              <a:rPr lang="en-US" smtClean="0"/>
              <a:t>6/17/2022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CC984-581B-4BD0-9026-4FDCFC69FB78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747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Footer Placeholder 2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en-US" smtClean="0">
                <a:cs typeface="Arial" charset="0"/>
              </a:rPr>
              <a:t>Prepared by SKM</a:t>
            </a:r>
            <a:endParaRPr lang="en-US">
              <a:cs typeface="Arial" charset="0"/>
            </a:endParaRPr>
          </a:p>
        </p:txBody>
      </p:sp>
      <p:pic>
        <p:nvPicPr>
          <p:cNvPr id="282624" name="Picture 0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76400" y="2439989"/>
            <a:ext cx="8909050" cy="2212975"/>
          </a:xfrm>
          <a:prstGeom prst="rect">
            <a:avLst/>
          </a:prstGeom>
          <a:noFill/>
          <a:ln>
            <a:noFill/>
          </a:ln>
          <a:effectLst>
            <a:outerShdw dist="45791" dir="2021404" algn="ctr" rotWithShape="0">
              <a:schemeClr val="bg2"/>
            </a:outerShdw>
          </a:effectLst>
          <a:extLst/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623D0-B46A-42A3-BC47-6F25B983043C}" type="datetime1">
              <a:rPr lang="en-US" smtClean="0"/>
              <a:t>6/17/2022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CC984-581B-4BD0-9026-4FDCFC69FB78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60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304800"/>
            <a:ext cx="8229600" cy="1399032"/>
          </a:xfrm>
        </p:spPr>
        <p:txBody>
          <a:bodyPr>
            <a:normAutofit/>
          </a:bodyPr>
          <a:lstStyle/>
          <a:p>
            <a:pPr marL="484632">
              <a:defRPr/>
            </a:pPr>
            <a:r>
              <a:rPr lang="en-US" dirty="0"/>
              <a:t>Key data-modeling terms</a:t>
            </a:r>
            <a:br>
              <a:rPr lang="en-US" dirty="0"/>
            </a:br>
            <a:endParaRPr lang="en-US" dirty="0">
              <a:solidFill>
                <a:schemeClr val="accent1">
                  <a:tint val="83000"/>
                  <a:satMod val="150000"/>
                </a:schemeClr>
              </a:solidFill>
            </a:endParaRPr>
          </a:p>
        </p:txBody>
      </p:sp>
      <p:sp>
        <p:nvSpPr>
          <p:cNvPr id="102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>
          <a:xfrm>
            <a:off x="2362200" y="1447800"/>
            <a:ext cx="7772400" cy="4572000"/>
          </a:xfrm>
        </p:spPr>
        <p:txBody>
          <a:bodyPr>
            <a:normAutofit/>
          </a:bodyPr>
          <a:lstStyle/>
          <a:p>
            <a:pPr marL="822960" lvl="1">
              <a:buClr>
                <a:srgbClr val="BA2212"/>
              </a:buClr>
              <a:buFont typeface="Wingdings" pitchFamily="2" charset="2"/>
              <a:buChar char="ü"/>
              <a:defRPr/>
            </a:pPr>
            <a:r>
              <a:rPr lang="en-US" dirty="0"/>
              <a:t>Conceptual data model</a:t>
            </a:r>
          </a:p>
          <a:p>
            <a:pPr marL="822960" lvl="1">
              <a:buClr>
                <a:srgbClr val="BA2212"/>
              </a:buClr>
              <a:buFont typeface="Wingdings" pitchFamily="2" charset="2"/>
              <a:buChar char="ü"/>
              <a:defRPr/>
            </a:pPr>
            <a:r>
              <a:rPr lang="en-US" dirty="0"/>
              <a:t>Entity-Relationship (E-R) diagram </a:t>
            </a:r>
          </a:p>
          <a:p>
            <a:pPr marL="822960" lvl="1">
              <a:buClr>
                <a:srgbClr val="BA2212"/>
              </a:buClr>
              <a:buFont typeface="Wingdings" pitchFamily="2" charset="2"/>
              <a:buChar char="ü"/>
              <a:defRPr/>
            </a:pPr>
            <a:r>
              <a:rPr lang="en-US" dirty="0"/>
              <a:t>Entity type</a:t>
            </a:r>
          </a:p>
          <a:p>
            <a:pPr marL="822960" lvl="1">
              <a:buClr>
                <a:srgbClr val="BA2212"/>
              </a:buClr>
              <a:buFont typeface="Wingdings" pitchFamily="2" charset="2"/>
              <a:buChar char="ü"/>
              <a:defRPr/>
            </a:pPr>
            <a:r>
              <a:rPr lang="en-US" dirty="0"/>
              <a:t>Entity instance</a:t>
            </a:r>
          </a:p>
          <a:p>
            <a:pPr marL="822960" lvl="1">
              <a:buClr>
                <a:srgbClr val="BA2212"/>
              </a:buClr>
              <a:buFont typeface="Wingdings" pitchFamily="2" charset="2"/>
              <a:buChar char="ü"/>
              <a:defRPr/>
            </a:pPr>
            <a:r>
              <a:rPr lang="en-US" dirty="0"/>
              <a:t>Attribute</a:t>
            </a:r>
          </a:p>
          <a:p>
            <a:pPr marL="822960" lvl="1">
              <a:buClr>
                <a:srgbClr val="BA2212"/>
              </a:buClr>
              <a:buFont typeface="Wingdings" pitchFamily="2" charset="2"/>
              <a:buChar char="ü"/>
              <a:defRPr/>
            </a:pPr>
            <a:r>
              <a:rPr lang="en-US" dirty="0"/>
              <a:t>Candidate key</a:t>
            </a:r>
          </a:p>
          <a:p>
            <a:pPr marL="822960" lvl="1">
              <a:buClr>
                <a:srgbClr val="BA2212"/>
              </a:buClr>
              <a:buFont typeface="Wingdings" pitchFamily="2" charset="2"/>
              <a:buChar char="ü"/>
              <a:defRPr/>
            </a:pPr>
            <a:r>
              <a:rPr lang="en-US" dirty="0" err="1"/>
              <a:t>Multivalued</a:t>
            </a:r>
            <a:r>
              <a:rPr lang="en-US" dirty="0"/>
              <a:t> attributes</a:t>
            </a:r>
          </a:p>
          <a:p>
            <a:pPr marL="822960" lvl="1">
              <a:buClr>
                <a:srgbClr val="BA2212"/>
              </a:buClr>
              <a:buFont typeface="Wingdings" pitchFamily="2" charset="2"/>
              <a:buChar char="ü"/>
              <a:defRPr/>
            </a:pPr>
            <a:r>
              <a:rPr lang="en-US" dirty="0"/>
              <a:t>Relationship</a:t>
            </a:r>
          </a:p>
          <a:p>
            <a:pPr marL="822960" lvl="1">
              <a:buClr>
                <a:srgbClr val="BA2212"/>
              </a:buClr>
              <a:buFont typeface="Wingdings" pitchFamily="2" charset="2"/>
              <a:buChar char="ü"/>
              <a:defRPr/>
            </a:pPr>
            <a:r>
              <a:rPr lang="en-US" dirty="0"/>
              <a:t>Degree</a:t>
            </a:r>
          </a:p>
          <a:p>
            <a:pPr marL="822960" lvl="1">
              <a:buClr>
                <a:srgbClr val="BA2212"/>
              </a:buClr>
              <a:buFont typeface="Wingdings" pitchFamily="2" charset="2"/>
              <a:buChar char="ü"/>
              <a:defRPr/>
            </a:pPr>
            <a:r>
              <a:rPr lang="en-US" dirty="0"/>
              <a:t>Cardinality</a:t>
            </a:r>
          </a:p>
          <a:p>
            <a:pPr marL="822960" lvl="1">
              <a:buClr>
                <a:srgbClr val="BA2212"/>
              </a:buClr>
              <a:buFont typeface="Wingdings" pitchFamily="2" charset="2"/>
              <a:buChar char="ü"/>
              <a:defRPr/>
            </a:pPr>
            <a:r>
              <a:rPr lang="en-US" dirty="0"/>
              <a:t>Associative entity</a:t>
            </a:r>
          </a:p>
        </p:txBody>
      </p:sp>
      <p:sp>
        <p:nvSpPr>
          <p:cNvPr id="19459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en-US" smtClean="0">
                <a:cs typeface="Arial" charset="0"/>
              </a:rPr>
              <a:t>Prepared by SKM</a:t>
            </a:r>
            <a:endParaRPr lang="en-US">
              <a:cs typeface="Arial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1752600" y="6172200"/>
            <a:ext cx="609600" cy="336550"/>
          </a:xfrm>
          <a:prstGeom prst="rect">
            <a:avLst/>
          </a:prstGeom>
          <a:noFill/>
          <a:ln>
            <a:noFill/>
          </a:ln>
          <a:effectLst>
            <a:outerShdw dist="45791" dir="2021404" algn="ctr" rotWithShape="0">
              <a:srgbClr val="9999FF"/>
            </a:outerShdw>
          </a:effectLst>
          <a:extLst/>
        </p:spPr>
        <p:txBody>
          <a:bodyPr>
            <a:spAutoFit/>
          </a:bodyPr>
          <a:lstStyle/>
          <a:p>
            <a:pPr algn="ctr" eaLnBrk="0" hangingPunct="0">
              <a:defRPr/>
            </a:pPr>
            <a:r>
              <a:rPr lang="en-US" sz="1600"/>
              <a:t>7.2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AC389-857D-4505-823F-687C19B5F320}" type="datetime1">
              <a:rPr lang="en-US" smtClean="0"/>
              <a:t>6/17/2022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CC984-581B-4BD0-9026-4FDCFC69FB78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422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47</TotalTime>
  <Words>969</Words>
  <Application>Microsoft Office PowerPoint</Application>
  <PresentationFormat>Widescreen</PresentationFormat>
  <Paragraphs>193</Paragraphs>
  <Slides>24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2" baseType="lpstr">
      <vt:lpstr>Arial</vt:lpstr>
      <vt:lpstr>Calibri</vt:lpstr>
      <vt:lpstr>Trebuchet MS</vt:lpstr>
      <vt:lpstr>Verdana</vt:lpstr>
      <vt:lpstr>Wingdings</vt:lpstr>
      <vt:lpstr>Wingdings 2</vt:lpstr>
      <vt:lpstr>Wingdings 3</vt:lpstr>
      <vt:lpstr>Facet</vt:lpstr>
      <vt:lpstr>Unit-3C SSR Conceptual Data Modeling</vt:lpstr>
      <vt:lpstr>Conceptual Data Modeling</vt:lpstr>
      <vt:lpstr>The Process of Conceptual Data Modeling</vt:lpstr>
      <vt:lpstr>Deliverables and Outcome</vt:lpstr>
      <vt:lpstr>PowerPoint Presentation</vt:lpstr>
      <vt:lpstr>PowerPoint Presentation</vt:lpstr>
      <vt:lpstr>Deliverables and Outcome</vt:lpstr>
      <vt:lpstr>Gathering Information for Conceptual Data Modeling</vt:lpstr>
      <vt:lpstr>Introduction to Entity-Relationship Modeling</vt:lpstr>
      <vt:lpstr>Entity-Relationship (E-R) Modeling Key Terms</vt:lpstr>
      <vt:lpstr>Entity-Relationship (E-R) Modeling (continued) Key Terms</vt:lpstr>
      <vt:lpstr>PowerPoint Presentation</vt:lpstr>
      <vt:lpstr>Entity-Relationship (E-R) Modeling (continued) Key Terms</vt:lpstr>
      <vt:lpstr>Entity-Relationship (E-R) Modeling(continued) Key Terms</vt:lpstr>
      <vt:lpstr>Entity-Relationship (E-R) Modeling (continued) Key Terms</vt:lpstr>
      <vt:lpstr>Conceptual Data Modeling and the E-R Diagram</vt:lpstr>
      <vt:lpstr>Degree of Relationship</vt:lpstr>
      <vt:lpstr>PowerPoint Presentation</vt:lpstr>
      <vt:lpstr>Cardinality</vt:lpstr>
      <vt:lpstr>Associative Entity</vt:lpstr>
      <vt:lpstr>PowerPoint Presentation</vt:lpstr>
      <vt:lpstr>PVF WebStore:  Conceptual Data Modeling</vt:lpstr>
      <vt:lpstr>PowerPoint Presentation</vt:lpstr>
      <vt:lpstr>Key data-modeling terms 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Unit-3C SSR Conceptual Data Modeling</dc:title>
  <dc:creator>Microsoft account</dc:creator>
  <cp:lastModifiedBy>Microsoft account</cp:lastModifiedBy>
  <cp:revision>7</cp:revision>
  <dcterms:created xsi:type="dcterms:W3CDTF">2022-06-14T16:54:19Z</dcterms:created>
  <dcterms:modified xsi:type="dcterms:W3CDTF">2022-06-17T07:02:47Z</dcterms:modified>
</cp:coreProperties>
</file>