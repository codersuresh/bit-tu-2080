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56" r:id="rId2"/>
    <p:sldId id="355" r:id="rId3"/>
    <p:sldId id="256" r:id="rId4"/>
    <p:sldId id="257" r:id="rId5"/>
    <p:sldId id="258" r:id="rId6"/>
    <p:sldId id="259" r:id="rId7"/>
    <p:sldId id="260" r:id="rId8"/>
    <p:sldId id="262" r:id="rId9"/>
    <p:sldId id="363" r:id="rId10"/>
    <p:sldId id="361" r:id="rId11"/>
    <p:sldId id="362" r:id="rId12"/>
    <p:sldId id="264" r:id="rId13"/>
    <p:sldId id="265" r:id="rId14"/>
    <p:sldId id="266" r:id="rId15"/>
    <p:sldId id="267" r:id="rId16"/>
    <p:sldId id="357" r:id="rId17"/>
    <p:sldId id="358" r:id="rId18"/>
    <p:sldId id="269" r:id="rId19"/>
    <p:sldId id="270" r:id="rId20"/>
    <p:sldId id="271"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7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3791C-2F11-66C7-07A5-60FE15AF89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81CE86-E3F9-F435-A7F0-29A06BC029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6D7A88-C53D-C665-A709-B37677E5C7FC}"/>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5" name="Footer Placeholder 4">
            <a:extLst>
              <a:ext uri="{FF2B5EF4-FFF2-40B4-BE49-F238E27FC236}">
                <a16:creationId xmlns:a16="http://schemas.microsoft.com/office/drawing/2014/main" id="{FDDA6BCA-249D-A71F-5CE7-2BC2E2F6D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4B678D-C0B4-A685-7B24-6AA06F574E9D}"/>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1341935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BCD38-9B89-87F9-93B5-CC08DD64E5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E6ED65-93A3-8166-7EA5-2B20750C48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4C037B-02F2-E0CC-E354-FB0F3C7CAE32}"/>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5" name="Footer Placeholder 4">
            <a:extLst>
              <a:ext uri="{FF2B5EF4-FFF2-40B4-BE49-F238E27FC236}">
                <a16:creationId xmlns:a16="http://schemas.microsoft.com/office/drawing/2014/main" id="{BB98D610-A164-0E7C-CF72-208E7AC560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2F130E-5929-E338-59FE-36D515B034B8}"/>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1726871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5785D-67BF-C5E3-DCE9-41A7C05356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D997807-1C30-B326-F4B7-03823CF335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F7AB0E-2E5F-BA52-4E86-47DEDA57B088}"/>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5" name="Footer Placeholder 4">
            <a:extLst>
              <a:ext uri="{FF2B5EF4-FFF2-40B4-BE49-F238E27FC236}">
                <a16:creationId xmlns:a16="http://schemas.microsoft.com/office/drawing/2014/main" id="{E4391B94-6877-2099-48F1-261820C78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025A15-BE44-DAF1-C002-7BDC38A1F400}"/>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3382509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14003-216E-4411-9A1C-F5B7B0857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7A8D2C-98F9-8AF7-F5B3-65AD9076D8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F6D7B2-444A-BEFF-4D44-7E5D047FB8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1D00A1-298E-0AFF-C2FA-25A31A046E39}"/>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6" name="Footer Placeholder 5">
            <a:extLst>
              <a:ext uri="{FF2B5EF4-FFF2-40B4-BE49-F238E27FC236}">
                <a16:creationId xmlns:a16="http://schemas.microsoft.com/office/drawing/2014/main" id="{7F387B39-A564-88AB-8592-602F04F1BC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6AE2DB-4081-92CE-0072-BE3EDC2F2FFD}"/>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3685055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AB8D3-B73C-3C13-9D3C-39D85494251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628614-65BA-60D5-9DF9-EF4A5B0879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DA83B9-49C3-525C-B599-1C5F8F2646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F2CE75-E8A1-E4AA-727F-18AD6A1854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B785A8-D9D0-F722-52D1-11C8DB9E7C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59D6E2-3F32-3CC9-72F8-6824EE5746B8}"/>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8" name="Footer Placeholder 7">
            <a:extLst>
              <a:ext uri="{FF2B5EF4-FFF2-40B4-BE49-F238E27FC236}">
                <a16:creationId xmlns:a16="http://schemas.microsoft.com/office/drawing/2014/main" id="{78556F2F-8F22-7DBB-68B0-5610F22C7B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CD699E-B5CB-714F-73E1-A1E792BC3996}"/>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2149992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FF580-2CC4-FD14-5C42-0412CB213D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391115-72F3-62A8-0F2C-545827D1D9CB}"/>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4" name="Footer Placeholder 3">
            <a:extLst>
              <a:ext uri="{FF2B5EF4-FFF2-40B4-BE49-F238E27FC236}">
                <a16:creationId xmlns:a16="http://schemas.microsoft.com/office/drawing/2014/main" id="{EFBF438E-AFC1-E55F-37C5-D43FA1D6DA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BA1BC6-4FAD-219A-D54D-CCDB9E85326D}"/>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3134274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4FD3F7-CF70-287F-E1D3-34AB93DFA005}"/>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3" name="Footer Placeholder 2">
            <a:extLst>
              <a:ext uri="{FF2B5EF4-FFF2-40B4-BE49-F238E27FC236}">
                <a16:creationId xmlns:a16="http://schemas.microsoft.com/office/drawing/2014/main" id="{1EF1B069-CCDF-3933-3EA3-D613A69A2A8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C10418-893D-10D5-476F-E161838C8079}"/>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735685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1363A-EAEB-A6FA-EF55-03762CC0B4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6701D6-BAF8-5225-EA5A-24039FB0E7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EEAD95E-FC7F-3250-CB45-87F88B8ED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64A116-0F4F-22F1-651F-BACAE0E765F0}"/>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6" name="Footer Placeholder 5">
            <a:extLst>
              <a:ext uri="{FF2B5EF4-FFF2-40B4-BE49-F238E27FC236}">
                <a16:creationId xmlns:a16="http://schemas.microsoft.com/office/drawing/2014/main" id="{A6719FB4-F546-0F71-1A52-D94E81ECFB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B0C6E1-58D9-5D89-48C7-A04A1EC242B8}"/>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302261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D24B2-A45C-1967-03E1-F85D455AEE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B909A4-83D4-E0E8-99AD-21B507EC45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EA1503-2BBB-A245-BD29-63564DB296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922BDE-3E74-4E52-8E51-9143FA6E5389}"/>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6" name="Footer Placeholder 5">
            <a:extLst>
              <a:ext uri="{FF2B5EF4-FFF2-40B4-BE49-F238E27FC236}">
                <a16:creationId xmlns:a16="http://schemas.microsoft.com/office/drawing/2014/main" id="{853F2B82-FA82-AADC-59E7-9192898810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44A336-4CCA-B8B5-CBD6-DC9F26979D23}"/>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1404372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A6E70-6DFA-C17D-F588-8FC812304F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69C2230-260E-035C-3C74-BC3724F0BA5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2FCA4-658D-257F-24FE-B8B2892DE07D}"/>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5" name="Footer Placeholder 4">
            <a:extLst>
              <a:ext uri="{FF2B5EF4-FFF2-40B4-BE49-F238E27FC236}">
                <a16:creationId xmlns:a16="http://schemas.microsoft.com/office/drawing/2014/main" id="{E7C20B4B-AC41-EB96-F498-4373E5480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10E3E-747C-902C-2456-E30D6CAE61C6}"/>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2717866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D81822-3E66-9CAF-49BE-1DC8CB3ABE5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3A5656-7AD3-F9E6-3354-2FD233C587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6D0945-5434-F4BE-AC33-DBEE0F8A5BBF}"/>
              </a:ext>
            </a:extLst>
          </p:cNvPr>
          <p:cNvSpPr>
            <a:spLocks noGrp="1"/>
          </p:cNvSpPr>
          <p:nvPr>
            <p:ph type="dt" sz="half" idx="10"/>
          </p:nvPr>
        </p:nvSpPr>
        <p:spPr/>
        <p:txBody>
          <a:bodyPr/>
          <a:lstStyle/>
          <a:p>
            <a:fld id="{98CAB2E6-D99B-484B-9626-6B1E0FA08CD1}" type="datetimeFigureOut">
              <a:rPr lang="en-US" smtClean="0"/>
              <a:t>1/22/2024</a:t>
            </a:fld>
            <a:endParaRPr lang="en-US"/>
          </a:p>
        </p:txBody>
      </p:sp>
      <p:sp>
        <p:nvSpPr>
          <p:cNvPr id="5" name="Footer Placeholder 4">
            <a:extLst>
              <a:ext uri="{FF2B5EF4-FFF2-40B4-BE49-F238E27FC236}">
                <a16:creationId xmlns:a16="http://schemas.microsoft.com/office/drawing/2014/main" id="{562CDEC0-9885-A433-9014-B582CBCF98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B8962E-19A5-8758-AE4B-E8778BA657AE}"/>
              </a:ext>
            </a:extLst>
          </p:cNvPr>
          <p:cNvSpPr>
            <a:spLocks noGrp="1"/>
          </p:cNvSpPr>
          <p:nvPr>
            <p:ph type="sldNum" sz="quarter" idx="12"/>
          </p:nvPr>
        </p:nvSpPr>
        <p:spPr/>
        <p:txBody>
          <a:bodyPr/>
          <a:lstStyle/>
          <a:p>
            <a:fld id="{EBDF2C47-A705-468B-B210-B533066F2D82}" type="slidenum">
              <a:rPr lang="en-US" smtClean="0"/>
              <a:t>‹#›</a:t>
            </a:fld>
            <a:endParaRPr lang="en-US"/>
          </a:p>
        </p:txBody>
      </p:sp>
    </p:spTree>
    <p:extLst>
      <p:ext uri="{BB962C8B-B14F-4D97-AF65-F5344CB8AC3E}">
        <p14:creationId xmlns:p14="http://schemas.microsoft.com/office/powerpoint/2010/main" val="2087568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3446E5-61D0-DAB7-C076-19B91B7E13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75AFFA-A4E0-1534-CB52-A499D58570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153CF-1569-2495-D19E-61BC279708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CAB2E6-D99B-484B-9626-6B1E0FA08CD1}" type="datetimeFigureOut">
              <a:rPr lang="en-US" smtClean="0"/>
              <a:t>1/22/2024</a:t>
            </a:fld>
            <a:endParaRPr lang="en-US"/>
          </a:p>
        </p:txBody>
      </p:sp>
      <p:sp>
        <p:nvSpPr>
          <p:cNvPr id="5" name="Footer Placeholder 4">
            <a:extLst>
              <a:ext uri="{FF2B5EF4-FFF2-40B4-BE49-F238E27FC236}">
                <a16:creationId xmlns:a16="http://schemas.microsoft.com/office/drawing/2014/main" id="{AD42EAF6-4214-75C8-DBAC-71C2E2C0E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D9803F1-B296-E230-11A9-8B751C936C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DF2C47-A705-468B-B210-B533066F2D82}" type="slidenum">
              <a:rPr lang="en-US" smtClean="0"/>
              <a:t>‹#›</a:t>
            </a:fld>
            <a:endParaRPr lang="en-US"/>
          </a:p>
        </p:txBody>
      </p:sp>
    </p:spTree>
    <p:extLst>
      <p:ext uri="{BB962C8B-B14F-4D97-AF65-F5344CB8AC3E}">
        <p14:creationId xmlns:p14="http://schemas.microsoft.com/office/powerpoint/2010/main" val="2454086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Box 1">
            <a:extLst>
              <a:ext uri="{FF2B5EF4-FFF2-40B4-BE49-F238E27FC236}">
                <a16:creationId xmlns:a16="http://schemas.microsoft.com/office/drawing/2014/main" id="{CB5B07AA-169F-4C01-836B-EC4C246A5CAC}"/>
              </a:ext>
            </a:extLst>
          </p:cNvPr>
          <p:cNvSpPr txBox="1">
            <a:spLocks noChangeArrowheads="1"/>
          </p:cNvSpPr>
          <p:nvPr/>
        </p:nvSpPr>
        <p:spPr bwMode="auto">
          <a:xfrm>
            <a:off x="926592" y="762000"/>
            <a:ext cx="1100556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Application Layer</a:t>
            </a:r>
          </a:p>
          <a:p>
            <a:pPr eaLnBrk="1" hangingPunct="1">
              <a:lnSpc>
                <a:spcPct val="100000"/>
              </a:lnSpc>
              <a:spcBef>
                <a:spcPct val="0"/>
              </a:spcBef>
              <a:buFontTx/>
              <a:buNone/>
            </a:pPr>
            <a:endParaRPr lang="en-US" altLang="en-US" sz="864"/>
          </a:p>
        </p:txBody>
      </p:sp>
      <p:pic>
        <p:nvPicPr>
          <p:cNvPr id="2051" name="Picture 2">
            <a:extLst>
              <a:ext uri="{FF2B5EF4-FFF2-40B4-BE49-F238E27FC236}">
                <a16:creationId xmlns:a16="http://schemas.microsoft.com/office/drawing/2014/main" id="{E15F847E-584D-406F-B05D-7F916798A3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0274" y="1982724"/>
            <a:ext cx="9998202" cy="4284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Box 1">
            <a:extLst>
              <a:ext uri="{FF2B5EF4-FFF2-40B4-BE49-F238E27FC236}">
                <a16:creationId xmlns:a16="http://schemas.microsoft.com/office/drawing/2014/main" id="{85BB9F73-93C8-4308-A2E7-19F04BB72499}"/>
              </a:ext>
            </a:extLst>
          </p:cNvPr>
          <p:cNvSpPr txBox="1">
            <a:spLocks noChangeArrowheads="1"/>
          </p:cNvSpPr>
          <p:nvPr/>
        </p:nvSpPr>
        <p:spPr bwMode="auto">
          <a:xfrm>
            <a:off x="926592" y="762000"/>
            <a:ext cx="1100556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Application Layer</a:t>
            </a:r>
          </a:p>
          <a:p>
            <a:pPr eaLnBrk="1" hangingPunct="1">
              <a:lnSpc>
                <a:spcPct val="100000"/>
              </a:lnSpc>
              <a:spcBef>
                <a:spcPct val="0"/>
              </a:spcBef>
              <a:buFontTx/>
              <a:buNone/>
            </a:pPr>
            <a:endParaRPr lang="en-US" altLang="en-US" sz="864"/>
          </a:p>
        </p:txBody>
      </p:sp>
      <p:sp>
        <p:nvSpPr>
          <p:cNvPr id="6" name="TextBox 5">
            <a:extLst>
              <a:ext uri="{FF2B5EF4-FFF2-40B4-BE49-F238E27FC236}">
                <a16:creationId xmlns:a16="http://schemas.microsoft.com/office/drawing/2014/main" id="{02F5D09F-515A-4A7A-A9C7-A78181A0C260}"/>
              </a:ext>
            </a:extLst>
          </p:cNvPr>
          <p:cNvSpPr txBox="1"/>
          <p:nvPr/>
        </p:nvSpPr>
        <p:spPr>
          <a:xfrm>
            <a:off x="926592" y="2348484"/>
            <a:ext cx="10136124" cy="2219838"/>
          </a:xfrm>
          <a:prstGeom prst="rect">
            <a:avLst/>
          </a:prstGeom>
          <a:noFill/>
        </p:spPr>
        <p:txBody>
          <a:bodyPr>
            <a:spAutoFit/>
          </a:bodyPr>
          <a:lstStyle/>
          <a:p>
            <a:pPr marL="16154">
              <a:defRPr/>
            </a:pPr>
            <a:r>
              <a:rPr lang="en-US" sz="2304" b="1"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The functions of the application layer are − </a:t>
            </a:r>
            <a:endParaRPr lang="en-US" sz="2112" dirty="0">
              <a:ea typeface="Times New Roman" panose="02020603050405020304" pitchFamily="18" charset="0"/>
              <a:cs typeface="Mangal" panose="02040503050203030202" pitchFamily="18" charset="0"/>
            </a:endParaRPr>
          </a:p>
          <a:p>
            <a:pPr marL="125882">
              <a:tabLst>
                <a:tab pos="235610" algn="l"/>
              </a:tabLst>
              <a:defRPr/>
            </a:pPr>
            <a:r>
              <a:rPr lang="en-US" sz="1728"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	</a:t>
            </a:r>
            <a:r>
              <a:rPr lang="en-US" sz="2304"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It facilitates the user to use the services of the network. </a:t>
            </a:r>
            <a:endParaRPr lang="en-US" sz="2112" dirty="0">
              <a:ea typeface="Times New Roman" panose="02020603050405020304" pitchFamily="18" charset="0"/>
              <a:cs typeface="Mangal" panose="02040503050203030202" pitchFamily="18" charset="0"/>
            </a:endParaRPr>
          </a:p>
          <a:p>
            <a:pPr marL="125882">
              <a:tabLst>
                <a:tab pos="235610" algn="l"/>
              </a:tabLst>
              <a:defRPr/>
            </a:pPr>
            <a:r>
              <a:rPr lang="en-US" sz="1728"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	</a:t>
            </a:r>
            <a:r>
              <a:rPr lang="en-US" sz="2304"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It is used to develop network-based applications. </a:t>
            </a:r>
            <a:endParaRPr lang="en-US" sz="2112" dirty="0">
              <a:ea typeface="Times New Roman" panose="02020603050405020304" pitchFamily="18" charset="0"/>
              <a:cs typeface="Mangal" panose="02040503050203030202" pitchFamily="18" charset="0"/>
            </a:endParaRPr>
          </a:p>
          <a:p>
            <a:pPr marL="125882">
              <a:tabLst>
                <a:tab pos="235610" algn="l"/>
              </a:tabLst>
              <a:defRPr/>
            </a:pPr>
            <a:r>
              <a:rPr lang="en-US" sz="1728"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	</a:t>
            </a:r>
            <a:r>
              <a:rPr lang="en-US" sz="2304"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It provides user services like user login, naming network devices, formatting 	messages, and e-mails, transfer of files etc. </a:t>
            </a:r>
            <a:endParaRPr lang="en-US" sz="2112" dirty="0">
              <a:ea typeface="Times New Roman" panose="02020603050405020304" pitchFamily="18" charset="0"/>
              <a:cs typeface="Mangal" panose="02040503050203030202" pitchFamily="18" charset="0"/>
            </a:endParaRPr>
          </a:p>
          <a:p>
            <a:pPr marL="125882">
              <a:tabLst>
                <a:tab pos="235610" algn="l"/>
              </a:tabLst>
              <a:defRPr/>
            </a:pPr>
            <a:r>
              <a:rPr lang="en-US" sz="1728"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	</a:t>
            </a:r>
            <a:r>
              <a:rPr lang="en-US" sz="2304" dirty="0">
                <a:solidFill>
                  <a:srgbClr val="000000"/>
                </a:solidFill>
                <a:latin typeface="Times New Roman" panose="02020603050405020304" pitchFamily="18" charset="0"/>
                <a:ea typeface="Times New Roman" panose="02020603050405020304" pitchFamily="18" charset="0"/>
                <a:cs typeface="Mangal" panose="02040503050203030202" pitchFamily="18" charset="0"/>
              </a:rPr>
              <a:t>It is also concerned with error handling and recovery of the message as a whole. </a:t>
            </a:r>
            <a:endParaRPr lang="en-US" sz="2112" dirty="0">
              <a:ea typeface="Times New Roman" panose="02020603050405020304" pitchFamily="18" charset="0"/>
              <a:cs typeface="Mangal" panose="02040503050203030202"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1307AF03-2164-4CF4-8322-DDCC66381CA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9" name="TextBox 3">
            <a:extLst>
              <a:ext uri="{FF2B5EF4-FFF2-40B4-BE49-F238E27FC236}">
                <a16:creationId xmlns:a16="http://schemas.microsoft.com/office/drawing/2014/main" id="{D358DC5B-47B2-4EC6-85A9-23C4C08558E2}"/>
              </a:ext>
            </a:extLst>
          </p:cNvPr>
          <p:cNvSpPr txBox="1">
            <a:spLocks noChangeArrowheads="1"/>
          </p:cNvSpPr>
          <p:nvPr/>
        </p:nvSpPr>
        <p:spPr bwMode="auto">
          <a:xfrm>
            <a:off x="926592" y="762000"/>
            <a:ext cx="1057732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URL (Universal Resource Locator)</a:t>
            </a:r>
          </a:p>
          <a:p>
            <a:pPr eaLnBrk="1" hangingPunct="1">
              <a:lnSpc>
                <a:spcPct val="100000"/>
              </a:lnSpc>
              <a:spcBef>
                <a:spcPct val="0"/>
              </a:spcBef>
              <a:buFontTx/>
              <a:buNone/>
            </a:pPr>
            <a:endParaRPr lang="en-US" altLang="en-US" sz="864"/>
          </a:p>
        </p:txBody>
      </p:sp>
      <p:sp>
        <p:nvSpPr>
          <p:cNvPr id="4100" name="TextBox 4">
            <a:extLst>
              <a:ext uri="{FF2B5EF4-FFF2-40B4-BE49-F238E27FC236}">
                <a16:creationId xmlns:a16="http://schemas.microsoft.com/office/drawing/2014/main" id="{B4C357FE-7BD2-4D1D-8804-D9DA8643414E}"/>
              </a:ext>
            </a:extLst>
          </p:cNvPr>
          <p:cNvSpPr txBox="1">
            <a:spLocks noChangeArrowheads="1"/>
          </p:cNvSpPr>
          <p:nvPr/>
        </p:nvSpPr>
        <p:spPr bwMode="auto">
          <a:xfrm>
            <a:off x="926592" y="1810512"/>
            <a:ext cx="8156448" cy="1488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URL is the abbreviation of </a:t>
            </a:r>
            <a:r>
              <a:rPr lang="en-US" altLang="en-US" sz="2736" b="1">
                <a:solidFill>
                  <a:srgbClr val="000000"/>
                </a:solidFill>
              </a:rPr>
              <a:t>Uniform Resource Locator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b="1">
                <a:solidFill>
                  <a:srgbClr val="000000"/>
                </a:solidFill>
              </a:rPr>
              <a:t>URL consist of following syntax</a:t>
            </a:r>
          </a:p>
          <a:p>
            <a:pPr eaLnBrk="1" hangingPunct="1">
              <a:lnSpc>
                <a:spcPct val="100000"/>
              </a:lnSpc>
              <a:spcBef>
                <a:spcPct val="0"/>
              </a:spcBef>
              <a:buFontTx/>
              <a:buNone/>
            </a:pPr>
            <a:r>
              <a:rPr lang="en-US" altLang="en-US" sz="2736" b="1">
                <a:solidFill>
                  <a:srgbClr val="000000"/>
                </a:solidFill>
              </a:rPr>
              <a:t>                        </a:t>
            </a:r>
            <a:r>
              <a:rPr lang="en-US" altLang="en-US" sz="2736">
                <a:solidFill>
                  <a:srgbClr val="000000"/>
                </a:solidFill>
              </a:rPr>
              <a:t>protocol://host:port/path</a:t>
            </a:r>
          </a:p>
          <a:p>
            <a:pPr eaLnBrk="1" hangingPunct="1">
              <a:lnSpc>
                <a:spcPct val="100000"/>
              </a:lnSpc>
              <a:spcBef>
                <a:spcPct val="0"/>
              </a:spcBef>
              <a:buFontTx/>
              <a:buNone/>
            </a:pPr>
            <a:endParaRPr lang="en-US" altLang="en-US" sz="864"/>
          </a:p>
        </p:txBody>
      </p:sp>
      <p:sp>
        <p:nvSpPr>
          <p:cNvPr id="4101" name="TextBox 5">
            <a:extLst>
              <a:ext uri="{FF2B5EF4-FFF2-40B4-BE49-F238E27FC236}">
                <a16:creationId xmlns:a16="http://schemas.microsoft.com/office/drawing/2014/main" id="{D2B0C0B4-4971-4B4C-B42E-DD89603432A4}"/>
              </a:ext>
            </a:extLst>
          </p:cNvPr>
          <p:cNvSpPr txBox="1">
            <a:spLocks noChangeArrowheads="1"/>
          </p:cNvSpPr>
          <p:nvPr/>
        </p:nvSpPr>
        <p:spPr bwMode="auto">
          <a:xfrm>
            <a:off x="1383792" y="3206496"/>
            <a:ext cx="9631680" cy="2071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 Protocol : The </a:t>
            </a:r>
            <a:r>
              <a:rPr lang="en-US" altLang="en-US" sz="2400" i="1">
                <a:solidFill>
                  <a:srgbClr val="000000"/>
                </a:solidFill>
              </a:rPr>
              <a:t>protocol </a:t>
            </a:r>
            <a:r>
              <a:rPr lang="en-US" altLang="en-US" sz="2400">
                <a:solidFill>
                  <a:srgbClr val="000000"/>
                </a:solidFill>
              </a:rPr>
              <a:t>is the client/server program used to retrieve the</a:t>
            </a:r>
          </a:p>
          <a:p>
            <a:pPr eaLnBrk="1" hangingPunct="1">
              <a:lnSpc>
                <a:spcPct val="100000"/>
              </a:lnSpc>
              <a:spcBef>
                <a:spcPct val="0"/>
              </a:spcBef>
              <a:buFontTx/>
              <a:buNone/>
            </a:pPr>
            <a:r>
              <a:rPr lang="en-US" altLang="en-US" sz="2400">
                <a:solidFill>
                  <a:srgbClr val="000000"/>
                </a:solidFill>
              </a:rPr>
              <a:t>   document (eg: FTP, HTTP, HTTPS)</a:t>
            </a:r>
          </a:p>
          <a:p>
            <a:pPr eaLnBrk="1" hangingPunct="1">
              <a:lnSpc>
                <a:spcPct val="100000"/>
              </a:lnSpc>
              <a:spcBef>
                <a:spcPct val="0"/>
              </a:spcBef>
              <a:buFontTx/>
              <a:buNone/>
            </a:pPr>
            <a:r>
              <a:rPr lang="en-US" altLang="en-US" sz="2400">
                <a:solidFill>
                  <a:srgbClr val="000000"/>
                </a:solidFill>
              </a:rPr>
              <a:t>2. Host : Computer in which information is located</a:t>
            </a:r>
          </a:p>
          <a:p>
            <a:pPr eaLnBrk="1" hangingPunct="1">
              <a:lnSpc>
                <a:spcPct val="100000"/>
              </a:lnSpc>
              <a:spcBef>
                <a:spcPct val="0"/>
              </a:spcBef>
              <a:buFontTx/>
              <a:buNone/>
            </a:pPr>
            <a:r>
              <a:rPr lang="en-US" altLang="en-US" sz="2400">
                <a:solidFill>
                  <a:srgbClr val="000000"/>
                </a:solidFill>
              </a:rPr>
              <a:t>3. Path : the local path in which information is stores in the host</a:t>
            </a:r>
          </a:p>
          <a:p>
            <a:pPr eaLnBrk="1" hangingPunct="1">
              <a:lnSpc>
                <a:spcPct val="100000"/>
              </a:lnSpc>
              <a:spcBef>
                <a:spcPct val="0"/>
              </a:spcBef>
              <a:buFontTx/>
              <a:buNone/>
            </a:pPr>
            <a:r>
              <a:rPr lang="en-US" altLang="en-US" sz="2400">
                <a:solidFill>
                  <a:srgbClr val="000000"/>
                </a:solidFill>
              </a:rPr>
              <a:t>4. Port : The port number of the service used in the host</a:t>
            </a:r>
          </a:p>
          <a:p>
            <a:pPr eaLnBrk="1" hangingPunct="1">
              <a:lnSpc>
                <a:spcPct val="100000"/>
              </a:lnSpc>
              <a:spcBef>
                <a:spcPct val="0"/>
              </a:spcBef>
              <a:buFontTx/>
              <a:buNone/>
            </a:pPr>
            <a:endParaRPr lang="en-US" altLang="en-US" sz="864"/>
          </a:p>
        </p:txBody>
      </p:sp>
      <p:sp>
        <p:nvSpPr>
          <p:cNvPr id="4102" name="TextBox 6">
            <a:extLst>
              <a:ext uri="{FF2B5EF4-FFF2-40B4-BE49-F238E27FC236}">
                <a16:creationId xmlns:a16="http://schemas.microsoft.com/office/drawing/2014/main" id="{CF156E2D-76DD-41BC-8348-024C82090B5A}"/>
              </a:ext>
            </a:extLst>
          </p:cNvPr>
          <p:cNvSpPr txBox="1">
            <a:spLocks noChangeArrowheads="1"/>
          </p:cNvSpPr>
          <p:nvPr/>
        </p:nvSpPr>
        <p:spPr bwMode="auto">
          <a:xfrm>
            <a:off x="926592" y="4992624"/>
            <a:ext cx="7266432" cy="1067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dirty="0">
                <a:solidFill>
                  <a:srgbClr val="000000"/>
                </a:solidFill>
              </a:rPr>
              <a:t>Example: </a:t>
            </a:r>
            <a:r>
              <a:rPr lang="en-US" altLang="en-US" sz="2736" dirty="0">
                <a:solidFill>
                  <a:srgbClr val="0462C1"/>
                </a:solidFill>
              </a:rPr>
              <a:t>http://www.google.com:80/index.html</a:t>
            </a:r>
          </a:p>
          <a:p>
            <a:pPr eaLnBrk="1" hangingPunct="1">
              <a:lnSpc>
                <a:spcPct val="100000"/>
              </a:lnSpc>
              <a:spcBef>
                <a:spcPct val="0"/>
              </a:spcBef>
              <a:buFontTx/>
              <a:buNone/>
            </a:pPr>
            <a:r>
              <a:rPr lang="en-US" altLang="en-US" sz="2736" dirty="0">
                <a:solidFill>
                  <a:srgbClr val="000000"/>
                </a:solidFill>
              </a:rPr>
              <a:t>URL is also called web address</a:t>
            </a:r>
          </a:p>
          <a:p>
            <a:pPr eaLnBrk="1" hangingPunct="1">
              <a:lnSpc>
                <a:spcPct val="100000"/>
              </a:lnSpc>
              <a:spcBef>
                <a:spcPct val="0"/>
              </a:spcBef>
              <a:buFontTx/>
              <a:buNone/>
            </a:pPr>
            <a:endParaRPr lang="en-US" altLang="en-US" sz="86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Box 1">
            <a:extLst>
              <a:ext uri="{FF2B5EF4-FFF2-40B4-BE49-F238E27FC236}">
                <a16:creationId xmlns:a16="http://schemas.microsoft.com/office/drawing/2014/main" id="{1B798855-0F1C-44B0-B5B4-C05AD7020FB9}"/>
              </a:ext>
            </a:extLst>
          </p:cNvPr>
          <p:cNvSpPr txBox="1">
            <a:spLocks noChangeArrowheads="1"/>
          </p:cNvSpPr>
          <p:nvPr/>
        </p:nvSpPr>
        <p:spPr bwMode="auto">
          <a:xfrm>
            <a:off x="926592" y="762000"/>
            <a:ext cx="1100556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Name Server (DNS- Domain Name System)</a:t>
            </a:r>
          </a:p>
          <a:p>
            <a:pPr eaLnBrk="1" hangingPunct="1">
              <a:lnSpc>
                <a:spcPct val="100000"/>
              </a:lnSpc>
              <a:spcBef>
                <a:spcPct val="0"/>
              </a:spcBef>
              <a:buFontTx/>
              <a:buNone/>
            </a:pPr>
            <a:endParaRPr lang="en-US" altLang="en-US" sz="864"/>
          </a:p>
        </p:txBody>
      </p:sp>
      <p:sp>
        <p:nvSpPr>
          <p:cNvPr id="5123" name="TextBox 2">
            <a:extLst>
              <a:ext uri="{FF2B5EF4-FFF2-40B4-BE49-F238E27FC236}">
                <a16:creationId xmlns:a16="http://schemas.microsoft.com/office/drawing/2014/main" id="{D4378E29-14F0-4DDE-BDA7-66A638D93D2B}"/>
              </a:ext>
            </a:extLst>
          </p:cNvPr>
          <p:cNvSpPr txBox="1">
            <a:spLocks noChangeArrowheads="1"/>
          </p:cNvSpPr>
          <p:nvPr/>
        </p:nvSpPr>
        <p:spPr bwMode="auto">
          <a:xfrm>
            <a:off x="926592" y="1810512"/>
            <a:ext cx="9820656" cy="1067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All system communicate using IP(Numbers)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Numbers are difficult to remember for human beings than name</a:t>
            </a:r>
          </a:p>
          <a:p>
            <a:pPr eaLnBrk="1" hangingPunct="1">
              <a:lnSpc>
                <a:spcPct val="100000"/>
              </a:lnSpc>
              <a:spcBef>
                <a:spcPct val="0"/>
              </a:spcBef>
              <a:buFontTx/>
              <a:buNone/>
            </a:pPr>
            <a:endParaRPr lang="en-US" altLang="en-US" sz="864"/>
          </a:p>
        </p:txBody>
      </p:sp>
      <p:sp>
        <p:nvSpPr>
          <p:cNvPr id="5124" name="TextBox 3">
            <a:extLst>
              <a:ext uri="{FF2B5EF4-FFF2-40B4-BE49-F238E27FC236}">
                <a16:creationId xmlns:a16="http://schemas.microsoft.com/office/drawing/2014/main" id="{1028E34F-4E87-4569-AC50-2F7B3E534BBB}"/>
              </a:ext>
            </a:extLst>
          </p:cNvPr>
          <p:cNvSpPr txBox="1">
            <a:spLocks noChangeArrowheads="1"/>
          </p:cNvSpPr>
          <p:nvPr/>
        </p:nvSpPr>
        <p:spPr bwMode="auto">
          <a:xfrm>
            <a:off x="1383792" y="2694432"/>
            <a:ext cx="8388096" cy="59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latin typeface="Arial" panose="020B0604020202020204" pitchFamily="34" charset="0"/>
              </a:rPr>
              <a:t>• </a:t>
            </a:r>
            <a:r>
              <a:rPr lang="en-US" altLang="en-US" sz="2400">
                <a:solidFill>
                  <a:srgbClr val="000000"/>
                </a:solidFill>
              </a:rPr>
              <a:t>Internet is very large there are millions of computer and servers</a:t>
            </a:r>
          </a:p>
          <a:p>
            <a:pPr eaLnBrk="1" hangingPunct="1">
              <a:lnSpc>
                <a:spcPct val="100000"/>
              </a:lnSpc>
              <a:spcBef>
                <a:spcPct val="0"/>
              </a:spcBef>
              <a:buFontTx/>
              <a:buNone/>
            </a:pPr>
            <a:endParaRPr lang="en-US" altLang="en-US" sz="864"/>
          </a:p>
        </p:txBody>
      </p:sp>
      <p:sp>
        <p:nvSpPr>
          <p:cNvPr id="5125" name="TextBox 4">
            <a:extLst>
              <a:ext uri="{FF2B5EF4-FFF2-40B4-BE49-F238E27FC236}">
                <a16:creationId xmlns:a16="http://schemas.microsoft.com/office/drawing/2014/main" id="{CF7E190C-C30B-4B44-9FFF-5D762BCA37D0}"/>
              </a:ext>
            </a:extLst>
          </p:cNvPr>
          <p:cNvSpPr txBox="1">
            <a:spLocks noChangeArrowheads="1"/>
          </p:cNvSpPr>
          <p:nvPr/>
        </p:nvSpPr>
        <p:spPr bwMode="auto">
          <a:xfrm>
            <a:off x="926592" y="3108960"/>
            <a:ext cx="10607040" cy="317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Naming system is introduced(in 1983) for mapping of Host Name to IP</a:t>
            </a:r>
          </a:p>
          <a:p>
            <a:pPr eaLnBrk="1" hangingPunct="1">
              <a:lnSpc>
                <a:spcPct val="100000"/>
              </a:lnSpc>
              <a:spcBef>
                <a:spcPct val="0"/>
              </a:spcBef>
              <a:buFontTx/>
              <a:buNone/>
            </a:pPr>
            <a:r>
              <a:rPr lang="en-US" altLang="en-US" sz="2736">
                <a:solidFill>
                  <a:srgbClr val="000000"/>
                </a:solidFill>
              </a:rPr>
              <a:t>  address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In DNS server, there is library procedure (program) called resolver</a:t>
            </a:r>
          </a:p>
          <a:p>
            <a:pPr eaLnBrk="1" hangingPunct="1">
              <a:lnSpc>
                <a:spcPct val="100000"/>
              </a:lnSpc>
              <a:spcBef>
                <a:spcPct val="0"/>
              </a:spcBef>
              <a:buFontTx/>
              <a:buNone/>
            </a:pPr>
            <a:r>
              <a:rPr lang="en-US" altLang="en-US" sz="2736">
                <a:solidFill>
                  <a:srgbClr val="000000"/>
                </a:solidFill>
              </a:rPr>
              <a:t>  that converts host name to IP</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b="1">
                <a:solidFill>
                  <a:srgbClr val="000000"/>
                </a:solidFill>
              </a:rPr>
              <a:t>ICANN </a:t>
            </a:r>
            <a:r>
              <a:rPr lang="en-US" altLang="en-US" sz="2736">
                <a:solidFill>
                  <a:srgbClr val="000000"/>
                </a:solidFill>
              </a:rPr>
              <a:t>(Internet </a:t>
            </a:r>
            <a:r>
              <a:rPr lang="en-US" altLang="en-US" sz="2736" b="1">
                <a:solidFill>
                  <a:srgbClr val="000000"/>
                </a:solidFill>
              </a:rPr>
              <a:t>Corporation for Assigned Names and Numbers) </a:t>
            </a:r>
            <a:r>
              <a:rPr lang="en-US" altLang="en-US" sz="2736">
                <a:solidFill>
                  <a:srgbClr val="000000"/>
                </a:solidFill>
              </a:rPr>
              <a:t>is</a:t>
            </a:r>
          </a:p>
          <a:p>
            <a:pPr eaLnBrk="1" hangingPunct="1">
              <a:lnSpc>
                <a:spcPct val="100000"/>
              </a:lnSpc>
              <a:spcBef>
                <a:spcPct val="0"/>
              </a:spcBef>
              <a:buFontTx/>
              <a:buNone/>
            </a:pPr>
            <a:r>
              <a:rPr lang="en-US" altLang="en-US" sz="2736">
                <a:solidFill>
                  <a:srgbClr val="000000"/>
                </a:solidFill>
              </a:rPr>
              <a:t>  responsible for managing the DNS in internet.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Domain names are unique</a:t>
            </a:r>
          </a:p>
          <a:p>
            <a:pPr eaLnBrk="1" hangingPunct="1">
              <a:lnSpc>
                <a:spcPct val="100000"/>
              </a:lnSpc>
              <a:spcBef>
                <a:spcPct val="0"/>
              </a:spcBef>
              <a:buFontTx/>
              <a:buNone/>
            </a:pPr>
            <a:endParaRPr lang="en-US" altLang="en-US" sz="864"/>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6FB5E437-4BC3-4784-8ABE-05D3A7FFC24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Box 3">
            <a:extLst>
              <a:ext uri="{FF2B5EF4-FFF2-40B4-BE49-F238E27FC236}">
                <a16:creationId xmlns:a16="http://schemas.microsoft.com/office/drawing/2014/main" id="{C7C3F073-72F1-4585-8A76-14E82E13340B}"/>
              </a:ext>
            </a:extLst>
          </p:cNvPr>
          <p:cNvSpPr txBox="1">
            <a:spLocks noChangeArrowheads="1"/>
          </p:cNvSpPr>
          <p:nvPr/>
        </p:nvSpPr>
        <p:spPr bwMode="auto">
          <a:xfrm>
            <a:off x="926592" y="762000"/>
            <a:ext cx="771753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Name Spaces(Domain Name)</a:t>
            </a:r>
          </a:p>
          <a:p>
            <a:pPr eaLnBrk="1" hangingPunct="1">
              <a:lnSpc>
                <a:spcPct val="100000"/>
              </a:lnSpc>
              <a:spcBef>
                <a:spcPct val="0"/>
              </a:spcBef>
              <a:buFontTx/>
              <a:buNone/>
            </a:pPr>
            <a:endParaRPr lang="en-US" altLang="en-US" sz="864"/>
          </a:p>
        </p:txBody>
      </p:sp>
      <p:sp>
        <p:nvSpPr>
          <p:cNvPr id="6148" name="TextBox 4">
            <a:extLst>
              <a:ext uri="{FF2B5EF4-FFF2-40B4-BE49-F238E27FC236}">
                <a16:creationId xmlns:a16="http://schemas.microsoft.com/office/drawing/2014/main" id="{2BAADEA3-5211-453F-9DF7-C4EAA17C51FE}"/>
              </a:ext>
            </a:extLst>
          </p:cNvPr>
          <p:cNvSpPr txBox="1">
            <a:spLocks noChangeArrowheads="1"/>
          </p:cNvSpPr>
          <p:nvPr/>
        </p:nvSpPr>
        <p:spPr bwMode="auto">
          <a:xfrm>
            <a:off x="926592" y="1834896"/>
            <a:ext cx="27127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Divided into 2 :</a:t>
            </a:r>
          </a:p>
          <a:p>
            <a:pPr eaLnBrk="1" hangingPunct="1">
              <a:lnSpc>
                <a:spcPct val="100000"/>
              </a:lnSpc>
              <a:spcBef>
                <a:spcPct val="0"/>
              </a:spcBef>
              <a:buFontTx/>
              <a:buNone/>
            </a:pPr>
            <a:endParaRPr lang="en-US" altLang="en-US" sz="864"/>
          </a:p>
        </p:txBody>
      </p:sp>
      <p:sp>
        <p:nvSpPr>
          <p:cNvPr id="6149" name="TextBox 5">
            <a:extLst>
              <a:ext uri="{FF2B5EF4-FFF2-40B4-BE49-F238E27FC236}">
                <a16:creationId xmlns:a16="http://schemas.microsoft.com/office/drawing/2014/main" id="{FA4E3B42-7843-43CB-BA21-690C81877E21}"/>
              </a:ext>
            </a:extLst>
          </p:cNvPr>
          <p:cNvSpPr txBox="1">
            <a:spLocks noChangeArrowheads="1"/>
          </p:cNvSpPr>
          <p:nvPr/>
        </p:nvSpPr>
        <p:spPr bwMode="auto">
          <a:xfrm>
            <a:off x="1383792" y="2340864"/>
            <a:ext cx="3517392" cy="963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 Flat Structure</a:t>
            </a:r>
          </a:p>
          <a:p>
            <a:pPr eaLnBrk="1" hangingPunct="1">
              <a:lnSpc>
                <a:spcPct val="100000"/>
              </a:lnSpc>
              <a:spcBef>
                <a:spcPct val="0"/>
              </a:spcBef>
              <a:buFontTx/>
              <a:buNone/>
            </a:pPr>
            <a:r>
              <a:rPr lang="en-US" altLang="en-US" sz="2400">
                <a:solidFill>
                  <a:srgbClr val="000000"/>
                </a:solidFill>
              </a:rPr>
              <a:t>2. Hierarchical Structure</a:t>
            </a:r>
          </a:p>
          <a:p>
            <a:pPr eaLnBrk="1" hangingPunct="1">
              <a:lnSpc>
                <a:spcPct val="100000"/>
              </a:lnSpc>
              <a:spcBef>
                <a:spcPct val="0"/>
              </a:spcBef>
              <a:buFontTx/>
              <a:buNone/>
            </a:pPr>
            <a:endParaRPr lang="en-US" altLang="en-US" sz="864"/>
          </a:p>
        </p:txBody>
      </p:sp>
      <p:sp>
        <p:nvSpPr>
          <p:cNvPr id="6150" name="TextBox 6">
            <a:extLst>
              <a:ext uri="{FF2B5EF4-FFF2-40B4-BE49-F238E27FC236}">
                <a16:creationId xmlns:a16="http://schemas.microsoft.com/office/drawing/2014/main" id="{4D1DF82B-E4A7-40F8-A1DE-1B0D804E5697}"/>
              </a:ext>
            </a:extLst>
          </p:cNvPr>
          <p:cNvSpPr txBox="1">
            <a:spLocks noChangeArrowheads="1"/>
          </p:cNvSpPr>
          <p:nvPr/>
        </p:nvSpPr>
        <p:spPr bwMode="auto">
          <a:xfrm>
            <a:off x="926592" y="3145536"/>
            <a:ext cx="468782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Hierarchical structure is used</a:t>
            </a:r>
          </a:p>
          <a:p>
            <a:pPr eaLnBrk="1" hangingPunct="1">
              <a:lnSpc>
                <a:spcPct val="100000"/>
              </a:lnSpc>
              <a:spcBef>
                <a:spcPct val="0"/>
              </a:spcBef>
              <a:buFontTx/>
              <a:buNone/>
            </a:pPr>
            <a:endParaRPr lang="en-US" altLang="en-US" sz="864"/>
          </a:p>
        </p:txBody>
      </p:sp>
      <p:sp>
        <p:nvSpPr>
          <p:cNvPr id="6151" name="TextBox 7">
            <a:extLst>
              <a:ext uri="{FF2B5EF4-FFF2-40B4-BE49-F238E27FC236}">
                <a16:creationId xmlns:a16="http://schemas.microsoft.com/office/drawing/2014/main" id="{75F34B1E-C01A-437D-BD3D-62AF9E1C147B}"/>
              </a:ext>
            </a:extLst>
          </p:cNvPr>
          <p:cNvSpPr txBox="1">
            <a:spLocks noChangeArrowheads="1"/>
          </p:cNvSpPr>
          <p:nvPr/>
        </p:nvSpPr>
        <p:spPr bwMode="auto">
          <a:xfrm>
            <a:off x="1383792" y="3590544"/>
            <a:ext cx="9436608" cy="1702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latin typeface="Arial" panose="020B0604020202020204" pitchFamily="34" charset="0"/>
              </a:rPr>
              <a:t>• </a:t>
            </a:r>
            <a:r>
              <a:rPr lang="en-US" altLang="en-US" sz="2400">
                <a:solidFill>
                  <a:srgbClr val="000000"/>
                </a:solidFill>
              </a:rPr>
              <a:t>Name space have tree structure</a:t>
            </a:r>
          </a:p>
          <a:p>
            <a:pPr eaLnBrk="1" hangingPunct="1">
              <a:lnSpc>
                <a:spcPct val="100000"/>
              </a:lnSpc>
              <a:spcBef>
                <a:spcPct val="0"/>
              </a:spcBef>
              <a:buFontTx/>
              <a:buNone/>
            </a:pPr>
            <a:r>
              <a:rPr lang="en-US" altLang="en-US" sz="2400">
                <a:solidFill>
                  <a:srgbClr val="000000"/>
                </a:solidFill>
                <a:latin typeface="Arial" panose="020B0604020202020204" pitchFamily="34" charset="0"/>
              </a:rPr>
              <a:t>• </a:t>
            </a:r>
            <a:r>
              <a:rPr lang="en-US" altLang="en-US" sz="2400">
                <a:solidFill>
                  <a:srgbClr val="000000"/>
                </a:solidFill>
              </a:rPr>
              <a:t>Example : </a:t>
            </a:r>
            <a:r>
              <a:rPr lang="en-US" altLang="en-US" sz="2400">
                <a:solidFill>
                  <a:srgbClr val="0462C1"/>
                </a:solidFill>
              </a:rPr>
              <a:t>www.xyz.com</a:t>
            </a:r>
          </a:p>
          <a:p>
            <a:pPr eaLnBrk="1" hangingPunct="1">
              <a:lnSpc>
                <a:spcPct val="100000"/>
              </a:lnSpc>
              <a:spcBef>
                <a:spcPct val="0"/>
              </a:spcBef>
              <a:buFontTx/>
              <a:buNone/>
            </a:pPr>
            <a:r>
              <a:rPr lang="en-US" altLang="en-US" sz="2400">
                <a:solidFill>
                  <a:srgbClr val="000000"/>
                </a:solidFill>
                <a:latin typeface="Arial" panose="020B0604020202020204" pitchFamily="34" charset="0"/>
              </a:rPr>
              <a:t>• </a:t>
            </a:r>
            <a:r>
              <a:rPr lang="en-US" altLang="en-US" sz="2400" i="1">
                <a:solidFill>
                  <a:srgbClr val="000000"/>
                </a:solidFill>
              </a:rPr>
              <a:t>Here xyz.com is managed by central authority(ICANN) and www is name</a:t>
            </a:r>
          </a:p>
          <a:p>
            <a:pPr eaLnBrk="1" hangingPunct="1">
              <a:lnSpc>
                <a:spcPct val="100000"/>
              </a:lnSpc>
              <a:spcBef>
                <a:spcPct val="0"/>
              </a:spcBef>
              <a:buFontTx/>
              <a:buNone/>
            </a:pPr>
            <a:r>
              <a:rPr lang="en-US" altLang="en-US" sz="2400" i="1">
                <a:solidFill>
                  <a:srgbClr val="000000"/>
                </a:solidFill>
              </a:rPr>
              <a:t>  given by organization(here xyz)</a:t>
            </a:r>
          </a:p>
          <a:p>
            <a:pPr eaLnBrk="1" hangingPunct="1">
              <a:lnSpc>
                <a:spcPct val="100000"/>
              </a:lnSpc>
              <a:spcBef>
                <a:spcPct val="0"/>
              </a:spcBef>
              <a:buFontTx/>
              <a:buNone/>
            </a:pPr>
            <a:endParaRPr lang="en-US" altLang="en-US" sz="864"/>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77E9F32E-2641-44B9-95FE-3A5A5D1008A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extBox 3">
            <a:extLst>
              <a:ext uri="{FF2B5EF4-FFF2-40B4-BE49-F238E27FC236}">
                <a16:creationId xmlns:a16="http://schemas.microsoft.com/office/drawing/2014/main" id="{EB87A422-0137-472A-8C05-C6DA260A8BA6}"/>
              </a:ext>
            </a:extLst>
          </p:cNvPr>
          <p:cNvSpPr txBox="1">
            <a:spLocks noChangeArrowheads="1"/>
          </p:cNvSpPr>
          <p:nvPr/>
        </p:nvSpPr>
        <p:spPr bwMode="auto">
          <a:xfrm>
            <a:off x="926592" y="762000"/>
            <a:ext cx="627278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Domain Name Space</a:t>
            </a:r>
          </a:p>
          <a:p>
            <a:pPr eaLnBrk="1" hangingPunct="1">
              <a:lnSpc>
                <a:spcPct val="100000"/>
              </a:lnSpc>
              <a:spcBef>
                <a:spcPct val="0"/>
              </a:spcBef>
              <a:buFontTx/>
              <a:buNone/>
            </a:pPr>
            <a:endParaRPr lang="en-US" altLang="en-US" sz="864"/>
          </a:p>
        </p:txBody>
      </p:sp>
      <p:sp>
        <p:nvSpPr>
          <p:cNvPr id="7172" name="TextBox 4">
            <a:extLst>
              <a:ext uri="{FF2B5EF4-FFF2-40B4-BE49-F238E27FC236}">
                <a16:creationId xmlns:a16="http://schemas.microsoft.com/office/drawing/2014/main" id="{4B9D7CC3-7EB6-4506-B676-6B76A596C195}"/>
              </a:ext>
            </a:extLst>
          </p:cNvPr>
          <p:cNvSpPr txBox="1">
            <a:spLocks noChangeArrowheads="1"/>
          </p:cNvSpPr>
          <p:nvPr/>
        </p:nvSpPr>
        <p:spPr bwMode="auto">
          <a:xfrm>
            <a:off x="926592" y="1834896"/>
            <a:ext cx="5242560" cy="4014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Inverted Tree Structure, contains</a:t>
            </a:r>
          </a:p>
          <a:p>
            <a:pPr eaLnBrk="1" hangingPunct="1">
              <a:lnSpc>
                <a:spcPct val="100000"/>
              </a:lnSpc>
              <a:spcBef>
                <a:spcPct val="0"/>
              </a:spcBef>
              <a:buFontTx/>
              <a:buNone/>
            </a:pPr>
            <a:r>
              <a:rPr lang="en-US" altLang="en-US" sz="2736">
                <a:solidFill>
                  <a:srgbClr val="000000"/>
                </a:solidFill>
              </a:rPr>
              <a:t>  0 to127 (128)levels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0 is root level</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Internet have nearly 250 </a:t>
            </a:r>
            <a:r>
              <a:rPr lang="en-US" altLang="en-US" sz="2736" b="1">
                <a:solidFill>
                  <a:srgbClr val="000000"/>
                </a:solidFill>
              </a:rPr>
              <a:t>top-</a:t>
            </a:r>
          </a:p>
          <a:p>
            <a:pPr eaLnBrk="1" hangingPunct="1">
              <a:lnSpc>
                <a:spcPct val="100000"/>
              </a:lnSpc>
              <a:spcBef>
                <a:spcPct val="0"/>
              </a:spcBef>
              <a:buFontTx/>
              <a:buNone/>
            </a:pPr>
            <a:r>
              <a:rPr lang="en-US" altLang="en-US" sz="2736" b="1">
                <a:solidFill>
                  <a:srgbClr val="000000"/>
                </a:solidFill>
              </a:rPr>
              <a:t>  level domains, </a:t>
            </a:r>
            <a:r>
              <a:rPr lang="en-US" altLang="en-US" sz="2736">
                <a:solidFill>
                  <a:srgbClr val="000000"/>
                </a:solidFill>
              </a:rPr>
              <a:t>where each</a:t>
            </a:r>
          </a:p>
          <a:p>
            <a:pPr eaLnBrk="1" hangingPunct="1">
              <a:lnSpc>
                <a:spcPct val="100000"/>
              </a:lnSpc>
              <a:spcBef>
                <a:spcPct val="0"/>
              </a:spcBef>
              <a:buFontTx/>
              <a:buNone/>
            </a:pPr>
            <a:r>
              <a:rPr lang="en-US" altLang="en-US" sz="2736">
                <a:solidFill>
                  <a:srgbClr val="000000"/>
                </a:solidFill>
              </a:rPr>
              <a:t>  domain covers many hosts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Each domain is partitioned into</a:t>
            </a:r>
          </a:p>
          <a:p>
            <a:pPr eaLnBrk="1" hangingPunct="1">
              <a:lnSpc>
                <a:spcPct val="100000"/>
              </a:lnSpc>
              <a:spcBef>
                <a:spcPct val="0"/>
              </a:spcBef>
              <a:buFontTx/>
              <a:buNone/>
            </a:pPr>
            <a:r>
              <a:rPr lang="en-US" altLang="en-US" sz="2736">
                <a:solidFill>
                  <a:srgbClr val="000000"/>
                </a:solidFill>
              </a:rPr>
              <a:t>  </a:t>
            </a:r>
            <a:r>
              <a:rPr lang="en-US" altLang="en-US" sz="2736" b="1">
                <a:solidFill>
                  <a:srgbClr val="000000"/>
                </a:solidFill>
              </a:rPr>
              <a:t>subdomains, </a:t>
            </a:r>
            <a:r>
              <a:rPr lang="en-US" altLang="en-US" sz="2736">
                <a:solidFill>
                  <a:srgbClr val="000000"/>
                </a:solidFill>
              </a:rPr>
              <a:t>and these are</a:t>
            </a:r>
          </a:p>
          <a:p>
            <a:pPr eaLnBrk="1" hangingPunct="1">
              <a:lnSpc>
                <a:spcPct val="100000"/>
              </a:lnSpc>
              <a:spcBef>
                <a:spcPct val="0"/>
              </a:spcBef>
              <a:buFontTx/>
              <a:buNone/>
            </a:pPr>
            <a:r>
              <a:rPr lang="en-US" altLang="en-US" sz="2736">
                <a:solidFill>
                  <a:srgbClr val="000000"/>
                </a:solidFill>
              </a:rPr>
              <a:t>  further partitioned, and so on</a:t>
            </a:r>
          </a:p>
          <a:p>
            <a:pPr eaLnBrk="1" hangingPunct="1">
              <a:lnSpc>
                <a:spcPct val="100000"/>
              </a:lnSpc>
              <a:spcBef>
                <a:spcPct val="0"/>
              </a:spcBef>
              <a:buFontTx/>
              <a:buNone/>
            </a:pPr>
            <a:endParaRPr lang="en-US" altLang="en-US" sz="864"/>
          </a:p>
        </p:txBody>
      </p:sp>
      <p:sp>
        <p:nvSpPr>
          <p:cNvPr id="7173" name="TextBox 5">
            <a:extLst>
              <a:ext uri="{FF2B5EF4-FFF2-40B4-BE49-F238E27FC236}">
                <a16:creationId xmlns:a16="http://schemas.microsoft.com/office/drawing/2014/main" id="{823D3150-FCDF-4D84-BFEB-67E7E550E00D}"/>
              </a:ext>
            </a:extLst>
          </p:cNvPr>
          <p:cNvSpPr txBox="1">
            <a:spLocks noChangeArrowheads="1"/>
          </p:cNvSpPr>
          <p:nvPr/>
        </p:nvSpPr>
        <p:spPr bwMode="auto">
          <a:xfrm>
            <a:off x="6266688" y="1889760"/>
            <a:ext cx="5114544" cy="1067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rPr>
              <a:t>com, edu, gov are example of top</a:t>
            </a:r>
          </a:p>
          <a:p>
            <a:pPr eaLnBrk="1" hangingPunct="1">
              <a:lnSpc>
                <a:spcPct val="100000"/>
              </a:lnSpc>
              <a:spcBef>
                <a:spcPct val="0"/>
              </a:spcBef>
              <a:buFontTx/>
              <a:buNone/>
            </a:pPr>
            <a:r>
              <a:rPr lang="en-US" altLang="en-US" sz="2736">
                <a:solidFill>
                  <a:srgbClr val="000000"/>
                </a:solidFill>
              </a:rPr>
              <a:t>level domain</a:t>
            </a:r>
          </a:p>
          <a:p>
            <a:pPr eaLnBrk="1" hangingPunct="1">
              <a:lnSpc>
                <a:spcPct val="100000"/>
              </a:lnSpc>
              <a:spcBef>
                <a:spcPct val="0"/>
              </a:spcBef>
              <a:buFontTx/>
              <a:buNone/>
            </a:pPr>
            <a:endParaRPr lang="en-US" altLang="en-US" sz="864"/>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a:extLst>
              <a:ext uri="{FF2B5EF4-FFF2-40B4-BE49-F238E27FC236}">
                <a16:creationId xmlns:a16="http://schemas.microsoft.com/office/drawing/2014/main" id="{E4966F05-16B7-40AD-A9B5-12F8D515A65E}"/>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TextBox 3">
            <a:extLst>
              <a:ext uri="{FF2B5EF4-FFF2-40B4-BE49-F238E27FC236}">
                <a16:creationId xmlns:a16="http://schemas.microsoft.com/office/drawing/2014/main" id="{04FFABF7-C874-4EE7-9B6E-423C3CDE8326}"/>
              </a:ext>
            </a:extLst>
          </p:cNvPr>
          <p:cNvSpPr txBox="1">
            <a:spLocks noChangeArrowheads="1"/>
          </p:cNvSpPr>
          <p:nvPr/>
        </p:nvSpPr>
        <p:spPr bwMode="auto">
          <a:xfrm>
            <a:off x="926592" y="762000"/>
            <a:ext cx="485241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Domain Name</a:t>
            </a:r>
          </a:p>
          <a:p>
            <a:pPr eaLnBrk="1" hangingPunct="1">
              <a:lnSpc>
                <a:spcPct val="100000"/>
              </a:lnSpc>
              <a:spcBef>
                <a:spcPct val="0"/>
              </a:spcBef>
              <a:buFontTx/>
              <a:buNone/>
            </a:pPr>
            <a:endParaRPr lang="en-US" altLang="en-US" sz="864"/>
          </a:p>
        </p:txBody>
      </p:sp>
      <p:sp>
        <p:nvSpPr>
          <p:cNvPr id="8196" name="TextBox 4">
            <a:extLst>
              <a:ext uri="{FF2B5EF4-FFF2-40B4-BE49-F238E27FC236}">
                <a16:creationId xmlns:a16="http://schemas.microsoft.com/office/drawing/2014/main" id="{B4208C11-4201-4B08-8F3F-4D95AFB99A0B}"/>
              </a:ext>
            </a:extLst>
          </p:cNvPr>
          <p:cNvSpPr txBox="1">
            <a:spLocks noChangeArrowheads="1"/>
          </p:cNvSpPr>
          <p:nvPr/>
        </p:nvSpPr>
        <p:spPr bwMode="auto">
          <a:xfrm>
            <a:off x="926592" y="1804416"/>
            <a:ext cx="5236464" cy="4214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All label is terminated by a null</a:t>
            </a:r>
          </a:p>
          <a:p>
            <a:pPr eaLnBrk="1" hangingPunct="1">
              <a:lnSpc>
                <a:spcPct val="100000"/>
              </a:lnSpc>
              <a:spcBef>
                <a:spcPct val="0"/>
              </a:spcBef>
              <a:buFontTx/>
              <a:buNone/>
            </a:pPr>
            <a:r>
              <a:rPr lang="en-US" altLang="en-US" sz="2592">
                <a:solidFill>
                  <a:srgbClr val="000000"/>
                </a:solidFill>
              </a:rPr>
              <a:t>  string(.), it is called a </a:t>
            </a:r>
            <a:r>
              <a:rPr lang="en-US" altLang="en-US" sz="2592" b="1">
                <a:solidFill>
                  <a:srgbClr val="000000"/>
                </a:solidFill>
              </a:rPr>
              <a:t>FQDN (Fully</a:t>
            </a:r>
          </a:p>
          <a:p>
            <a:pPr eaLnBrk="1" hangingPunct="1">
              <a:lnSpc>
                <a:spcPct val="100000"/>
              </a:lnSpc>
              <a:spcBef>
                <a:spcPct val="0"/>
              </a:spcBef>
              <a:buFontTx/>
              <a:buNone/>
            </a:pPr>
            <a:r>
              <a:rPr lang="en-US" altLang="en-US" sz="2592" b="1">
                <a:solidFill>
                  <a:srgbClr val="000000"/>
                </a:solidFill>
              </a:rPr>
              <a:t>  Qualified Domain Name)</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b="1">
                <a:solidFill>
                  <a:srgbClr val="000000"/>
                </a:solidFill>
              </a:rPr>
              <a:t>Example: </a:t>
            </a:r>
            <a:r>
              <a:rPr lang="en-US" altLang="en-US" sz="2016" i="1">
                <a:solidFill>
                  <a:srgbClr val="000000"/>
                </a:solidFill>
              </a:rPr>
              <a:t>challenger.ate.tbda.edu.</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Label is not terminated by a null</a:t>
            </a:r>
          </a:p>
          <a:p>
            <a:pPr eaLnBrk="1" hangingPunct="1">
              <a:lnSpc>
                <a:spcPct val="100000"/>
              </a:lnSpc>
              <a:spcBef>
                <a:spcPct val="0"/>
              </a:spcBef>
              <a:buFontTx/>
              <a:buNone/>
            </a:pPr>
            <a:r>
              <a:rPr lang="en-US" altLang="en-US" sz="2592">
                <a:solidFill>
                  <a:srgbClr val="000000"/>
                </a:solidFill>
              </a:rPr>
              <a:t>  string, it is called a </a:t>
            </a:r>
            <a:r>
              <a:rPr lang="en-US" altLang="en-US" sz="2592" b="1">
                <a:solidFill>
                  <a:srgbClr val="000000"/>
                </a:solidFill>
              </a:rPr>
              <a:t>PQDN (Partially</a:t>
            </a:r>
          </a:p>
          <a:p>
            <a:pPr eaLnBrk="1" hangingPunct="1">
              <a:lnSpc>
                <a:spcPct val="100000"/>
              </a:lnSpc>
              <a:spcBef>
                <a:spcPct val="0"/>
              </a:spcBef>
              <a:buFontTx/>
              <a:buNone/>
            </a:pPr>
            <a:r>
              <a:rPr lang="en-US" altLang="en-US" sz="2592" b="1">
                <a:solidFill>
                  <a:srgbClr val="000000"/>
                </a:solidFill>
              </a:rPr>
              <a:t>  Qualified Domain Name)</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A PQDN starts from a node, but it</a:t>
            </a:r>
          </a:p>
          <a:p>
            <a:pPr eaLnBrk="1" hangingPunct="1">
              <a:lnSpc>
                <a:spcPct val="100000"/>
              </a:lnSpc>
              <a:spcBef>
                <a:spcPct val="0"/>
              </a:spcBef>
              <a:buFontTx/>
              <a:buNone/>
            </a:pPr>
            <a:r>
              <a:rPr lang="en-US" altLang="en-US" sz="2592">
                <a:solidFill>
                  <a:srgbClr val="000000"/>
                </a:solidFill>
              </a:rPr>
              <a:t>  does not reach the root</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b="1">
                <a:solidFill>
                  <a:srgbClr val="000000"/>
                </a:solidFill>
              </a:rPr>
              <a:t>Example : </a:t>
            </a:r>
            <a:r>
              <a:rPr lang="en-US" altLang="en-US" sz="2160" i="1">
                <a:solidFill>
                  <a:srgbClr val="000000"/>
                </a:solidFill>
              </a:rPr>
              <a:t>challenger.ate.tbda.edu</a:t>
            </a:r>
          </a:p>
          <a:p>
            <a:pPr eaLnBrk="1" hangingPunct="1">
              <a:lnSpc>
                <a:spcPct val="100000"/>
              </a:lnSpc>
              <a:spcBef>
                <a:spcPct val="0"/>
              </a:spcBef>
              <a:buFontTx/>
              <a:buNone/>
            </a:pPr>
            <a:endParaRPr lang="en-US" altLang="en-US" sz="864"/>
          </a:p>
        </p:txBody>
      </p:sp>
      <p:sp>
        <p:nvSpPr>
          <p:cNvPr id="8197" name="TextBox 5">
            <a:extLst>
              <a:ext uri="{FF2B5EF4-FFF2-40B4-BE49-F238E27FC236}">
                <a16:creationId xmlns:a16="http://schemas.microsoft.com/office/drawing/2014/main" id="{5EEDC593-7B64-4CF1-87E6-80249AE639B2}"/>
              </a:ext>
            </a:extLst>
          </p:cNvPr>
          <p:cNvSpPr txBox="1">
            <a:spLocks noChangeArrowheads="1"/>
          </p:cNvSpPr>
          <p:nvPr/>
        </p:nvSpPr>
        <p:spPr bwMode="auto">
          <a:xfrm>
            <a:off x="926592" y="5638800"/>
            <a:ext cx="3913632" cy="557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60">
                <a:solidFill>
                  <a:srgbClr val="000000"/>
                </a:solidFill>
                <a:latin typeface="Arial" panose="020B0604020202020204" pitchFamily="34" charset="0"/>
              </a:rPr>
              <a:t>• </a:t>
            </a:r>
            <a:r>
              <a:rPr lang="en-US" altLang="en-US" sz="2160">
                <a:solidFill>
                  <a:srgbClr val="000000"/>
                </a:solidFill>
              </a:rPr>
              <a:t>NB: </a:t>
            </a:r>
            <a:r>
              <a:rPr lang="en-US" altLang="en-US" sz="2160" b="1">
                <a:solidFill>
                  <a:srgbClr val="000000"/>
                </a:solidFill>
              </a:rPr>
              <a:t>.(dot) </a:t>
            </a:r>
            <a:r>
              <a:rPr lang="en-US" altLang="en-US" sz="2160">
                <a:solidFill>
                  <a:srgbClr val="000000"/>
                </a:solidFill>
              </a:rPr>
              <a:t>Is called root server</a:t>
            </a:r>
          </a:p>
          <a:p>
            <a:pPr eaLnBrk="1" hangingPunct="1">
              <a:lnSpc>
                <a:spcPct val="100000"/>
              </a:lnSpc>
              <a:spcBef>
                <a:spcPct val="0"/>
              </a:spcBef>
              <a:buFontTx/>
              <a:buNone/>
            </a:pPr>
            <a:endParaRPr lang="en-US" altLang="en-US" sz="864"/>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
            <a:extLst>
              <a:ext uri="{FF2B5EF4-FFF2-40B4-BE49-F238E27FC236}">
                <a16:creationId xmlns:a16="http://schemas.microsoft.com/office/drawing/2014/main" id="{65DE8787-F6CA-4067-BC7B-77B897623393}"/>
              </a:ext>
            </a:extLst>
          </p:cNvPr>
          <p:cNvSpPr txBox="1">
            <a:spLocks noChangeArrowheads="1"/>
          </p:cNvSpPr>
          <p:nvPr/>
        </p:nvSpPr>
        <p:spPr bwMode="auto">
          <a:xfrm>
            <a:off x="926592" y="762000"/>
            <a:ext cx="382981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DNS Servers</a:t>
            </a:r>
          </a:p>
          <a:p>
            <a:pPr eaLnBrk="1" hangingPunct="1">
              <a:lnSpc>
                <a:spcPct val="100000"/>
              </a:lnSpc>
              <a:spcBef>
                <a:spcPct val="0"/>
              </a:spcBef>
              <a:buFontTx/>
              <a:buNone/>
            </a:pPr>
            <a:endParaRPr lang="en-US" altLang="en-US" sz="864"/>
          </a:p>
        </p:txBody>
      </p:sp>
      <p:sp>
        <p:nvSpPr>
          <p:cNvPr id="9219" name="TextBox 2">
            <a:extLst>
              <a:ext uri="{FF2B5EF4-FFF2-40B4-BE49-F238E27FC236}">
                <a16:creationId xmlns:a16="http://schemas.microsoft.com/office/drawing/2014/main" id="{0FAF9052-240B-47C8-AD85-806A428D5907}"/>
              </a:ext>
            </a:extLst>
          </p:cNvPr>
          <p:cNvSpPr txBox="1">
            <a:spLocks noChangeArrowheads="1"/>
          </p:cNvSpPr>
          <p:nvPr/>
        </p:nvSpPr>
        <p:spPr bwMode="auto">
          <a:xfrm>
            <a:off x="926592" y="1780032"/>
            <a:ext cx="2090928" cy="62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592" dirty="0">
                <a:solidFill>
                  <a:srgbClr val="000000"/>
                </a:solidFill>
                <a:latin typeface="Arial" panose="020B0604020202020204" pitchFamily="34" charset="0"/>
              </a:rPr>
              <a:t>• </a:t>
            </a:r>
            <a:r>
              <a:rPr lang="en-US" altLang="en-US" sz="2592" dirty="0">
                <a:solidFill>
                  <a:srgbClr val="000000"/>
                </a:solidFill>
              </a:rPr>
              <a:t>Root Server</a:t>
            </a:r>
          </a:p>
          <a:p>
            <a:pPr eaLnBrk="1" hangingPunct="1">
              <a:lnSpc>
                <a:spcPct val="100000"/>
              </a:lnSpc>
              <a:spcBef>
                <a:spcPct val="0"/>
              </a:spcBef>
              <a:buFontTx/>
              <a:buNone/>
            </a:pPr>
            <a:endParaRPr lang="en-US" altLang="en-US" sz="864" dirty="0"/>
          </a:p>
        </p:txBody>
      </p:sp>
      <p:sp>
        <p:nvSpPr>
          <p:cNvPr id="9220" name="TextBox 3">
            <a:extLst>
              <a:ext uri="{FF2B5EF4-FFF2-40B4-BE49-F238E27FC236}">
                <a16:creationId xmlns:a16="http://schemas.microsoft.com/office/drawing/2014/main" id="{1DF1D14E-059C-4CE1-B209-E01A51031C52}"/>
              </a:ext>
            </a:extLst>
          </p:cNvPr>
          <p:cNvSpPr txBox="1">
            <a:spLocks noChangeArrowheads="1"/>
          </p:cNvSpPr>
          <p:nvPr/>
        </p:nvSpPr>
        <p:spPr bwMode="auto">
          <a:xfrm>
            <a:off x="1383792" y="2082927"/>
            <a:ext cx="10137648" cy="1222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60">
                <a:solidFill>
                  <a:srgbClr val="000000"/>
                </a:solidFill>
                <a:latin typeface="Arial" panose="020B0604020202020204" pitchFamily="34" charset="0"/>
              </a:rPr>
              <a:t>• </a:t>
            </a:r>
            <a:r>
              <a:rPr lang="en-US" altLang="en-US" sz="2160">
                <a:solidFill>
                  <a:srgbClr val="000000"/>
                </a:solidFill>
              </a:rPr>
              <a:t>A root server is a server whose zone consists of the whole tree</a:t>
            </a:r>
          </a:p>
          <a:p>
            <a:pPr eaLnBrk="1" hangingPunct="1">
              <a:lnSpc>
                <a:spcPct val="100000"/>
              </a:lnSpc>
              <a:spcBef>
                <a:spcPct val="0"/>
              </a:spcBef>
              <a:buFontTx/>
              <a:buNone/>
            </a:pPr>
            <a:r>
              <a:rPr lang="en-US" altLang="en-US" sz="2160">
                <a:solidFill>
                  <a:srgbClr val="000000"/>
                </a:solidFill>
                <a:latin typeface="Arial" panose="020B0604020202020204" pitchFamily="34" charset="0"/>
              </a:rPr>
              <a:t>• </a:t>
            </a:r>
            <a:r>
              <a:rPr lang="en-US" altLang="en-US" sz="2160">
                <a:solidFill>
                  <a:srgbClr val="000000"/>
                </a:solidFill>
              </a:rPr>
              <a:t>A root server usually does not store any information about domains but delegates its</a:t>
            </a:r>
          </a:p>
          <a:p>
            <a:pPr eaLnBrk="1" hangingPunct="1">
              <a:lnSpc>
                <a:spcPct val="100000"/>
              </a:lnSpc>
              <a:spcBef>
                <a:spcPct val="0"/>
              </a:spcBef>
              <a:buFontTx/>
              <a:buNone/>
            </a:pPr>
            <a:r>
              <a:rPr lang="en-US" altLang="en-US" sz="2160">
                <a:solidFill>
                  <a:srgbClr val="000000"/>
                </a:solidFill>
              </a:rPr>
              <a:t>  authority to other servers</a:t>
            </a:r>
          </a:p>
          <a:p>
            <a:pPr eaLnBrk="1" hangingPunct="1">
              <a:lnSpc>
                <a:spcPct val="100000"/>
              </a:lnSpc>
              <a:spcBef>
                <a:spcPct val="0"/>
              </a:spcBef>
              <a:buFontTx/>
              <a:buNone/>
            </a:pPr>
            <a:endParaRPr lang="en-US" altLang="en-US" sz="864"/>
          </a:p>
        </p:txBody>
      </p:sp>
      <p:sp>
        <p:nvSpPr>
          <p:cNvPr id="9221" name="TextBox 4">
            <a:extLst>
              <a:ext uri="{FF2B5EF4-FFF2-40B4-BE49-F238E27FC236}">
                <a16:creationId xmlns:a16="http://schemas.microsoft.com/office/drawing/2014/main" id="{787C81FB-7F1F-4F24-A24E-50E3C4A57F3F}"/>
              </a:ext>
            </a:extLst>
          </p:cNvPr>
          <p:cNvSpPr txBox="1">
            <a:spLocks noChangeArrowheads="1"/>
          </p:cNvSpPr>
          <p:nvPr/>
        </p:nvSpPr>
        <p:spPr bwMode="auto">
          <a:xfrm>
            <a:off x="926592" y="3017520"/>
            <a:ext cx="4925568" cy="1421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DNS defines two types of servers</a:t>
            </a:r>
          </a:p>
          <a:p>
            <a:pPr eaLnBrk="1" hangingPunct="1">
              <a:lnSpc>
                <a:spcPct val="100000"/>
              </a:lnSpc>
              <a:spcBef>
                <a:spcPct val="0"/>
              </a:spcBef>
              <a:buFontTx/>
              <a:buNone/>
            </a:pPr>
            <a:r>
              <a:rPr lang="en-US" altLang="en-US" sz="2592">
                <a:solidFill>
                  <a:srgbClr val="000000"/>
                </a:solidFill>
              </a:rPr>
              <a:t>1. Primary Server</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A primary server is a server</a:t>
            </a:r>
          </a:p>
          <a:p>
            <a:pPr eaLnBrk="1" hangingPunct="1">
              <a:lnSpc>
                <a:spcPct val="100000"/>
              </a:lnSpc>
              <a:spcBef>
                <a:spcPct val="0"/>
              </a:spcBef>
              <a:buFontTx/>
              <a:buNone/>
            </a:pPr>
            <a:endParaRPr lang="en-US" altLang="en-US" sz="864"/>
          </a:p>
        </p:txBody>
      </p:sp>
      <p:sp>
        <p:nvSpPr>
          <p:cNvPr id="9222" name="TextBox 5">
            <a:extLst>
              <a:ext uri="{FF2B5EF4-FFF2-40B4-BE49-F238E27FC236}">
                <a16:creationId xmlns:a16="http://schemas.microsoft.com/office/drawing/2014/main" id="{B7C3C160-97CA-418E-8AE3-CC8CDCCFBBBD}"/>
              </a:ext>
            </a:extLst>
          </p:cNvPr>
          <p:cNvSpPr txBox="1">
            <a:spLocks noChangeArrowheads="1"/>
          </p:cNvSpPr>
          <p:nvPr/>
        </p:nvSpPr>
        <p:spPr bwMode="auto">
          <a:xfrm>
            <a:off x="926592" y="4882896"/>
            <a:ext cx="3151632" cy="62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592">
                <a:solidFill>
                  <a:srgbClr val="000000"/>
                </a:solidFill>
              </a:rPr>
              <a:t>2. Secondary Server</a:t>
            </a:r>
          </a:p>
          <a:p>
            <a:pPr eaLnBrk="1" hangingPunct="1">
              <a:lnSpc>
                <a:spcPct val="100000"/>
              </a:lnSpc>
              <a:spcBef>
                <a:spcPct val="0"/>
              </a:spcBef>
              <a:buFontTx/>
              <a:buNone/>
            </a:pPr>
            <a:endParaRPr lang="en-US" altLang="en-US" sz="864"/>
          </a:p>
        </p:txBody>
      </p:sp>
      <p:sp>
        <p:nvSpPr>
          <p:cNvPr id="9223" name="TextBox 6">
            <a:extLst>
              <a:ext uri="{FF2B5EF4-FFF2-40B4-BE49-F238E27FC236}">
                <a16:creationId xmlns:a16="http://schemas.microsoft.com/office/drawing/2014/main" id="{37E7A9B0-D11A-4826-BCA3-0FCA88F31B81}"/>
              </a:ext>
            </a:extLst>
          </p:cNvPr>
          <p:cNvSpPr txBox="1">
            <a:spLocks noChangeArrowheads="1"/>
          </p:cNvSpPr>
          <p:nvPr/>
        </p:nvSpPr>
        <p:spPr bwMode="auto">
          <a:xfrm>
            <a:off x="1383792" y="4187952"/>
            <a:ext cx="8357616" cy="89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60">
                <a:solidFill>
                  <a:srgbClr val="000000"/>
                </a:solidFill>
                <a:latin typeface="Arial" panose="020B0604020202020204" pitchFamily="34" charset="0"/>
              </a:rPr>
              <a:t>• </a:t>
            </a:r>
            <a:r>
              <a:rPr lang="en-US" altLang="en-US" sz="2160">
                <a:solidFill>
                  <a:srgbClr val="000000"/>
                </a:solidFill>
              </a:rPr>
              <a:t>That stores a file about the zone for which it is an authority</a:t>
            </a:r>
          </a:p>
          <a:p>
            <a:pPr eaLnBrk="1" hangingPunct="1">
              <a:lnSpc>
                <a:spcPct val="100000"/>
              </a:lnSpc>
              <a:spcBef>
                <a:spcPct val="0"/>
              </a:spcBef>
              <a:buFontTx/>
              <a:buNone/>
            </a:pPr>
            <a:r>
              <a:rPr lang="en-US" altLang="en-US" sz="2160">
                <a:solidFill>
                  <a:srgbClr val="000000"/>
                </a:solidFill>
                <a:latin typeface="Arial" panose="020B0604020202020204" pitchFamily="34" charset="0"/>
              </a:rPr>
              <a:t>• </a:t>
            </a:r>
            <a:r>
              <a:rPr lang="en-US" altLang="en-US" sz="2160">
                <a:solidFill>
                  <a:srgbClr val="000000"/>
                </a:solidFill>
              </a:rPr>
              <a:t>It is responsible for </a:t>
            </a:r>
            <a:r>
              <a:rPr lang="en-US" altLang="en-US" sz="2160" b="1">
                <a:solidFill>
                  <a:srgbClr val="000000"/>
                </a:solidFill>
              </a:rPr>
              <a:t>creating, maintaining, and updating the zone file</a:t>
            </a:r>
          </a:p>
          <a:p>
            <a:pPr eaLnBrk="1" hangingPunct="1">
              <a:lnSpc>
                <a:spcPct val="100000"/>
              </a:lnSpc>
              <a:spcBef>
                <a:spcPct val="0"/>
              </a:spcBef>
              <a:buFontTx/>
              <a:buNone/>
            </a:pPr>
            <a:endParaRPr lang="en-US" altLang="en-US" sz="864"/>
          </a:p>
        </p:txBody>
      </p:sp>
      <p:sp>
        <p:nvSpPr>
          <p:cNvPr id="9224" name="TextBox 7">
            <a:extLst>
              <a:ext uri="{FF2B5EF4-FFF2-40B4-BE49-F238E27FC236}">
                <a16:creationId xmlns:a16="http://schemas.microsoft.com/office/drawing/2014/main" id="{44A216FC-76C7-4E09-AA18-09F026DCEA23}"/>
              </a:ext>
            </a:extLst>
          </p:cNvPr>
          <p:cNvSpPr txBox="1">
            <a:spLocks noChangeArrowheads="1"/>
          </p:cNvSpPr>
          <p:nvPr/>
        </p:nvSpPr>
        <p:spPr bwMode="auto">
          <a:xfrm>
            <a:off x="1383792" y="5187696"/>
            <a:ext cx="10125456" cy="89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60">
                <a:solidFill>
                  <a:srgbClr val="000000"/>
                </a:solidFill>
                <a:latin typeface="Arial" panose="020B0604020202020204" pitchFamily="34" charset="0"/>
              </a:rPr>
              <a:t>• </a:t>
            </a:r>
            <a:r>
              <a:rPr lang="en-US" altLang="en-US" sz="2160">
                <a:solidFill>
                  <a:srgbClr val="000000"/>
                </a:solidFill>
              </a:rPr>
              <a:t>A secondary server is a server that </a:t>
            </a:r>
            <a:r>
              <a:rPr lang="en-US" altLang="en-US" sz="2160" b="1">
                <a:solidFill>
                  <a:srgbClr val="000000"/>
                </a:solidFill>
              </a:rPr>
              <a:t>transfers the complete information about a zone</a:t>
            </a:r>
          </a:p>
          <a:p>
            <a:pPr eaLnBrk="1" hangingPunct="1">
              <a:lnSpc>
                <a:spcPct val="100000"/>
              </a:lnSpc>
              <a:spcBef>
                <a:spcPct val="0"/>
              </a:spcBef>
              <a:buFontTx/>
              <a:buNone/>
            </a:pPr>
            <a:r>
              <a:rPr lang="en-US" altLang="en-US" sz="2160" b="1">
                <a:solidFill>
                  <a:srgbClr val="000000"/>
                </a:solidFill>
              </a:rPr>
              <a:t>  </a:t>
            </a:r>
            <a:r>
              <a:rPr lang="en-US" altLang="en-US" sz="2160">
                <a:solidFill>
                  <a:srgbClr val="000000"/>
                </a:solidFill>
              </a:rPr>
              <a:t>from another server (primary or secondary) and stores the file on its local disk</a:t>
            </a:r>
          </a:p>
          <a:p>
            <a:pPr eaLnBrk="1" hangingPunct="1">
              <a:lnSpc>
                <a:spcPct val="100000"/>
              </a:lnSpc>
              <a:spcBef>
                <a:spcPct val="0"/>
              </a:spcBef>
              <a:buFontTx/>
              <a:buNone/>
            </a:pPr>
            <a:endParaRPr lang="en-US" altLang="en-US" sz="864"/>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405DEDB-A6CC-9F68-B653-3F88114BC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519113"/>
            <a:ext cx="9525000" cy="581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340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DD2C7D7-C353-534A-8A54-36F1816F72F4}"/>
              </a:ext>
            </a:extLst>
          </p:cNvPr>
          <p:cNvSpPr txBox="1"/>
          <p:nvPr/>
        </p:nvSpPr>
        <p:spPr>
          <a:xfrm>
            <a:off x="233082" y="741979"/>
            <a:ext cx="11725836" cy="3785652"/>
          </a:xfrm>
          <a:prstGeom prst="rect">
            <a:avLst/>
          </a:prstGeom>
          <a:noFill/>
        </p:spPr>
        <p:txBody>
          <a:bodyPr wrap="square">
            <a:spAutoFit/>
          </a:bodyPr>
          <a:lstStyle/>
          <a:p>
            <a:pPr fontAlgn="base"/>
            <a:r>
              <a:rPr lang="en-US" sz="2400" dirty="0">
                <a:solidFill>
                  <a:srgbClr val="4D4D4D"/>
                </a:solidFill>
                <a:latin typeface="inherit"/>
              </a:rPr>
              <a:t>DNS Types: 3 DNS Query Types</a:t>
            </a:r>
          </a:p>
          <a:p>
            <a:pPr fontAlgn="base"/>
            <a:r>
              <a:rPr lang="en-US" sz="2400" dirty="0">
                <a:solidFill>
                  <a:srgbClr val="4D4D4D"/>
                </a:solidFill>
                <a:latin typeface="inherit"/>
              </a:rPr>
              <a:t>There are three types of queries in the DNS system:</a:t>
            </a:r>
          </a:p>
          <a:p>
            <a:pPr fontAlgn="base"/>
            <a:endParaRPr lang="en-US" sz="2400" dirty="0">
              <a:solidFill>
                <a:srgbClr val="4D4D4D"/>
              </a:solidFill>
              <a:latin typeface="inherit"/>
            </a:endParaRPr>
          </a:p>
          <a:p>
            <a:pPr fontAlgn="base"/>
            <a:r>
              <a:rPr lang="en-US" sz="2400" dirty="0">
                <a:solidFill>
                  <a:srgbClr val="4D4D4D"/>
                </a:solidFill>
                <a:latin typeface="inherit"/>
              </a:rPr>
              <a:t>Recursive Query</a:t>
            </a:r>
          </a:p>
          <a:p>
            <a:pPr fontAlgn="base"/>
            <a:r>
              <a:rPr lang="en-US" sz="2400" dirty="0">
                <a:solidFill>
                  <a:srgbClr val="4D4D4D"/>
                </a:solidFill>
                <a:latin typeface="inherit"/>
              </a:rPr>
              <a:t>In a recursive query, a DNS client provides a hostname, and the DNS Resolver “must” provide an answer—it responds with either a relevant resource record, or an error message if it can't be found. The resolver starts a recursive query process, starting from the DNS Root Server, until it finds the Authoritative Name Server (for more on Authoritative Name Servers see DNS Server Types below) that holds the IP address and other information for the requested hostname.</a:t>
            </a:r>
          </a:p>
        </p:txBody>
      </p:sp>
    </p:spTree>
    <p:extLst>
      <p:ext uri="{BB962C8B-B14F-4D97-AF65-F5344CB8AC3E}">
        <p14:creationId xmlns:p14="http://schemas.microsoft.com/office/powerpoint/2010/main" val="3662008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1B3C19-D2F3-24B4-0D70-9BC4A7676027}"/>
              </a:ext>
            </a:extLst>
          </p:cNvPr>
          <p:cNvSpPr txBox="1"/>
          <p:nvPr/>
        </p:nvSpPr>
        <p:spPr>
          <a:xfrm>
            <a:off x="1129553" y="1028343"/>
            <a:ext cx="8014447" cy="4247317"/>
          </a:xfrm>
          <a:prstGeom prst="rect">
            <a:avLst/>
          </a:prstGeom>
          <a:noFill/>
        </p:spPr>
        <p:txBody>
          <a:bodyPr wrap="square">
            <a:spAutoFit/>
          </a:bodyPr>
          <a:lstStyle/>
          <a:p>
            <a:pPr fontAlgn="base"/>
            <a:r>
              <a:rPr lang="en-US" sz="1800" dirty="0">
                <a:solidFill>
                  <a:srgbClr val="4D4D4D"/>
                </a:solidFill>
                <a:latin typeface="inherit"/>
              </a:rPr>
              <a:t>Iterative Query</a:t>
            </a:r>
          </a:p>
          <a:p>
            <a:pPr fontAlgn="base"/>
            <a:r>
              <a:rPr lang="en-US" sz="1800" dirty="0">
                <a:solidFill>
                  <a:srgbClr val="4D4D4D"/>
                </a:solidFill>
                <a:latin typeface="inherit"/>
              </a:rPr>
              <a:t>In an iterative query, a DNS client provides a hostname, and the DNS Resolver returns the best answer it can. If the DNS resolver has the relevant DNS records in its cache, it returns them. If not, it refers the DNS client to the Root Server, or another Authoritative Name Server which is nearest to the required DNS zone. The DNS client must then repeat the query directly against the DNS server it was referred to.</a:t>
            </a:r>
          </a:p>
          <a:p>
            <a:pPr fontAlgn="base"/>
            <a:endParaRPr lang="en-US" sz="1800" dirty="0">
              <a:solidFill>
                <a:srgbClr val="4D4D4D"/>
              </a:solidFill>
              <a:latin typeface="inherit"/>
            </a:endParaRPr>
          </a:p>
          <a:p>
            <a:pPr fontAlgn="base"/>
            <a:r>
              <a:rPr lang="en-US" sz="1800" dirty="0">
                <a:solidFill>
                  <a:srgbClr val="4D4D4D"/>
                </a:solidFill>
                <a:latin typeface="inherit"/>
              </a:rPr>
              <a:t>Non-Recursive Query</a:t>
            </a:r>
          </a:p>
          <a:p>
            <a:pPr fontAlgn="base"/>
            <a:r>
              <a:rPr lang="en-US" sz="1800" dirty="0">
                <a:solidFill>
                  <a:srgbClr val="4D4D4D"/>
                </a:solidFill>
                <a:latin typeface="inherit"/>
              </a:rPr>
              <a:t>A non-recursive query is a query in which the DNS Resolver already knows the answer. It either immediately returns a DNS record because it already stores it in local cache, or queries a DNS Name Server which is authoritative for the record, meaning it definitely holds the correct IP for that hostname. In both cases, there is no need for additional rounds of queries (like in recursive or iterative queries). Rather, a response is immediately returned to the client.</a:t>
            </a:r>
          </a:p>
        </p:txBody>
      </p:sp>
    </p:spTree>
    <p:extLst>
      <p:ext uri="{BB962C8B-B14F-4D97-AF65-F5344CB8AC3E}">
        <p14:creationId xmlns:p14="http://schemas.microsoft.com/office/powerpoint/2010/main" val="1130354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1">
            <a:extLst>
              <a:ext uri="{FF2B5EF4-FFF2-40B4-BE49-F238E27FC236}">
                <a16:creationId xmlns:a16="http://schemas.microsoft.com/office/drawing/2014/main" id="{34627C94-561D-426B-A7BE-3FF5FEC29A28}"/>
              </a:ext>
            </a:extLst>
          </p:cNvPr>
          <p:cNvSpPr txBox="1">
            <a:spLocks noChangeArrowheads="1"/>
          </p:cNvSpPr>
          <p:nvPr/>
        </p:nvSpPr>
        <p:spPr bwMode="auto">
          <a:xfrm>
            <a:off x="926592" y="762000"/>
            <a:ext cx="1011783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HTTP-(Hyper Text Transfer Protocol)</a:t>
            </a:r>
          </a:p>
          <a:p>
            <a:pPr eaLnBrk="1" hangingPunct="1">
              <a:lnSpc>
                <a:spcPct val="100000"/>
              </a:lnSpc>
              <a:spcBef>
                <a:spcPct val="0"/>
              </a:spcBef>
              <a:buFontTx/>
              <a:buNone/>
            </a:pPr>
            <a:endParaRPr lang="en-US" altLang="en-US" sz="864"/>
          </a:p>
        </p:txBody>
      </p:sp>
      <p:sp>
        <p:nvSpPr>
          <p:cNvPr id="10243" name="TextBox 2">
            <a:extLst>
              <a:ext uri="{FF2B5EF4-FFF2-40B4-BE49-F238E27FC236}">
                <a16:creationId xmlns:a16="http://schemas.microsoft.com/office/drawing/2014/main" id="{B14C481B-21E9-4963-BD39-8E778A9CE184}"/>
              </a:ext>
            </a:extLst>
          </p:cNvPr>
          <p:cNvSpPr txBox="1">
            <a:spLocks noChangeArrowheads="1"/>
          </p:cNvSpPr>
          <p:nvPr/>
        </p:nvSpPr>
        <p:spPr bwMode="auto">
          <a:xfrm>
            <a:off x="926592" y="1834896"/>
            <a:ext cx="10198608" cy="317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The Hypertext Transfer Protocol (HTTP) is a protocol used mainly to</a:t>
            </a:r>
          </a:p>
          <a:p>
            <a:pPr eaLnBrk="1" hangingPunct="1">
              <a:lnSpc>
                <a:spcPct val="100000"/>
              </a:lnSpc>
              <a:spcBef>
                <a:spcPct val="0"/>
              </a:spcBef>
              <a:buFontTx/>
              <a:buNone/>
            </a:pPr>
            <a:r>
              <a:rPr lang="en-US" altLang="en-US" sz="2736">
                <a:solidFill>
                  <a:srgbClr val="000000"/>
                </a:solidFill>
              </a:rPr>
              <a:t>  access data on the World Wide Web(WWW)</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It is similar to FTP because it transfers files and uses the services of</a:t>
            </a:r>
          </a:p>
          <a:p>
            <a:pPr eaLnBrk="1" hangingPunct="1">
              <a:lnSpc>
                <a:spcPct val="100000"/>
              </a:lnSpc>
              <a:spcBef>
                <a:spcPct val="0"/>
              </a:spcBef>
              <a:buFontTx/>
              <a:buNone/>
            </a:pPr>
            <a:r>
              <a:rPr lang="en-US" altLang="en-US" sz="2736">
                <a:solidFill>
                  <a:srgbClr val="000000"/>
                </a:solidFill>
              </a:rPr>
              <a:t>  TCP.</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It uses only one TCP connection</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HTTP uses the services of TCP on well-known </a:t>
            </a:r>
            <a:r>
              <a:rPr lang="en-US" altLang="en-US" sz="2736" b="1">
                <a:solidFill>
                  <a:srgbClr val="000000"/>
                </a:solidFill>
              </a:rPr>
              <a:t>port 80</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Accessing of web page is based on URL</a:t>
            </a:r>
          </a:p>
          <a:p>
            <a:pPr eaLnBrk="1" hangingPunct="1">
              <a:lnSpc>
                <a:spcPct val="100000"/>
              </a:lnSpc>
              <a:spcBef>
                <a:spcPct val="0"/>
              </a:spcBef>
              <a:buFontTx/>
              <a:buNone/>
            </a:pPr>
            <a:endParaRPr lang="en-US" altLang="en-US" sz="864"/>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F0C170B1-C1ED-40A7-900F-0F257D6635F7}"/>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TextBox 3">
            <a:extLst>
              <a:ext uri="{FF2B5EF4-FFF2-40B4-BE49-F238E27FC236}">
                <a16:creationId xmlns:a16="http://schemas.microsoft.com/office/drawing/2014/main" id="{17F4BB9D-2816-43F6-8BAE-D73FB8D05EAB}"/>
              </a:ext>
            </a:extLst>
          </p:cNvPr>
          <p:cNvSpPr txBox="1">
            <a:spLocks noChangeArrowheads="1"/>
          </p:cNvSpPr>
          <p:nvPr/>
        </p:nvSpPr>
        <p:spPr bwMode="auto">
          <a:xfrm>
            <a:off x="926592" y="762000"/>
            <a:ext cx="559003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WWW Architecture</a:t>
            </a:r>
          </a:p>
          <a:p>
            <a:pPr eaLnBrk="1" hangingPunct="1">
              <a:lnSpc>
                <a:spcPct val="100000"/>
              </a:lnSpc>
              <a:spcBef>
                <a:spcPct val="0"/>
              </a:spcBef>
              <a:buFontTx/>
              <a:buNone/>
            </a:pPr>
            <a:endParaRPr lang="en-US" altLang="en-US" sz="864"/>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
            <a:extLst>
              <a:ext uri="{FF2B5EF4-FFF2-40B4-BE49-F238E27FC236}">
                <a16:creationId xmlns:a16="http://schemas.microsoft.com/office/drawing/2014/main" id="{AAB98045-5C46-4B2D-B1C5-26821592508C}"/>
              </a:ext>
            </a:extLst>
          </p:cNvPr>
          <p:cNvSpPr txBox="1">
            <a:spLocks noChangeArrowheads="1"/>
          </p:cNvSpPr>
          <p:nvPr/>
        </p:nvSpPr>
        <p:spPr bwMode="auto">
          <a:xfrm>
            <a:off x="926592" y="762000"/>
            <a:ext cx="509625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HTTP Transaction</a:t>
            </a:r>
          </a:p>
          <a:p>
            <a:pPr eaLnBrk="1" hangingPunct="1">
              <a:lnSpc>
                <a:spcPct val="100000"/>
              </a:lnSpc>
              <a:spcBef>
                <a:spcPct val="0"/>
              </a:spcBef>
              <a:buFontTx/>
              <a:buNone/>
            </a:pPr>
            <a:endParaRPr lang="en-US" altLang="en-US" sz="864"/>
          </a:p>
        </p:txBody>
      </p:sp>
      <p:sp>
        <p:nvSpPr>
          <p:cNvPr id="12291" name="TextBox 2">
            <a:extLst>
              <a:ext uri="{FF2B5EF4-FFF2-40B4-BE49-F238E27FC236}">
                <a16:creationId xmlns:a16="http://schemas.microsoft.com/office/drawing/2014/main" id="{E098B9B7-8291-4201-A77F-029E022D8DFC}"/>
              </a:ext>
            </a:extLst>
          </p:cNvPr>
          <p:cNvSpPr txBox="1">
            <a:spLocks noChangeArrowheads="1"/>
          </p:cNvSpPr>
          <p:nvPr/>
        </p:nvSpPr>
        <p:spPr bwMode="auto">
          <a:xfrm>
            <a:off x="926592" y="1834896"/>
            <a:ext cx="9893808" cy="233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HTTP transaction between the client and server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There are 2 transaction messages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Request (sent from client to server for requesting a Page or other</a:t>
            </a:r>
          </a:p>
          <a:p>
            <a:pPr eaLnBrk="1" hangingPunct="1">
              <a:lnSpc>
                <a:spcPct val="100000"/>
              </a:lnSpc>
              <a:spcBef>
                <a:spcPct val="0"/>
              </a:spcBef>
              <a:buFontTx/>
              <a:buNone/>
            </a:pPr>
            <a:r>
              <a:rPr lang="en-US" altLang="en-US" sz="2736">
                <a:solidFill>
                  <a:srgbClr val="000000"/>
                </a:solidFill>
              </a:rPr>
              <a:t>  resource)</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Response (sent from server to client )</a:t>
            </a:r>
          </a:p>
          <a:p>
            <a:pPr eaLnBrk="1" hangingPunct="1">
              <a:lnSpc>
                <a:spcPct val="100000"/>
              </a:lnSpc>
              <a:spcBef>
                <a:spcPct val="0"/>
              </a:spcBef>
              <a:buFontTx/>
              <a:buNone/>
            </a:pPr>
            <a:endParaRPr lang="en-US" altLang="en-US" sz="864"/>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a:extLst>
              <a:ext uri="{FF2B5EF4-FFF2-40B4-BE49-F238E27FC236}">
                <a16:creationId xmlns:a16="http://schemas.microsoft.com/office/drawing/2014/main" id="{0B5F21C4-8BB8-49FB-96DB-ACA25D7D25F4}"/>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TextBox 3">
            <a:extLst>
              <a:ext uri="{FF2B5EF4-FFF2-40B4-BE49-F238E27FC236}">
                <a16:creationId xmlns:a16="http://schemas.microsoft.com/office/drawing/2014/main" id="{203DAC47-B3AE-4FEE-B346-3D2B3544D55E}"/>
              </a:ext>
            </a:extLst>
          </p:cNvPr>
          <p:cNvSpPr txBox="1">
            <a:spLocks noChangeArrowheads="1"/>
          </p:cNvSpPr>
          <p:nvPr/>
        </p:nvSpPr>
        <p:spPr bwMode="auto">
          <a:xfrm>
            <a:off x="926592" y="762000"/>
            <a:ext cx="5900928"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HTTP Transaction </a:t>
            </a:r>
            <a:r>
              <a:rPr lang="en-US" altLang="en-US" sz="2160">
                <a:solidFill>
                  <a:srgbClr val="000000"/>
                </a:solidFill>
              </a:rPr>
              <a:t>Figure</a:t>
            </a:r>
          </a:p>
          <a:p>
            <a:pPr eaLnBrk="1" hangingPunct="1">
              <a:lnSpc>
                <a:spcPct val="100000"/>
              </a:lnSpc>
              <a:spcBef>
                <a:spcPct val="0"/>
              </a:spcBef>
              <a:buFontTx/>
              <a:buNone/>
            </a:pPr>
            <a:endParaRPr lang="en-US" altLang="en-US" sz="864"/>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3FC8A1-C827-4601-842D-40683242C41A}"/>
              </a:ext>
            </a:extLst>
          </p:cNvPr>
          <p:cNvSpPr txBox="1"/>
          <p:nvPr/>
        </p:nvSpPr>
        <p:spPr>
          <a:xfrm>
            <a:off x="382205" y="1859621"/>
            <a:ext cx="11809795" cy="5056512"/>
          </a:xfrm>
          <a:prstGeom prst="rect">
            <a:avLst/>
          </a:prstGeom>
          <a:noFill/>
        </p:spPr>
        <p:txBody>
          <a:bodyPr wrap="square">
            <a:spAutoFit/>
          </a:bodyPr>
          <a:lstStyle/>
          <a:p>
            <a:pPr algn="l"/>
            <a:r>
              <a:rPr lang="en-US" sz="2304" dirty="0">
                <a:latin typeface="Wingdings-Regular"/>
              </a:rPr>
              <a:t> </a:t>
            </a:r>
            <a:r>
              <a:rPr lang="en-US" sz="2304" dirty="0">
                <a:latin typeface="Times New Roman" panose="02020603050405020304" pitchFamily="18" charset="0"/>
              </a:rPr>
              <a:t>Hypertext Transfer Protocol Secure (HTTPS) is an extension of the Hypertext Transfer Protocol</a:t>
            </a:r>
          </a:p>
          <a:p>
            <a:pPr algn="l"/>
            <a:r>
              <a:rPr lang="en-US" sz="2304" dirty="0">
                <a:latin typeface="Times New Roman" panose="02020603050405020304" pitchFamily="18" charset="0"/>
              </a:rPr>
              <a:t>(HTTP). It is used for secure communication over a computer network, and is widely used on the</a:t>
            </a:r>
          </a:p>
          <a:p>
            <a:pPr algn="l"/>
            <a:r>
              <a:rPr lang="en-US" sz="2304" dirty="0">
                <a:latin typeface="Times New Roman" panose="02020603050405020304" pitchFamily="18" charset="0"/>
              </a:rPr>
              <a:t>Internet. </a:t>
            </a:r>
          </a:p>
          <a:p>
            <a:pPr algn="l"/>
            <a:r>
              <a:rPr lang="en-US" sz="2304" dirty="0">
                <a:latin typeface="Times New Roman" panose="02020603050405020304" pitchFamily="18" charset="0"/>
              </a:rPr>
              <a:t>-In HTTPS, the communication protocol is encrypted using Transport Layer Security</a:t>
            </a:r>
          </a:p>
          <a:p>
            <a:pPr algn="l"/>
            <a:r>
              <a:rPr lang="en-US" sz="2304" dirty="0">
                <a:latin typeface="Times New Roman" panose="02020603050405020304" pitchFamily="18" charset="0"/>
              </a:rPr>
              <a:t>(TLS) or, formerly, its predecessor, Secure Sockets Layer (SSL). The protocol is therefore also</a:t>
            </a:r>
          </a:p>
          <a:p>
            <a:pPr algn="l"/>
            <a:r>
              <a:rPr lang="en-US" sz="2304" dirty="0">
                <a:latin typeface="Times New Roman" panose="02020603050405020304" pitchFamily="18" charset="0"/>
              </a:rPr>
              <a:t>often referred to as HTTP over TLS, or HTTP over SSL.</a:t>
            </a:r>
          </a:p>
          <a:p>
            <a:pPr algn="l"/>
            <a:r>
              <a:rPr lang="en-US" sz="2304" dirty="0">
                <a:latin typeface="Wingdings-Regular"/>
              </a:rPr>
              <a:t> </a:t>
            </a:r>
            <a:r>
              <a:rPr lang="en-US" sz="2304" dirty="0">
                <a:latin typeface="Times New Roman" panose="02020603050405020304" pitchFamily="18" charset="0"/>
              </a:rPr>
              <a:t>The principal motivations for HTTPS are authentication of the accessed website, protection of</a:t>
            </a:r>
          </a:p>
          <a:p>
            <a:pPr algn="l"/>
            <a:r>
              <a:rPr lang="en-US" sz="2304" dirty="0">
                <a:latin typeface="Times New Roman" panose="02020603050405020304" pitchFamily="18" charset="0"/>
              </a:rPr>
              <a:t>the privacy and integrity of the exchanged data while in transit. It protects against man-in-the middle attacks.</a:t>
            </a:r>
          </a:p>
          <a:p>
            <a:pPr algn="l"/>
            <a:r>
              <a:rPr lang="en-US" sz="2304" dirty="0">
                <a:latin typeface="Wingdings-Regular"/>
              </a:rPr>
              <a:t> </a:t>
            </a:r>
            <a:r>
              <a:rPr lang="en-US" sz="2304" dirty="0">
                <a:latin typeface="Times New Roman" panose="02020603050405020304" pitchFamily="18" charset="0"/>
              </a:rPr>
              <a:t>HTTPS creates a secure channel over an insecure network. This ensures reasonable protection</a:t>
            </a:r>
          </a:p>
          <a:p>
            <a:pPr algn="l"/>
            <a:r>
              <a:rPr lang="en-US" sz="2304" dirty="0">
                <a:latin typeface="Times New Roman" panose="02020603050405020304" pitchFamily="18" charset="0"/>
              </a:rPr>
              <a:t>from eavesdroppers and man-in-the-middle attacks, provided that adequate cipher suites are used</a:t>
            </a:r>
          </a:p>
          <a:p>
            <a:pPr algn="l"/>
            <a:r>
              <a:rPr lang="en-US" sz="2304" dirty="0">
                <a:latin typeface="Times New Roman" panose="02020603050405020304" pitchFamily="18" charset="0"/>
              </a:rPr>
              <a:t>and that the server certificate is verified and trusted.</a:t>
            </a:r>
          </a:p>
          <a:p>
            <a:pPr algn="l"/>
            <a:r>
              <a:rPr lang="en-US" sz="2304" dirty="0">
                <a:latin typeface="Times New Roman" panose="02020603050405020304" pitchFamily="18" charset="0"/>
              </a:rPr>
              <a:t>It works on port no 443.</a:t>
            </a:r>
            <a:endParaRPr lang="en-US" sz="1728" dirty="0">
              <a:latin typeface="Times New Roman" panose="02020603050405020304" pitchFamily="18" charset="0"/>
            </a:endParaRPr>
          </a:p>
        </p:txBody>
      </p:sp>
      <p:sp>
        <p:nvSpPr>
          <p:cNvPr id="4" name="TextBox 3">
            <a:extLst>
              <a:ext uri="{FF2B5EF4-FFF2-40B4-BE49-F238E27FC236}">
                <a16:creationId xmlns:a16="http://schemas.microsoft.com/office/drawing/2014/main" id="{DEAC75A1-A3CD-46C8-8025-9E6E9EDC7541}"/>
              </a:ext>
            </a:extLst>
          </p:cNvPr>
          <p:cNvSpPr txBox="1">
            <a:spLocks noChangeArrowheads="1"/>
          </p:cNvSpPr>
          <p:nvPr/>
        </p:nvSpPr>
        <p:spPr bwMode="auto">
          <a:xfrm>
            <a:off x="926592" y="762000"/>
            <a:ext cx="527913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dirty="0">
                <a:solidFill>
                  <a:srgbClr val="000000"/>
                </a:solidFill>
              </a:rPr>
              <a:t>HTTPS</a:t>
            </a:r>
          </a:p>
          <a:p>
            <a:pPr eaLnBrk="1" hangingPunct="1">
              <a:lnSpc>
                <a:spcPct val="100000"/>
              </a:lnSpc>
              <a:spcBef>
                <a:spcPct val="0"/>
              </a:spcBef>
              <a:buFontTx/>
              <a:buNone/>
            </a:pPr>
            <a:endParaRPr lang="en-US" altLang="en-US" sz="864" dirty="0"/>
          </a:p>
        </p:txBody>
      </p:sp>
    </p:spTree>
    <p:extLst>
      <p:ext uri="{BB962C8B-B14F-4D97-AF65-F5344CB8AC3E}">
        <p14:creationId xmlns:p14="http://schemas.microsoft.com/office/powerpoint/2010/main" val="31413455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C951C9-DFE8-4F63-848D-A903E460B4EB}"/>
              </a:ext>
            </a:extLst>
          </p:cNvPr>
          <p:cNvSpPr txBox="1">
            <a:spLocks noChangeArrowheads="1"/>
          </p:cNvSpPr>
          <p:nvPr/>
        </p:nvSpPr>
        <p:spPr bwMode="auto">
          <a:xfrm>
            <a:off x="926592" y="762000"/>
            <a:ext cx="527913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dirty="0">
                <a:solidFill>
                  <a:srgbClr val="000000"/>
                </a:solidFill>
              </a:rPr>
              <a:t>TELNET</a:t>
            </a:r>
          </a:p>
          <a:p>
            <a:pPr eaLnBrk="1" hangingPunct="1">
              <a:lnSpc>
                <a:spcPct val="100000"/>
              </a:lnSpc>
              <a:spcBef>
                <a:spcPct val="0"/>
              </a:spcBef>
              <a:buFontTx/>
              <a:buNone/>
            </a:pPr>
            <a:endParaRPr lang="en-US" altLang="en-US" sz="864" dirty="0"/>
          </a:p>
        </p:txBody>
      </p:sp>
      <p:sp>
        <p:nvSpPr>
          <p:cNvPr id="4" name="TextBox 3">
            <a:extLst>
              <a:ext uri="{FF2B5EF4-FFF2-40B4-BE49-F238E27FC236}">
                <a16:creationId xmlns:a16="http://schemas.microsoft.com/office/drawing/2014/main" id="{CABCDE19-84A5-48FF-AE22-C4012BEA9639}"/>
              </a:ext>
            </a:extLst>
          </p:cNvPr>
          <p:cNvSpPr txBox="1"/>
          <p:nvPr/>
        </p:nvSpPr>
        <p:spPr>
          <a:xfrm>
            <a:off x="357254" y="1618488"/>
            <a:ext cx="11707722" cy="4879028"/>
          </a:xfrm>
          <a:prstGeom prst="rect">
            <a:avLst/>
          </a:prstGeom>
          <a:noFill/>
        </p:spPr>
        <p:txBody>
          <a:bodyPr wrap="square">
            <a:spAutoFit/>
          </a:bodyPr>
          <a:lstStyle/>
          <a:p>
            <a:pPr algn="l"/>
            <a:r>
              <a:rPr lang="en-US" sz="2592" i="1" dirty="0">
                <a:solidFill>
                  <a:srgbClr val="000000"/>
                </a:solidFill>
                <a:latin typeface="TimesNewRoman,Italic"/>
              </a:rPr>
              <a:t>TELNET − </a:t>
            </a:r>
            <a:r>
              <a:rPr lang="en-US" sz="2592" dirty="0">
                <a:solidFill>
                  <a:srgbClr val="000000"/>
                </a:solidFill>
                <a:latin typeface="Times New Roman" panose="02020603050405020304" pitchFamily="18" charset="0"/>
              </a:rPr>
              <a:t>It provides bi-directional text-oriented services for remote login to the hosts over the network. </a:t>
            </a:r>
            <a:r>
              <a:rPr lang="en-US" sz="2592" b="1" dirty="0">
                <a:solidFill>
                  <a:srgbClr val="111111"/>
                </a:solidFill>
                <a:latin typeface="TimesNewRoman,Bold"/>
              </a:rPr>
              <a:t>TELNET (Terminal Network):</a:t>
            </a:r>
          </a:p>
          <a:p>
            <a:pPr algn="l"/>
            <a:r>
              <a:rPr lang="en-US" sz="1920" dirty="0">
                <a:solidFill>
                  <a:srgbClr val="111111"/>
                </a:solidFill>
                <a:latin typeface="SymbolMT"/>
              </a:rPr>
              <a:t>• </a:t>
            </a:r>
            <a:r>
              <a:rPr lang="en-US" sz="2592" dirty="0">
                <a:solidFill>
                  <a:srgbClr val="111111"/>
                </a:solidFill>
                <a:latin typeface="Times New Roman" panose="02020603050405020304" pitchFamily="18" charset="0"/>
              </a:rPr>
              <a:t>TELNET is client-server application that allows a user to log onto remote machine and lets the user to access any application program on a remote computer.</a:t>
            </a:r>
          </a:p>
          <a:p>
            <a:pPr algn="l"/>
            <a:r>
              <a:rPr lang="en-US" sz="1920" dirty="0">
                <a:solidFill>
                  <a:srgbClr val="111111"/>
                </a:solidFill>
                <a:latin typeface="SymbolMT"/>
              </a:rPr>
              <a:t>• </a:t>
            </a:r>
            <a:r>
              <a:rPr lang="en-US" sz="2592" dirty="0">
                <a:solidFill>
                  <a:srgbClr val="111111"/>
                </a:solidFill>
                <a:latin typeface="Times New Roman" panose="02020603050405020304" pitchFamily="18" charset="0"/>
              </a:rPr>
              <a:t>TELNET uses the NVT (Network Virtual Terminal) system to encode characters on the local system.</a:t>
            </a:r>
          </a:p>
          <a:p>
            <a:pPr algn="l"/>
            <a:r>
              <a:rPr lang="en-US" sz="1920" dirty="0">
                <a:solidFill>
                  <a:srgbClr val="111111"/>
                </a:solidFill>
                <a:latin typeface="SymbolMT"/>
              </a:rPr>
              <a:t>• </a:t>
            </a:r>
            <a:r>
              <a:rPr lang="en-US" sz="2592" dirty="0">
                <a:solidFill>
                  <a:srgbClr val="111111"/>
                </a:solidFill>
                <a:latin typeface="Times New Roman" panose="02020603050405020304" pitchFamily="18" charset="0"/>
              </a:rPr>
              <a:t>On the server (remote) machine, NVT decodes the characters to a form acceptable to the remote machine.</a:t>
            </a:r>
          </a:p>
          <a:p>
            <a:pPr algn="l"/>
            <a:r>
              <a:rPr lang="en-US" sz="1920" dirty="0">
                <a:solidFill>
                  <a:srgbClr val="111111"/>
                </a:solidFill>
                <a:latin typeface="SymbolMT"/>
              </a:rPr>
              <a:t>• </a:t>
            </a:r>
            <a:r>
              <a:rPr lang="en-US" sz="2592" dirty="0">
                <a:solidFill>
                  <a:srgbClr val="111111"/>
                </a:solidFill>
                <a:latin typeface="Times New Roman" panose="02020603050405020304" pitchFamily="18" charset="0"/>
              </a:rPr>
              <a:t>TELNET is a protocol that provides a general, bi-directional, eight-bit byte oriented communications facility.</a:t>
            </a:r>
          </a:p>
          <a:p>
            <a:pPr algn="l"/>
            <a:r>
              <a:rPr lang="en-US" sz="1920" dirty="0">
                <a:solidFill>
                  <a:srgbClr val="111111"/>
                </a:solidFill>
                <a:latin typeface="SymbolMT"/>
              </a:rPr>
              <a:t>• </a:t>
            </a:r>
            <a:r>
              <a:rPr lang="en-US" sz="2592" dirty="0">
                <a:solidFill>
                  <a:srgbClr val="111111"/>
                </a:solidFill>
                <a:latin typeface="Times New Roman" panose="02020603050405020304" pitchFamily="18" charset="0"/>
              </a:rPr>
              <a:t>Many application protocols are built upon the TELNET protocol</a:t>
            </a:r>
          </a:p>
          <a:p>
            <a:pPr algn="l"/>
            <a:r>
              <a:rPr lang="en-US" sz="1920" dirty="0">
                <a:solidFill>
                  <a:srgbClr val="111111"/>
                </a:solidFill>
                <a:latin typeface="SymbolMT"/>
              </a:rPr>
              <a:t>• </a:t>
            </a:r>
            <a:r>
              <a:rPr lang="en-US" sz="2592" dirty="0">
                <a:solidFill>
                  <a:srgbClr val="111111"/>
                </a:solidFill>
                <a:latin typeface="Times New Roman" panose="02020603050405020304" pitchFamily="18" charset="0"/>
              </a:rPr>
              <a:t>Telnet services are used on PORT 23.</a:t>
            </a:r>
            <a:endParaRPr lang="en-US" sz="1920" dirty="0">
              <a:solidFill>
                <a:srgbClr val="000000"/>
              </a:solidFill>
              <a:latin typeface="TimesNewRoman,Italic"/>
            </a:endParaRPr>
          </a:p>
        </p:txBody>
      </p:sp>
    </p:spTree>
    <p:extLst>
      <p:ext uri="{BB962C8B-B14F-4D97-AF65-F5344CB8AC3E}">
        <p14:creationId xmlns:p14="http://schemas.microsoft.com/office/powerpoint/2010/main" val="8188086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Box 1">
            <a:extLst>
              <a:ext uri="{FF2B5EF4-FFF2-40B4-BE49-F238E27FC236}">
                <a16:creationId xmlns:a16="http://schemas.microsoft.com/office/drawing/2014/main" id="{395935DB-1EC8-4993-97B7-D12E6F072E70}"/>
              </a:ext>
            </a:extLst>
          </p:cNvPr>
          <p:cNvSpPr txBox="1">
            <a:spLocks noChangeArrowheads="1"/>
          </p:cNvSpPr>
          <p:nvPr/>
        </p:nvSpPr>
        <p:spPr bwMode="auto">
          <a:xfrm>
            <a:off x="926592" y="762000"/>
            <a:ext cx="673608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pt-BR" altLang="en-US" sz="4416">
                <a:solidFill>
                  <a:srgbClr val="000000"/>
                </a:solidFill>
              </a:rPr>
              <a:t>FTP (File Transfer Protocol)</a:t>
            </a:r>
          </a:p>
          <a:p>
            <a:pPr eaLnBrk="1" hangingPunct="1">
              <a:lnSpc>
                <a:spcPct val="100000"/>
              </a:lnSpc>
              <a:spcBef>
                <a:spcPct val="0"/>
              </a:spcBef>
              <a:buFontTx/>
              <a:buNone/>
            </a:pPr>
            <a:endParaRPr lang="en-US" altLang="en-US" sz="864"/>
          </a:p>
        </p:txBody>
      </p:sp>
      <p:sp>
        <p:nvSpPr>
          <p:cNvPr id="15363" name="TextBox 2">
            <a:extLst>
              <a:ext uri="{FF2B5EF4-FFF2-40B4-BE49-F238E27FC236}">
                <a16:creationId xmlns:a16="http://schemas.microsoft.com/office/drawing/2014/main" id="{315FC3B7-6A36-4B14-AD01-36990BE7CA85}"/>
              </a:ext>
            </a:extLst>
          </p:cNvPr>
          <p:cNvSpPr txBox="1">
            <a:spLocks noChangeArrowheads="1"/>
          </p:cNvSpPr>
          <p:nvPr/>
        </p:nvSpPr>
        <p:spPr bwMode="auto">
          <a:xfrm>
            <a:off x="926592" y="1834896"/>
            <a:ext cx="10381488" cy="35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File Transfer Protocol (FTP) is the standard mechanism provided by</a:t>
            </a:r>
          </a:p>
          <a:p>
            <a:pPr eaLnBrk="1" hangingPunct="1">
              <a:lnSpc>
                <a:spcPct val="100000"/>
              </a:lnSpc>
              <a:spcBef>
                <a:spcPct val="0"/>
              </a:spcBef>
              <a:buFontTx/>
              <a:buNone/>
            </a:pPr>
            <a:r>
              <a:rPr lang="en-US" altLang="en-US" sz="2736">
                <a:solidFill>
                  <a:srgbClr val="000000"/>
                </a:solidFill>
              </a:rPr>
              <a:t>  </a:t>
            </a:r>
            <a:r>
              <a:rPr lang="en-US" altLang="en-US" sz="2736" i="1">
                <a:solidFill>
                  <a:srgbClr val="000000"/>
                </a:solidFill>
              </a:rPr>
              <a:t>TCP/IP </a:t>
            </a:r>
            <a:r>
              <a:rPr lang="en-US" altLang="en-US" sz="2736">
                <a:solidFill>
                  <a:srgbClr val="000000"/>
                </a:solidFill>
              </a:rPr>
              <a:t>for copying a file from one host to another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FTP establishes two connections between the hosts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One connection is used for data transfer, the other for control</a:t>
            </a:r>
          </a:p>
          <a:p>
            <a:pPr eaLnBrk="1" hangingPunct="1">
              <a:lnSpc>
                <a:spcPct val="100000"/>
              </a:lnSpc>
              <a:spcBef>
                <a:spcPct val="0"/>
              </a:spcBef>
              <a:buFontTx/>
              <a:buNone/>
            </a:pPr>
            <a:r>
              <a:rPr lang="en-US" altLang="en-US" sz="2736">
                <a:solidFill>
                  <a:srgbClr val="000000"/>
                </a:solidFill>
              </a:rPr>
              <a:t>  information (commands and responses)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Separation of commands and data transfer makes FTP more efficient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FTP uses </a:t>
            </a:r>
            <a:r>
              <a:rPr lang="en-US" altLang="en-US" sz="2736" b="1">
                <a:solidFill>
                  <a:srgbClr val="000000"/>
                </a:solidFill>
              </a:rPr>
              <a:t>two </a:t>
            </a:r>
            <a:r>
              <a:rPr lang="en-US" altLang="en-US" sz="2736">
                <a:solidFill>
                  <a:srgbClr val="000000"/>
                </a:solidFill>
              </a:rPr>
              <a:t>well-known TCP ports: </a:t>
            </a:r>
            <a:r>
              <a:rPr lang="en-US" altLang="en-US" sz="2736" b="1">
                <a:solidFill>
                  <a:srgbClr val="000000"/>
                </a:solidFill>
              </a:rPr>
              <a:t>Port 21 </a:t>
            </a:r>
            <a:r>
              <a:rPr lang="en-US" altLang="en-US" sz="2736">
                <a:solidFill>
                  <a:srgbClr val="000000"/>
                </a:solidFill>
              </a:rPr>
              <a:t>is used for the control</a:t>
            </a:r>
          </a:p>
          <a:p>
            <a:pPr eaLnBrk="1" hangingPunct="1">
              <a:lnSpc>
                <a:spcPct val="100000"/>
              </a:lnSpc>
              <a:spcBef>
                <a:spcPct val="0"/>
              </a:spcBef>
              <a:buFontTx/>
              <a:buNone/>
            </a:pPr>
            <a:r>
              <a:rPr lang="en-US" altLang="en-US" sz="2736">
                <a:solidFill>
                  <a:srgbClr val="000000"/>
                </a:solidFill>
              </a:rPr>
              <a:t>  connection, and </a:t>
            </a:r>
            <a:r>
              <a:rPr lang="en-US" altLang="en-US" sz="2736" b="1">
                <a:solidFill>
                  <a:srgbClr val="000000"/>
                </a:solidFill>
              </a:rPr>
              <a:t>port 20 </a:t>
            </a:r>
            <a:r>
              <a:rPr lang="en-US" altLang="en-US" sz="2736">
                <a:solidFill>
                  <a:srgbClr val="000000"/>
                </a:solidFill>
              </a:rPr>
              <a:t>is used for the data connection.</a:t>
            </a:r>
          </a:p>
          <a:p>
            <a:pPr eaLnBrk="1" hangingPunct="1">
              <a:lnSpc>
                <a:spcPct val="100000"/>
              </a:lnSpc>
              <a:spcBef>
                <a:spcPct val="0"/>
              </a:spcBef>
              <a:buFontTx/>
              <a:buNone/>
            </a:pPr>
            <a:endParaRPr lang="en-US" altLang="en-US" sz="864"/>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a:extLst>
              <a:ext uri="{FF2B5EF4-FFF2-40B4-BE49-F238E27FC236}">
                <a16:creationId xmlns:a16="http://schemas.microsoft.com/office/drawing/2014/main" id="{054C290D-D590-40A7-9861-DC9EF0BD6A5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extBox 3">
            <a:extLst>
              <a:ext uri="{FF2B5EF4-FFF2-40B4-BE49-F238E27FC236}">
                <a16:creationId xmlns:a16="http://schemas.microsoft.com/office/drawing/2014/main" id="{62EC4F81-1720-4C03-BB9A-C07881E4A039}"/>
              </a:ext>
            </a:extLst>
          </p:cNvPr>
          <p:cNvSpPr txBox="1">
            <a:spLocks noChangeArrowheads="1"/>
          </p:cNvSpPr>
          <p:nvPr/>
        </p:nvSpPr>
        <p:spPr bwMode="auto">
          <a:xfrm>
            <a:off x="926592" y="762000"/>
            <a:ext cx="493776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FTP Architecture</a:t>
            </a:r>
          </a:p>
          <a:p>
            <a:pPr eaLnBrk="1" hangingPunct="1">
              <a:lnSpc>
                <a:spcPct val="100000"/>
              </a:lnSpc>
              <a:spcBef>
                <a:spcPct val="0"/>
              </a:spcBef>
              <a:buFontTx/>
              <a:buNone/>
            </a:pPr>
            <a:endParaRPr lang="en-US" altLang="en-US" sz="864"/>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Box 1">
            <a:extLst>
              <a:ext uri="{FF2B5EF4-FFF2-40B4-BE49-F238E27FC236}">
                <a16:creationId xmlns:a16="http://schemas.microsoft.com/office/drawing/2014/main" id="{5600AD4A-B3DF-423E-BB83-05E743E407DF}"/>
              </a:ext>
            </a:extLst>
          </p:cNvPr>
          <p:cNvSpPr txBox="1">
            <a:spLocks noChangeArrowheads="1"/>
          </p:cNvSpPr>
          <p:nvPr/>
        </p:nvSpPr>
        <p:spPr bwMode="auto">
          <a:xfrm>
            <a:off x="926592" y="762000"/>
            <a:ext cx="4041648"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FTP Working</a:t>
            </a:r>
          </a:p>
          <a:p>
            <a:pPr eaLnBrk="1" hangingPunct="1">
              <a:lnSpc>
                <a:spcPct val="100000"/>
              </a:lnSpc>
              <a:spcBef>
                <a:spcPct val="0"/>
              </a:spcBef>
              <a:buFontTx/>
              <a:buNone/>
            </a:pPr>
            <a:endParaRPr lang="en-US" altLang="en-US" sz="864"/>
          </a:p>
        </p:txBody>
      </p:sp>
      <p:sp>
        <p:nvSpPr>
          <p:cNvPr id="17411" name="TextBox 2">
            <a:extLst>
              <a:ext uri="{FF2B5EF4-FFF2-40B4-BE49-F238E27FC236}">
                <a16:creationId xmlns:a16="http://schemas.microsoft.com/office/drawing/2014/main" id="{4CA5F3FD-95DE-41ED-8FE2-BD4FAEB75AAA}"/>
              </a:ext>
            </a:extLst>
          </p:cNvPr>
          <p:cNvSpPr txBox="1">
            <a:spLocks noChangeArrowheads="1"/>
          </p:cNvSpPr>
          <p:nvPr/>
        </p:nvSpPr>
        <p:spPr bwMode="auto">
          <a:xfrm>
            <a:off x="926592" y="1810512"/>
            <a:ext cx="10143744" cy="4435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FTP uses Transmission Control Protocol (TCP) for reliable network</a:t>
            </a:r>
          </a:p>
          <a:p>
            <a:pPr eaLnBrk="1" hangingPunct="1">
              <a:lnSpc>
                <a:spcPct val="100000"/>
              </a:lnSpc>
              <a:spcBef>
                <a:spcPct val="0"/>
              </a:spcBef>
              <a:buFontTx/>
              <a:buNone/>
            </a:pPr>
            <a:r>
              <a:rPr lang="en-US" altLang="en-US" sz="2736" dirty="0">
                <a:solidFill>
                  <a:srgbClr val="000000"/>
                </a:solidFill>
              </a:rPr>
              <a:t>  communication by establishing a session before initiating data</a:t>
            </a:r>
          </a:p>
          <a:p>
            <a:pPr eaLnBrk="1" hangingPunct="1">
              <a:lnSpc>
                <a:spcPct val="100000"/>
              </a:lnSpc>
              <a:spcBef>
                <a:spcPct val="0"/>
              </a:spcBef>
              <a:buFontTx/>
              <a:buNone/>
            </a:pPr>
            <a:r>
              <a:rPr lang="en-US" altLang="en-US" sz="2736" dirty="0">
                <a:solidFill>
                  <a:srgbClr val="000000"/>
                </a:solidFill>
              </a:rPr>
              <a:t>  transfer</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FTP client send command/ request for connection to FTP server</a:t>
            </a:r>
          </a:p>
          <a:p>
            <a:pPr eaLnBrk="1" hangingPunct="1">
              <a:lnSpc>
                <a:spcPct val="100000"/>
              </a:lnSpc>
              <a:spcBef>
                <a:spcPct val="0"/>
              </a:spcBef>
              <a:buFontTx/>
              <a:buNone/>
            </a:pPr>
            <a:r>
              <a:rPr lang="en-US" altLang="en-US" sz="2736" dirty="0">
                <a:solidFill>
                  <a:srgbClr val="000000"/>
                </a:solidFill>
              </a:rPr>
              <a:t>  establishing connection(Port 21)</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FTP server Responds to the commands about the status</a:t>
            </a:r>
          </a:p>
          <a:p>
            <a:pPr eaLnBrk="1" hangingPunct="1">
              <a:lnSpc>
                <a:spcPct val="100000"/>
              </a:lnSpc>
              <a:spcBef>
                <a:spcPct val="0"/>
              </a:spcBef>
              <a:buFontTx/>
              <a:buNone/>
            </a:pPr>
            <a:r>
              <a:rPr lang="en-US" altLang="en-US" sz="2736" dirty="0">
                <a:solidFill>
                  <a:srgbClr val="000000"/>
                </a:solidFill>
              </a:rPr>
              <a:t>  connected/ not connected (Port 21)</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FTP Client connect to FTP server using control connection i.e. using</a:t>
            </a:r>
          </a:p>
          <a:p>
            <a:pPr eaLnBrk="1" hangingPunct="1">
              <a:lnSpc>
                <a:spcPct val="100000"/>
              </a:lnSpc>
              <a:spcBef>
                <a:spcPct val="0"/>
              </a:spcBef>
              <a:buFontTx/>
              <a:buNone/>
            </a:pPr>
            <a:r>
              <a:rPr lang="en-US" altLang="en-US" sz="2736" dirty="0">
                <a:solidFill>
                  <a:srgbClr val="000000"/>
                </a:solidFill>
              </a:rPr>
              <a:t>  port 21</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After establishing connection port 20 is used for data transfer</a:t>
            </a:r>
          </a:p>
          <a:p>
            <a:pPr eaLnBrk="1" hangingPunct="1">
              <a:lnSpc>
                <a:spcPct val="100000"/>
              </a:lnSpc>
              <a:spcBef>
                <a:spcPct val="0"/>
              </a:spcBef>
              <a:buFontTx/>
              <a:buNone/>
            </a:pPr>
            <a:endParaRPr lang="en-US" altLang="en-US" sz="864"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1">
            <a:extLst>
              <a:ext uri="{FF2B5EF4-FFF2-40B4-BE49-F238E27FC236}">
                <a16:creationId xmlns:a16="http://schemas.microsoft.com/office/drawing/2014/main" id="{67FF3594-FA80-4E57-8E74-D48615D34732}"/>
              </a:ext>
            </a:extLst>
          </p:cNvPr>
          <p:cNvSpPr txBox="1">
            <a:spLocks noChangeArrowheads="1"/>
          </p:cNvSpPr>
          <p:nvPr/>
        </p:nvSpPr>
        <p:spPr bwMode="auto">
          <a:xfrm>
            <a:off x="926592" y="762000"/>
            <a:ext cx="1089355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DHCP(Dynamic Host Configuration Protocol)</a:t>
            </a:r>
          </a:p>
          <a:p>
            <a:pPr eaLnBrk="1" hangingPunct="1">
              <a:lnSpc>
                <a:spcPct val="100000"/>
              </a:lnSpc>
              <a:spcBef>
                <a:spcPct val="0"/>
              </a:spcBef>
              <a:buFontTx/>
              <a:buNone/>
            </a:pPr>
            <a:endParaRPr lang="en-US" altLang="en-US" sz="864"/>
          </a:p>
        </p:txBody>
      </p:sp>
      <p:sp>
        <p:nvSpPr>
          <p:cNvPr id="18435" name="TextBox 2">
            <a:extLst>
              <a:ext uri="{FF2B5EF4-FFF2-40B4-BE49-F238E27FC236}">
                <a16:creationId xmlns:a16="http://schemas.microsoft.com/office/drawing/2014/main" id="{4B93DC97-27E6-49B2-80DC-1EE9B36C9575}"/>
              </a:ext>
            </a:extLst>
          </p:cNvPr>
          <p:cNvSpPr txBox="1">
            <a:spLocks noChangeArrowheads="1"/>
          </p:cNvSpPr>
          <p:nvPr/>
        </p:nvSpPr>
        <p:spPr bwMode="auto">
          <a:xfrm>
            <a:off x="926592" y="1834896"/>
            <a:ext cx="62362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Two possible way for configuring IP are:</a:t>
            </a:r>
          </a:p>
          <a:p>
            <a:pPr eaLnBrk="1" hangingPunct="1">
              <a:lnSpc>
                <a:spcPct val="100000"/>
              </a:lnSpc>
              <a:spcBef>
                <a:spcPct val="0"/>
              </a:spcBef>
              <a:buFontTx/>
              <a:buNone/>
            </a:pPr>
            <a:endParaRPr lang="en-US" altLang="en-US" sz="864"/>
          </a:p>
        </p:txBody>
      </p:sp>
      <p:sp>
        <p:nvSpPr>
          <p:cNvPr id="18436" name="TextBox 3">
            <a:extLst>
              <a:ext uri="{FF2B5EF4-FFF2-40B4-BE49-F238E27FC236}">
                <a16:creationId xmlns:a16="http://schemas.microsoft.com/office/drawing/2014/main" id="{9AA1EEB3-14FC-4C49-8E41-843ED32A6A35}"/>
              </a:ext>
            </a:extLst>
          </p:cNvPr>
          <p:cNvSpPr txBox="1">
            <a:spLocks noChangeArrowheads="1"/>
          </p:cNvSpPr>
          <p:nvPr/>
        </p:nvSpPr>
        <p:spPr bwMode="auto">
          <a:xfrm>
            <a:off x="1383792" y="2340864"/>
            <a:ext cx="3267456" cy="9639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 Manually</a:t>
            </a:r>
          </a:p>
          <a:p>
            <a:pPr eaLnBrk="1" hangingPunct="1">
              <a:lnSpc>
                <a:spcPct val="100000"/>
              </a:lnSpc>
              <a:spcBef>
                <a:spcPct val="0"/>
              </a:spcBef>
              <a:buFontTx/>
              <a:buNone/>
            </a:pPr>
            <a:r>
              <a:rPr lang="en-US" altLang="en-US" sz="2400">
                <a:solidFill>
                  <a:srgbClr val="000000"/>
                </a:solidFill>
              </a:rPr>
              <a:t>2. Dynamically (DHCP)</a:t>
            </a:r>
          </a:p>
          <a:p>
            <a:pPr eaLnBrk="1" hangingPunct="1">
              <a:lnSpc>
                <a:spcPct val="100000"/>
              </a:lnSpc>
              <a:spcBef>
                <a:spcPct val="0"/>
              </a:spcBef>
              <a:buFontTx/>
              <a:buNone/>
            </a:pPr>
            <a:endParaRPr lang="en-US" altLang="en-US" sz="864"/>
          </a:p>
        </p:txBody>
      </p:sp>
      <p:sp>
        <p:nvSpPr>
          <p:cNvPr id="18437" name="TextBox 4">
            <a:extLst>
              <a:ext uri="{FF2B5EF4-FFF2-40B4-BE49-F238E27FC236}">
                <a16:creationId xmlns:a16="http://schemas.microsoft.com/office/drawing/2014/main" id="{99605228-4D53-430B-A29E-E7921698B945}"/>
              </a:ext>
            </a:extLst>
          </p:cNvPr>
          <p:cNvSpPr txBox="1">
            <a:spLocks noChangeArrowheads="1"/>
          </p:cNvSpPr>
          <p:nvPr/>
        </p:nvSpPr>
        <p:spPr bwMode="auto">
          <a:xfrm>
            <a:off x="926592" y="3145536"/>
            <a:ext cx="9747504" cy="233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DHCP is service that provide IP addresses.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Server that runs DHCP service is DHCP servers.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Client that uses DHCP server for IP configuration is DHCP clients.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DHCP server uses UDP port 67</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DHCP client uses UDP port 68</a:t>
            </a:r>
          </a:p>
          <a:p>
            <a:pPr eaLnBrk="1" hangingPunct="1">
              <a:lnSpc>
                <a:spcPct val="100000"/>
              </a:lnSpc>
              <a:spcBef>
                <a:spcPct val="0"/>
              </a:spcBef>
              <a:buFontTx/>
              <a:buNone/>
            </a:pPr>
            <a:endParaRPr lang="en-US" altLang="en-US" sz="864"/>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13D3D908-CB65-454B-B6A2-1F7EF4E33E69}"/>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9" name="TextBox 3">
            <a:extLst>
              <a:ext uri="{FF2B5EF4-FFF2-40B4-BE49-F238E27FC236}">
                <a16:creationId xmlns:a16="http://schemas.microsoft.com/office/drawing/2014/main" id="{2328BD3B-10B1-47E3-BF1E-9E7830262BDE}"/>
              </a:ext>
            </a:extLst>
          </p:cNvPr>
          <p:cNvSpPr txBox="1">
            <a:spLocks noChangeArrowheads="1"/>
          </p:cNvSpPr>
          <p:nvPr/>
        </p:nvSpPr>
        <p:spPr bwMode="auto">
          <a:xfrm>
            <a:off x="926592" y="762000"/>
            <a:ext cx="48768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DHCP Operation</a:t>
            </a:r>
          </a:p>
          <a:p>
            <a:pPr eaLnBrk="1" hangingPunct="1">
              <a:lnSpc>
                <a:spcPct val="100000"/>
              </a:lnSpc>
              <a:spcBef>
                <a:spcPct val="0"/>
              </a:spcBef>
              <a:buFontTx/>
              <a:buNone/>
            </a:pPr>
            <a:endParaRPr lang="en-US" altLang="en-US" sz="864"/>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1CC49C25-69E0-4770-B3ED-64877E44AC35}"/>
              </a:ext>
            </a:extLst>
          </p:cNvPr>
          <p:cNvSpPr txBox="1">
            <a:spLocks noChangeArrowheads="1"/>
          </p:cNvSpPr>
          <p:nvPr/>
        </p:nvSpPr>
        <p:spPr bwMode="auto">
          <a:xfrm>
            <a:off x="926592" y="762000"/>
            <a:ext cx="649224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DHCP Discover Packet</a:t>
            </a:r>
          </a:p>
          <a:p>
            <a:pPr eaLnBrk="1" hangingPunct="1">
              <a:lnSpc>
                <a:spcPct val="100000"/>
              </a:lnSpc>
              <a:spcBef>
                <a:spcPct val="0"/>
              </a:spcBef>
              <a:buFontTx/>
              <a:buNone/>
            </a:pPr>
            <a:endParaRPr lang="en-US" altLang="en-US" sz="864"/>
          </a:p>
        </p:txBody>
      </p:sp>
      <p:sp>
        <p:nvSpPr>
          <p:cNvPr id="20483" name="TextBox 2">
            <a:extLst>
              <a:ext uri="{FF2B5EF4-FFF2-40B4-BE49-F238E27FC236}">
                <a16:creationId xmlns:a16="http://schemas.microsoft.com/office/drawing/2014/main" id="{0754D9AE-EA73-41A5-8B99-9741FFFB16A1}"/>
              </a:ext>
            </a:extLst>
          </p:cNvPr>
          <p:cNvSpPr txBox="1">
            <a:spLocks noChangeArrowheads="1"/>
          </p:cNvSpPr>
          <p:nvPr/>
        </p:nvSpPr>
        <p:spPr bwMode="auto">
          <a:xfrm>
            <a:off x="926592" y="1834896"/>
            <a:ext cx="10570464" cy="4014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Sent by DHCP client to DHCP server(Broadcasting)</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DHCP client </a:t>
            </a:r>
            <a:r>
              <a:rPr lang="en-US" altLang="en-US" sz="2736" b="1" i="1">
                <a:solidFill>
                  <a:srgbClr val="000000"/>
                </a:solidFill>
              </a:rPr>
              <a:t>(computer </a:t>
            </a:r>
            <a:r>
              <a:rPr lang="en-US" altLang="en-US" sz="2736" i="1">
                <a:solidFill>
                  <a:srgbClr val="000000"/>
                </a:solidFill>
              </a:rPr>
              <a:t>or device which wants IP) </a:t>
            </a:r>
            <a:r>
              <a:rPr lang="en-US" altLang="en-US" sz="2736">
                <a:solidFill>
                  <a:srgbClr val="000000"/>
                </a:solidFill>
              </a:rPr>
              <a:t>broadcast</a:t>
            </a:r>
          </a:p>
          <a:p>
            <a:pPr eaLnBrk="1" hangingPunct="1">
              <a:lnSpc>
                <a:spcPct val="100000"/>
              </a:lnSpc>
              <a:spcBef>
                <a:spcPct val="0"/>
              </a:spcBef>
              <a:buFontTx/>
              <a:buNone/>
            </a:pPr>
            <a:r>
              <a:rPr lang="en-US" altLang="en-US" sz="2736">
                <a:solidFill>
                  <a:srgbClr val="000000"/>
                </a:solidFill>
              </a:rPr>
              <a:t>  broadcasts a request for an IP address on its network. It does this by</a:t>
            </a:r>
          </a:p>
          <a:p>
            <a:pPr eaLnBrk="1" hangingPunct="1">
              <a:lnSpc>
                <a:spcPct val="100000"/>
              </a:lnSpc>
              <a:spcBef>
                <a:spcPct val="0"/>
              </a:spcBef>
              <a:buFontTx/>
              <a:buNone/>
            </a:pPr>
            <a:r>
              <a:rPr lang="en-US" altLang="en-US" sz="2736">
                <a:solidFill>
                  <a:srgbClr val="000000"/>
                </a:solidFill>
              </a:rPr>
              <a:t>  using a DHCP DISCOVER packet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Packet must reach the DHCP server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 DHCP client may also request its last-known IP address with</a:t>
            </a:r>
          </a:p>
          <a:p>
            <a:pPr eaLnBrk="1" hangingPunct="1">
              <a:lnSpc>
                <a:spcPct val="100000"/>
              </a:lnSpc>
              <a:spcBef>
                <a:spcPct val="0"/>
              </a:spcBef>
              <a:buFontTx/>
              <a:buNone/>
            </a:pPr>
            <a:r>
              <a:rPr lang="en-US" altLang="en-US" sz="2736">
                <a:solidFill>
                  <a:srgbClr val="000000"/>
                </a:solidFill>
              </a:rPr>
              <a:t>  discover packet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DHCP discover packet is for checking weather DHCP server is available</a:t>
            </a:r>
          </a:p>
          <a:p>
            <a:pPr eaLnBrk="1" hangingPunct="1">
              <a:lnSpc>
                <a:spcPct val="100000"/>
              </a:lnSpc>
              <a:spcBef>
                <a:spcPct val="0"/>
              </a:spcBef>
              <a:buFontTx/>
              <a:buNone/>
            </a:pPr>
            <a:r>
              <a:rPr lang="en-US" altLang="en-US" sz="2736">
                <a:solidFill>
                  <a:srgbClr val="000000"/>
                </a:solidFill>
              </a:rPr>
              <a:t>  in network and IP address lease request</a:t>
            </a:r>
          </a:p>
          <a:p>
            <a:pPr eaLnBrk="1" hangingPunct="1">
              <a:lnSpc>
                <a:spcPct val="100000"/>
              </a:lnSpc>
              <a:spcBef>
                <a:spcPct val="0"/>
              </a:spcBef>
              <a:buFontTx/>
              <a:buNone/>
            </a:pPr>
            <a:endParaRPr lang="en-US" altLang="en-US" sz="864"/>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1">
            <a:extLst>
              <a:ext uri="{FF2B5EF4-FFF2-40B4-BE49-F238E27FC236}">
                <a16:creationId xmlns:a16="http://schemas.microsoft.com/office/drawing/2014/main" id="{579F8E24-D105-42A8-BD82-03C4E4B641A1}"/>
              </a:ext>
            </a:extLst>
          </p:cNvPr>
          <p:cNvSpPr txBox="1">
            <a:spLocks noChangeArrowheads="1"/>
          </p:cNvSpPr>
          <p:nvPr/>
        </p:nvSpPr>
        <p:spPr bwMode="auto">
          <a:xfrm>
            <a:off x="926592" y="762000"/>
            <a:ext cx="5748528"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DHCP Offer Packet</a:t>
            </a:r>
          </a:p>
          <a:p>
            <a:pPr eaLnBrk="1" hangingPunct="1">
              <a:lnSpc>
                <a:spcPct val="100000"/>
              </a:lnSpc>
              <a:spcBef>
                <a:spcPct val="0"/>
              </a:spcBef>
              <a:buFontTx/>
              <a:buNone/>
            </a:pPr>
            <a:endParaRPr lang="en-US" altLang="en-US" sz="864"/>
          </a:p>
        </p:txBody>
      </p:sp>
      <p:sp>
        <p:nvSpPr>
          <p:cNvPr id="21507" name="TextBox 2">
            <a:extLst>
              <a:ext uri="{FF2B5EF4-FFF2-40B4-BE49-F238E27FC236}">
                <a16:creationId xmlns:a16="http://schemas.microsoft.com/office/drawing/2014/main" id="{6387F4AB-E165-46AD-8A0F-DF38DFF2D4EA}"/>
              </a:ext>
            </a:extLst>
          </p:cNvPr>
          <p:cNvSpPr txBox="1">
            <a:spLocks noChangeArrowheads="1"/>
          </p:cNvSpPr>
          <p:nvPr/>
        </p:nvSpPr>
        <p:spPr bwMode="auto">
          <a:xfrm>
            <a:off x="926592" y="1834896"/>
            <a:ext cx="10479024" cy="35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Sent by DHCP server to DHCP client (Unicasting)</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When a DHCP server receives a DHCPDISCOVER message from a</a:t>
            </a:r>
          </a:p>
          <a:p>
            <a:pPr eaLnBrk="1" hangingPunct="1">
              <a:lnSpc>
                <a:spcPct val="100000"/>
              </a:lnSpc>
              <a:spcBef>
                <a:spcPct val="0"/>
              </a:spcBef>
              <a:buFontTx/>
              <a:buNone/>
            </a:pPr>
            <a:r>
              <a:rPr lang="en-US" altLang="en-US" sz="2736">
                <a:solidFill>
                  <a:srgbClr val="000000"/>
                </a:solidFill>
              </a:rPr>
              <a:t>  client, which is an IP address lease request, the server reserves an IP</a:t>
            </a:r>
          </a:p>
          <a:p>
            <a:pPr eaLnBrk="1" hangingPunct="1">
              <a:lnSpc>
                <a:spcPct val="100000"/>
              </a:lnSpc>
              <a:spcBef>
                <a:spcPct val="0"/>
              </a:spcBef>
              <a:buFontTx/>
              <a:buNone/>
            </a:pPr>
            <a:r>
              <a:rPr lang="en-US" altLang="en-US" sz="2736">
                <a:solidFill>
                  <a:srgbClr val="000000"/>
                </a:solidFill>
              </a:rPr>
              <a:t>  address for the client and makes a lease offer by sending a</a:t>
            </a:r>
          </a:p>
          <a:p>
            <a:pPr eaLnBrk="1" hangingPunct="1">
              <a:lnSpc>
                <a:spcPct val="100000"/>
              </a:lnSpc>
              <a:spcBef>
                <a:spcPct val="0"/>
              </a:spcBef>
              <a:buFontTx/>
              <a:buNone/>
            </a:pPr>
            <a:r>
              <a:rPr lang="en-US" altLang="en-US" sz="2736">
                <a:solidFill>
                  <a:srgbClr val="000000"/>
                </a:solidFill>
              </a:rPr>
              <a:t>  DHCPOFFER message to the client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This message contains the client's MAC address, the IP address that</a:t>
            </a:r>
          </a:p>
          <a:p>
            <a:pPr eaLnBrk="1" hangingPunct="1">
              <a:lnSpc>
                <a:spcPct val="100000"/>
              </a:lnSpc>
              <a:spcBef>
                <a:spcPct val="0"/>
              </a:spcBef>
              <a:buFontTx/>
              <a:buNone/>
            </a:pPr>
            <a:r>
              <a:rPr lang="en-US" altLang="en-US" sz="2736">
                <a:solidFill>
                  <a:srgbClr val="000000"/>
                </a:solidFill>
              </a:rPr>
              <a:t>  the server is offering, the subnet mask, the lease duration, and the IP</a:t>
            </a:r>
          </a:p>
          <a:p>
            <a:pPr eaLnBrk="1" hangingPunct="1">
              <a:lnSpc>
                <a:spcPct val="100000"/>
              </a:lnSpc>
              <a:spcBef>
                <a:spcPct val="0"/>
              </a:spcBef>
              <a:buFontTx/>
              <a:buNone/>
            </a:pPr>
            <a:r>
              <a:rPr lang="en-US" altLang="en-US" sz="2736">
                <a:solidFill>
                  <a:srgbClr val="000000"/>
                </a:solidFill>
              </a:rPr>
              <a:t>  address of the DHCP server making the offer</a:t>
            </a:r>
          </a:p>
          <a:p>
            <a:pPr eaLnBrk="1" hangingPunct="1">
              <a:lnSpc>
                <a:spcPct val="100000"/>
              </a:lnSpc>
              <a:spcBef>
                <a:spcPct val="0"/>
              </a:spcBef>
              <a:buFontTx/>
              <a:buNone/>
            </a:pPr>
            <a:endParaRPr lang="en-US" altLang="en-US" sz="864"/>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1">
            <a:extLst>
              <a:ext uri="{FF2B5EF4-FFF2-40B4-BE49-F238E27FC236}">
                <a16:creationId xmlns:a16="http://schemas.microsoft.com/office/drawing/2014/main" id="{70180C53-2376-4AAF-9C81-32644F8A3194}"/>
              </a:ext>
            </a:extLst>
          </p:cNvPr>
          <p:cNvSpPr txBox="1">
            <a:spLocks noChangeArrowheads="1"/>
          </p:cNvSpPr>
          <p:nvPr/>
        </p:nvSpPr>
        <p:spPr bwMode="auto">
          <a:xfrm>
            <a:off x="926592" y="762000"/>
            <a:ext cx="640689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DHCP Request Packet</a:t>
            </a:r>
          </a:p>
          <a:p>
            <a:pPr eaLnBrk="1" hangingPunct="1">
              <a:lnSpc>
                <a:spcPct val="100000"/>
              </a:lnSpc>
              <a:spcBef>
                <a:spcPct val="0"/>
              </a:spcBef>
              <a:buFontTx/>
              <a:buNone/>
            </a:pPr>
            <a:endParaRPr lang="en-US" altLang="en-US" sz="864"/>
          </a:p>
        </p:txBody>
      </p:sp>
      <p:sp>
        <p:nvSpPr>
          <p:cNvPr id="22531" name="TextBox 2">
            <a:extLst>
              <a:ext uri="{FF2B5EF4-FFF2-40B4-BE49-F238E27FC236}">
                <a16:creationId xmlns:a16="http://schemas.microsoft.com/office/drawing/2014/main" id="{27720CBD-10F6-49B5-B59E-2975C9D78B6B}"/>
              </a:ext>
            </a:extLst>
          </p:cNvPr>
          <p:cNvSpPr txBox="1">
            <a:spLocks noChangeArrowheads="1"/>
          </p:cNvSpPr>
          <p:nvPr/>
        </p:nvSpPr>
        <p:spPr bwMode="auto">
          <a:xfrm>
            <a:off x="926592" y="1834896"/>
            <a:ext cx="10613136" cy="4214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Sent by DHCP client to DHCP servers (Broadcasting)</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In response to the DHCP offer, the client replies with a DHCP request,</a:t>
            </a:r>
          </a:p>
          <a:p>
            <a:pPr eaLnBrk="1" hangingPunct="1">
              <a:lnSpc>
                <a:spcPct val="100000"/>
              </a:lnSpc>
              <a:spcBef>
                <a:spcPct val="0"/>
              </a:spcBef>
              <a:buFontTx/>
              <a:buNone/>
            </a:pPr>
            <a:r>
              <a:rPr lang="en-US" altLang="en-US" sz="2592">
                <a:solidFill>
                  <a:srgbClr val="000000"/>
                </a:solidFill>
              </a:rPr>
              <a:t>  broadcast to the server, requesting the offered address.</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A client can receive DHCP offers from multiple servers, but it will accept</a:t>
            </a:r>
          </a:p>
          <a:p>
            <a:pPr eaLnBrk="1" hangingPunct="1">
              <a:lnSpc>
                <a:spcPct val="100000"/>
              </a:lnSpc>
              <a:spcBef>
                <a:spcPct val="0"/>
              </a:spcBef>
              <a:buFontTx/>
              <a:buNone/>
            </a:pPr>
            <a:r>
              <a:rPr lang="en-US" altLang="en-US" sz="2592">
                <a:solidFill>
                  <a:srgbClr val="000000"/>
                </a:solidFill>
              </a:rPr>
              <a:t>  only one DHCP offer</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Based on required server identification option in the request and broadcast</a:t>
            </a:r>
          </a:p>
          <a:p>
            <a:pPr eaLnBrk="1" hangingPunct="1">
              <a:lnSpc>
                <a:spcPct val="100000"/>
              </a:lnSpc>
              <a:spcBef>
                <a:spcPct val="0"/>
              </a:spcBef>
              <a:buFontTx/>
              <a:buNone/>
            </a:pPr>
            <a:r>
              <a:rPr lang="en-US" altLang="en-US" sz="2592">
                <a:solidFill>
                  <a:srgbClr val="000000"/>
                </a:solidFill>
              </a:rPr>
              <a:t>  messaging, servers are informed whose offer the client has accepted.</a:t>
            </a:r>
          </a:p>
          <a:p>
            <a:pPr eaLnBrk="1" hangingPunct="1">
              <a:lnSpc>
                <a:spcPct val="100000"/>
              </a:lnSpc>
              <a:spcBef>
                <a:spcPct val="0"/>
              </a:spcBef>
              <a:buFontTx/>
              <a:buNone/>
            </a:pPr>
            <a:r>
              <a:rPr lang="en-US" altLang="en-US" sz="2592">
                <a:solidFill>
                  <a:srgbClr val="000000"/>
                </a:solidFill>
                <a:latin typeface="Arial" panose="020B0604020202020204" pitchFamily="34" charset="0"/>
              </a:rPr>
              <a:t>• </a:t>
            </a:r>
            <a:r>
              <a:rPr lang="en-US" altLang="en-US" sz="2592">
                <a:solidFill>
                  <a:srgbClr val="000000"/>
                </a:solidFill>
              </a:rPr>
              <a:t>When other DHCP servers receive this message, they withdraw any offers</a:t>
            </a:r>
          </a:p>
          <a:p>
            <a:pPr eaLnBrk="1" hangingPunct="1">
              <a:lnSpc>
                <a:spcPct val="100000"/>
              </a:lnSpc>
              <a:spcBef>
                <a:spcPct val="0"/>
              </a:spcBef>
              <a:buFontTx/>
              <a:buNone/>
            </a:pPr>
            <a:r>
              <a:rPr lang="en-US" altLang="en-US" sz="2592">
                <a:solidFill>
                  <a:srgbClr val="000000"/>
                </a:solidFill>
              </a:rPr>
              <a:t>  that they might have made to the client and return the offered address to</a:t>
            </a:r>
          </a:p>
          <a:p>
            <a:pPr eaLnBrk="1" hangingPunct="1">
              <a:lnSpc>
                <a:spcPct val="100000"/>
              </a:lnSpc>
              <a:spcBef>
                <a:spcPct val="0"/>
              </a:spcBef>
              <a:buFontTx/>
              <a:buNone/>
            </a:pPr>
            <a:r>
              <a:rPr lang="en-US" altLang="en-US" sz="2592">
                <a:solidFill>
                  <a:srgbClr val="000000"/>
                </a:solidFill>
              </a:rPr>
              <a:t>  the pool of available addresses.</a:t>
            </a:r>
          </a:p>
          <a:p>
            <a:pPr eaLnBrk="1" hangingPunct="1">
              <a:lnSpc>
                <a:spcPct val="100000"/>
              </a:lnSpc>
              <a:spcBef>
                <a:spcPct val="0"/>
              </a:spcBef>
              <a:buFontTx/>
              <a:buNone/>
            </a:pPr>
            <a:endParaRPr lang="en-US" altLang="en-US" sz="864"/>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a:extLst>
              <a:ext uri="{FF2B5EF4-FFF2-40B4-BE49-F238E27FC236}">
                <a16:creationId xmlns:a16="http://schemas.microsoft.com/office/drawing/2014/main" id="{2EEEB57E-E541-4956-9D8B-9444326FC2BD}"/>
              </a:ext>
            </a:extLst>
          </p:cNvPr>
          <p:cNvSpPr txBox="1">
            <a:spLocks noChangeArrowheads="1"/>
          </p:cNvSpPr>
          <p:nvPr/>
        </p:nvSpPr>
        <p:spPr bwMode="auto">
          <a:xfrm>
            <a:off x="926592" y="762000"/>
            <a:ext cx="1105662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DHCP Acknowledgement Packet</a:t>
            </a:r>
          </a:p>
          <a:p>
            <a:pPr eaLnBrk="1" hangingPunct="1">
              <a:lnSpc>
                <a:spcPct val="100000"/>
              </a:lnSpc>
              <a:spcBef>
                <a:spcPct val="0"/>
              </a:spcBef>
              <a:buFontTx/>
              <a:buNone/>
            </a:pPr>
            <a:endParaRPr lang="en-US" altLang="en-US" sz="864"/>
          </a:p>
        </p:txBody>
      </p:sp>
      <p:sp>
        <p:nvSpPr>
          <p:cNvPr id="23555" name="TextBox 2">
            <a:extLst>
              <a:ext uri="{FF2B5EF4-FFF2-40B4-BE49-F238E27FC236}">
                <a16:creationId xmlns:a16="http://schemas.microsoft.com/office/drawing/2014/main" id="{B3898068-6461-4BD1-8E10-0507B94DB0BE}"/>
              </a:ext>
            </a:extLst>
          </p:cNvPr>
          <p:cNvSpPr txBox="1">
            <a:spLocks noChangeArrowheads="1"/>
          </p:cNvSpPr>
          <p:nvPr/>
        </p:nvSpPr>
        <p:spPr bwMode="auto">
          <a:xfrm>
            <a:off x="926592" y="1834896"/>
            <a:ext cx="10418064" cy="35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Sent by DHCP servers to DHCP client (Unicasting)</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When the DHCP server receives the DHCP REQUEST message from</a:t>
            </a:r>
          </a:p>
          <a:p>
            <a:pPr eaLnBrk="1" hangingPunct="1">
              <a:lnSpc>
                <a:spcPct val="100000"/>
              </a:lnSpc>
              <a:spcBef>
                <a:spcPct val="0"/>
              </a:spcBef>
              <a:buFontTx/>
              <a:buNone/>
            </a:pPr>
            <a:r>
              <a:rPr lang="en-US" altLang="en-US" sz="2736">
                <a:solidFill>
                  <a:srgbClr val="000000"/>
                </a:solidFill>
              </a:rPr>
              <a:t>  the client, the configuration process enters its final phase.</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The acknowledgement phase involves sending a DHCP ACK packet to</a:t>
            </a:r>
          </a:p>
          <a:p>
            <a:pPr eaLnBrk="1" hangingPunct="1">
              <a:lnSpc>
                <a:spcPct val="100000"/>
              </a:lnSpc>
              <a:spcBef>
                <a:spcPct val="0"/>
              </a:spcBef>
              <a:buFontTx/>
              <a:buNone/>
            </a:pPr>
            <a:r>
              <a:rPr lang="en-US" altLang="en-US" sz="2736">
                <a:solidFill>
                  <a:srgbClr val="000000"/>
                </a:solidFill>
              </a:rPr>
              <a:t>  the client.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This packet includes the lease duration and any other configuration</a:t>
            </a:r>
          </a:p>
          <a:p>
            <a:pPr eaLnBrk="1" hangingPunct="1">
              <a:lnSpc>
                <a:spcPct val="100000"/>
              </a:lnSpc>
              <a:spcBef>
                <a:spcPct val="0"/>
              </a:spcBef>
              <a:buFontTx/>
              <a:buNone/>
            </a:pPr>
            <a:r>
              <a:rPr lang="en-US" altLang="en-US" sz="2736">
                <a:solidFill>
                  <a:srgbClr val="000000"/>
                </a:solidFill>
              </a:rPr>
              <a:t>  information that the client might have requested.</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At this point, the IP configuration process is completed</a:t>
            </a:r>
          </a:p>
          <a:p>
            <a:pPr eaLnBrk="1" hangingPunct="1">
              <a:lnSpc>
                <a:spcPct val="100000"/>
              </a:lnSpc>
              <a:spcBef>
                <a:spcPct val="0"/>
              </a:spcBef>
              <a:buFontTx/>
              <a:buNone/>
            </a:pPr>
            <a:endParaRPr lang="en-US" altLang="en-US" sz="864"/>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a:extLst>
              <a:ext uri="{FF2B5EF4-FFF2-40B4-BE49-F238E27FC236}">
                <a16:creationId xmlns:a16="http://schemas.microsoft.com/office/drawing/2014/main" id="{201AF932-6AFE-49A8-A15B-3BD5BEA25FB5}"/>
              </a:ext>
            </a:extLst>
          </p:cNvPr>
          <p:cNvSpPr txBox="1">
            <a:spLocks noChangeArrowheads="1"/>
          </p:cNvSpPr>
          <p:nvPr/>
        </p:nvSpPr>
        <p:spPr bwMode="auto">
          <a:xfrm>
            <a:off x="926592" y="762000"/>
            <a:ext cx="223723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E-mail</a:t>
            </a:r>
          </a:p>
          <a:p>
            <a:pPr eaLnBrk="1" hangingPunct="1">
              <a:lnSpc>
                <a:spcPct val="100000"/>
              </a:lnSpc>
              <a:spcBef>
                <a:spcPct val="0"/>
              </a:spcBef>
              <a:buFontTx/>
              <a:buNone/>
            </a:pPr>
            <a:endParaRPr lang="en-US" altLang="en-US" sz="864"/>
          </a:p>
        </p:txBody>
      </p:sp>
      <p:sp>
        <p:nvSpPr>
          <p:cNvPr id="24579" name="TextBox 2">
            <a:extLst>
              <a:ext uri="{FF2B5EF4-FFF2-40B4-BE49-F238E27FC236}">
                <a16:creationId xmlns:a16="http://schemas.microsoft.com/office/drawing/2014/main" id="{1B757EA5-97E1-4790-B989-F62E4FDFCF0F}"/>
              </a:ext>
            </a:extLst>
          </p:cNvPr>
          <p:cNvSpPr txBox="1">
            <a:spLocks noChangeArrowheads="1"/>
          </p:cNvSpPr>
          <p:nvPr/>
        </p:nvSpPr>
        <p:spPr bwMode="auto">
          <a:xfrm>
            <a:off x="926592" y="1834896"/>
            <a:ext cx="10594848" cy="190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Electronic mail, or more commonly </a:t>
            </a:r>
            <a:r>
              <a:rPr lang="en-US" altLang="en-US" sz="2736" b="1">
                <a:solidFill>
                  <a:srgbClr val="000000"/>
                </a:solidFill>
              </a:rPr>
              <a:t>email, </a:t>
            </a:r>
            <a:r>
              <a:rPr lang="en-US" altLang="en-US" sz="2736">
                <a:solidFill>
                  <a:srgbClr val="000000"/>
                </a:solidFill>
              </a:rPr>
              <a:t>used to communicate with</a:t>
            </a:r>
          </a:p>
          <a:p>
            <a:pPr eaLnBrk="1" hangingPunct="1">
              <a:lnSpc>
                <a:spcPct val="100000"/>
              </a:lnSpc>
              <a:spcBef>
                <a:spcPct val="0"/>
              </a:spcBef>
              <a:buFontTx/>
              <a:buNone/>
            </a:pPr>
            <a:r>
              <a:rPr lang="en-US" altLang="en-US" sz="2736">
                <a:solidFill>
                  <a:srgbClr val="000000"/>
                </a:solidFill>
              </a:rPr>
              <a:t>  different users in internet</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Email uses following protocols for storing &amp; delivering messages, They</a:t>
            </a:r>
          </a:p>
          <a:p>
            <a:pPr eaLnBrk="1" hangingPunct="1">
              <a:lnSpc>
                <a:spcPct val="100000"/>
              </a:lnSpc>
              <a:spcBef>
                <a:spcPct val="0"/>
              </a:spcBef>
              <a:buFontTx/>
              <a:buNone/>
            </a:pPr>
            <a:r>
              <a:rPr lang="en-US" altLang="en-US" sz="2736">
                <a:solidFill>
                  <a:srgbClr val="000000"/>
                </a:solidFill>
              </a:rPr>
              <a:t>  are :</a:t>
            </a:r>
          </a:p>
          <a:p>
            <a:pPr eaLnBrk="1" hangingPunct="1">
              <a:lnSpc>
                <a:spcPct val="100000"/>
              </a:lnSpc>
              <a:spcBef>
                <a:spcPct val="0"/>
              </a:spcBef>
              <a:buFontTx/>
              <a:buNone/>
            </a:pPr>
            <a:endParaRPr lang="en-US" altLang="en-US" sz="864"/>
          </a:p>
        </p:txBody>
      </p:sp>
      <p:sp>
        <p:nvSpPr>
          <p:cNvPr id="24580" name="TextBox 3">
            <a:extLst>
              <a:ext uri="{FF2B5EF4-FFF2-40B4-BE49-F238E27FC236}">
                <a16:creationId xmlns:a16="http://schemas.microsoft.com/office/drawing/2014/main" id="{67EC724E-BFC8-4ABF-B36D-61A9CB1BE1C8}"/>
              </a:ext>
            </a:extLst>
          </p:cNvPr>
          <p:cNvSpPr txBox="1">
            <a:spLocks noChangeArrowheads="1"/>
          </p:cNvSpPr>
          <p:nvPr/>
        </p:nvSpPr>
        <p:spPr bwMode="auto">
          <a:xfrm>
            <a:off x="1383792" y="3614928"/>
            <a:ext cx="5907024" cy="1333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 SMTP (Simple Mail Transfer Protocol)</a:t>
            </a:r>
          </a:p>
          <a:p>
            <a:pPr eaLnBrk="1" hangingPunct="1">
              <a:lnSpc>
                <a:spcPct val="100000"/>
              </a:lnSpc>
              <a:spcBef>
                <a:spcPct val="0"/>
              </a:spcBef>
              <a:buFontTx/>
              <a:buNone/>
            </a:pPr>
            <a:r>
              <a:rPr lang="en-US" altLang="en-US" sz="2400">
                <a:solidFill>
                  <a:srgbClr val="000000"/>
                </a:solidFill>
              </a:rPr>
              <a:t>2. POP (Post Office Protocol)</a:t>
            </a:r>
          </a:p>
          <a:p>
            <a:pPr eaLnBrk="1" hangingPunct="1">
              <a:lnSpc>
                <a:spcPct val="100000"/>
              </a:lnSpc>
              <a:spcBef>
                <a:spcPct val="0"/>
              </a:spcBef>
              <a:buFontTx/>
              <a:buNone/>
            </a:pPr>
            <a:r>
              <a:rPr lang="en-US" altLang="en-US" sz="2400">
                <a:solidFill>
                  <a:srgbClr val="000000"/>
                </a:solidFill>
              </a:rPr>
              <a:t>3. IMAP (Internet Message Access Protocol)</a:t>
            </a:r>
          </a:p>
          <a:p>
            <a:pPr eaLnBrk="1" hangingPunct="1">
              <a:lnSpc>
                <a:spcPct val="100000"/>
              </a:lnSpc>
              <a:spcBef>
                <a:spcPct val="0"/>
              </a:spcBef>
              <a:buFontTx/>
              <a:buNone/>
            </a:pPr>
            <a:endParaRPr lang="en-US" altLang="en-US" sz="864"/>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84452215-7892-4FD9-92B6-EB7CE44E2492}"/>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Box 3">
            <a:extLst>
              <a:ext uri="{FF2B5EF4-FFF2-40B4-BE49-F238E27FC236}">
                <a16:creationId xmlns:a16="http://schemas.microsoft.com/office/drawing/2014/main" id="{3ED15DE3-F88F-43E6-BF11-C7B7C9DF7FC2}"/>
              </a:ext>
            </a:extLst>
          </p:cNvPr>
          <p:cNvSpPr txBox="1">
            <a:spLocks noChangeArrowheads="1"/>
          </p:cNvSpPr>
          <p:nvPr/>
        </p:nvSpPr>
        <p:spPr bwMode="auto">
          <a:xfrm>
            <a:off x="926592" y="762000"/>
            <a:ext cx="223723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E-mail</a:t>
            </a:r>
          </a:p>
          <a:p>
            <a:pPr eaLnBrk="1" hangingPunct="1">
              <a:lnSpc>
                <a:spcPct val="100000"/>
              </a:lnSpc>
              <a:spcBef>
                <a:spcPct val="0"/>
              </a:spcBef>
              <a:buFontTx/>
              <a:buNone/>
            </a:pPr>
            <a:endParaRPr lang="en-US" altLang="en-US" sz="864"/>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1">
            <a:extLst>
              <a:ext uri="{FF2B5EF4-FFF2-40B4-BE49-F238E27FC236}">
                <a16:creationId xmlns:a16="http://schemas.microsoft.com/office/drawing/2014/main" id="{1206BD5D-1496-4913-B34E-64479F06FB76}"/>
              </a:ext>
            </a:extLst>
          </p:cNvPr>
          <p:cNvSpPr txBox="1">
            <a:spLocks noChangeArrowheads="1"/>
          </p:cNvSpPr>
          <p:nvPr/>
        </p:nvSpPr>
        <p:spPr bwMode="auto">
          <a:xfrm>
            <a:off x="926592" y="762000"/>
            <a:ext cx="223723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E-mail</a:t>
            </a:r>
          </a:p>
          <a:p>
            <a:pPr eaLnBrk="1" hangingPunct="1">
              <a:lnSpc>
                <a:spcPct val="100000"/>
              </a:lnSpc>
              <a:spcBef>
                <a:spcPct val="0"/>
              </a:spcBef>
              <a:buFontTx/>
              <a:buNone/>
            </a:pPr>
            <a:endParaRPr lang="en-US" altLang="en-US" sz="864"/>
          </a:p>
        </p:txBody>
      </p:sp>
      <p:sp>
        <p:nvSpPr>
          <p:cNvPr id="26627" name="TextBox 2">
            <a:extLst>
              <a:ext uri="{FF2B5EF4-FFF2-40B4-BE49-F238E27FC236}">
                <a16:creationId xmlns:a16="http://schemas.microsoft.com/office/drawing/2014/main" id="{ED7E677B-768A-4839-B9C0-28ABF689ECCC}"/>
              </a:ext>
            </a:extLst>
          </p:cNvPr>
          <p:cNvSpPr txBox="1">
            <a:spLocks noChangeArrowheads="1"/>
          </p:cNvSpPr>
          <p:nvPr/>
        </p:nvSpPr>
        <p:spPr bwMode="auto">
          <a:xfrm>
            <a:off x="926592" y="1834896"/>
            <a:ext cx="64739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Email consists of two kinds of subsystems</a:t>
            </a:r>
          </a:p>
          <a:p>
            <a:pPr eaLnBrk="1" hangingPunct="1">
              <a:lnSpc>
                <a:spcPct val="100000"/>
              </a:lnSpc>
              <a:spcBef>
                <a:spcPct val="0"/>
              </a:spcBef>
              <a:buFontTx/>
              <a:buNone/>
            </a:pPr>
            <a:endParaRPr lang="en-US" altLang="en-US" sz="864"/>
          </a:p>
        </p:txBody>
      </p:sp>
      <p:sp>
        <p:nvSpPr>
          <p:cNvPr id="26628" name="TextBox 3">
            <a:extLst>
              <a:ext uri="{FF2B5EF4-FFF2-40B4-BE49-F238E27FC236}">
                <a16:creationId xmlns:a16="http://schemas.microsoft.com/office/drawing/2014/main" id="{46893F4A-041A-4E59-B1DC-3F6E439A007E}"/>
              </a:ext>
            </a:extLst>
          </p:cNvPr>
          <p:cNvSpPr txBox="1">
            <a:spLocks noChangeArrowheads="1"/>
          </p:cNvSpPr>
          <p:nvPr/>
        </p:nvSpPr>
        <p:spPr bwMode="auto">
          <a:xfrm>
            <a:off x="1383792" y="2340864"/>
            <a:ext cx="10101072" cy="1702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a:solidFill>
                  <a:srgbClr val="000000"/>
                </a:solidFill>
              </a:rPr>
              <a:t>1. Mail User Agents (also called MUA/email client programs): </a:t>
            </a:r>
            <a:r>
              <a:rPr lang="en-US" altLang="en-US" sz="2400">
                <a:solidFill>
                  <a:srgbClr val="000000"/>
                </a:solidFill>
              </a:rPr>
              <a:t>which allow</a:t>
            </a:r>
          </a:p>
          <a:p>
            <a:pPr eaLnBrk="1" hangingPunct="1">
              <a:lnSpc>
                <a:spcPct val="100000"/>
              </a:lnSpc>
              <a:spcBef>
                <a:spcPct val="0"/>
              </a:spcBef>
              <a:buFontTx/>
              <a:buNone/>
            </a:pPr>
            <a:r>
              <a:rPr lang="en-US" altLang="en-US" sz="2400">
                <a:solidFill>
                  <a:srgbClr val="000000"/>
                </a:solidFill>
              </a:rPr>
              <a:t>   people to read and send email (Ex: Outlook)</a:t>
            </a:r>
          </a:p>
          <a:p>
            <a:pPr eaLnBrk="1" hangingPunct="1">
              <a:lnSpc>
                <a:spcPct val="100000"/>
              </a:lnSpc>
              <a:spcBef>
                <a:spcPct val="0"/>
              </a:spcBef>
              <a:buFontTx/>
              <a:buNone/>
            </a:pPr>
            <a:r>
              <a:rPr lang="en-US" altLang="en-US" sz="2400" b="1">
                <a:solidFill>
                  <a:srgbClr val="000000"/>
                </a:solidFill>
              </a:rPr>
              <a:t>2. Message Transfer Agents(also called MTA/ Email Server) </a:t>
            </a:r>
            <a:r>
              <a:rPr lang="en-US" altLang="en-US" sz="2400">
                <a:solidFill>
                  <a:srgbClr val="000000"/>
                </a:solidFill>
              </a:rPr>
              <a:t>: which move the</a:t>
            </a:r>
          </a:p>
          <a:p>
            <a:pPr eaLnBrk="1" hangingPunct="1">
              <a:lnSpc>
                <a:spcPct val="100000"/>
              </a:lnSpc>
              <a:spcBef>
                <a:spcPct val="0"/>
              </a:spcBef>
              <a:buFontTx/>
              <a:buNone/>
            </a:pPr>
            <a:r>
              <a:rPr lang="en-US" altLang="en-US" sz="2400">
                <a:solidFill>
                  <a:srgbClr val="000000"/>
                </a:solidFill>
              </a:rPr>
              <a:t>   messages from the source to the destination (Ex: Gmail Server)</a:t>
            </a:r>
          </a:p>
          <a:p>
            <a:pPr eaLnBrk="1" hangingPunct="1">
              <a:lnSpc>
                <a:spcPct val="100000"/>
              </a:lnSpc>
              <a:spcBef>
                <a:spcPct val="0"/>
              </a:spcBef>
              <a:buFontTx/>
              <a:buNone/>
            </a:pPr>
            <a:endParaRPr lang="en-US" altLang="en-US" sz="864"/>
          </a:p>
        </p:txBody>
      </p:sp>
      <p:sp>
        <p:nvSpPr>
          <p:cNvPr id="26629" name="TextBox 4">
            <a:extLst>
              <a:ext uri="{FF2B5EF4-FFF2-40B4-BE49-F238E27FC236}">
                <a16:creationId xmlns:a16="http://schemas.microsoft.com/office/drawing/2014/main" id="{173D9077-2EE2-4FDB-AA17-976084BFBA85}"/>
              </a:ext>
            </a:extLst>
          </p:cNvPr>
          <p:cNvSpPr txBox="1">
            <a:spLocks noChangeArrowheads="1"/>
          </p:cNvSpPr>
          <p:nvPr/>
        </p:nvSpPr>
        <p:spPr bwMode="auto">
          <a:xfrm>
            <a:off x="926592" y="3803904"/>
            <a:ext cx="10302240" cy="2330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Act of sending new messages into the mail system for delivery is</a:t>
            </a:r>
          </a:p>
          <a:p>
            <a:pPr eaLnBrk="1" hangingPunct="1">
              <a:lnSpc>
                <a:spcPct val="100000"/>
              </a:lnSpc>
              <a:spcBef>
                <a:spcPct val="0"/>
              </a:spcBef>
              <a:buFontTx/>
              <a:buNone/>
            </a:pPr>
            <a:r>
              <a:rPr lang="en-US" altLang="en-US" sz="2736">
                <a:solidFill>
                  <a:srgbClr val="000000"/>
                </a:solidFill>
              </a:rPr>
              <a:t>  called </a:t>
            </a:r>
            <a:r>
              <a:rPr lang="en-US" altLang="en-US" sz="2736" b="1">
                <a:solidFill>
                  <a:srgbClr val="000000"/>
                </a:solidFill>
              </a:rPr>
              <a:t>Mail submission (Email Client to Email Sever)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The Process of transferring mail from one MTA to another (Ex : from</a:t>
            </a:r>
          </a:p>
          <a:p>
            <a:pPr eaLnBrk="1" hangingPunct="1">
              <a:lnSpc>
                <a:spcPct val="100000"/>
              </a:lnSpc>
              <a:spcBef>
                <a:spcPct val="0"/>
              </a:spcBef>
              <a:buFontTx/>
              <a:buNone/>
            </a:pPr>
            <a:r>
              <a:rPr lang="en-US" altLang="en-US" sz="2736">
                <a:solidFill>
                  <a:srgbClr val="000000"/>
                </a:solidFill>
              </a:rPr>
              <a:t>  gmail to yahoo server) is called </a:t>
            </a:r>
            <a:r>
              <a:rPr lang="en-US" altLang="en-US" sz="2736" b="1">
                <a:solidFill>
                  <a:srgbClr val="000000"/>
                </a:solidFill>
              </a:rPr>
              <a:t>Message Transfer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b="1">
                <a:solidFill>
                  <a:srgbClr val="000000"/>
                </a:solidFill>
              </a:rPr>
              <a:t>Mailboxes </a:t>
            </a:r>
            <a:r>
              <a:rPr lang="en-US" altLang="en-US" sz="2736">
                <a:solidFill>
                  <a:srgbClr val="000000"/>
                </a:solidFill>
              </a:rPr>
              <a:t>store the email that is received for a user</a:t>
            </a:r>
          </a:p>
          <a:p>
            <a:pPr eaLnBrk="1" hangingPunct="1">
              <a:lnSpc>
                <a:spcPct val="100000"/>
              </a:lnSpc>
              <a:spcBef>
                <a:spcPct val="0"/>
              </a:spcBef>
              <a:buFontTx/>
              <a:buNone/>
            </a:pPr>
            <a:endParaRPr lang="en-US" altLang="en-US" sz="864"/>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a:extLst>
              <a:ext uri="{FF2B5EF4-FFF2-40B4-BE49-F238E27FC236}">
                <a16:creationId xmlns:a16="http://schemas.microsoft.com/office/drawing/2014/main" id="{8DB8044D-A83E-47A7-B0E5-5979A89C8E81}"/>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TextBox 3">
            <a:extLst>
              <a:ext uri="{FF2B5EF4-FFF2-40B4-BE49-F238E27FC236}">
                <a16:creationId xmlns:a16="http://schemas.microsoft.com/office/drawing/2014/main" id="{F1664C9D-2303-4D79-8C19-DD9E7C69A9D5}"/>
              </a:ext>
            </a:extLst>
          </p:cNvPr>
          <p:cNvSpPr txBox="1">
            <a:spLocks noChangeArrowheads="1"/>
          </p:cNvSpPr>
          <p:nvPr/>
        </p:nvSpPr>
        <p:spPr bwMode="auto">
          <a:xfrm>
            <a:off x="926592" y="762000"/>
            <a:ext cx="937260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E-mail (Working all Protocols)</a:t>
            </a:r>
          </a:p>
          <a:p>
            <a:pPr eaLnBrk="1" hangingPunct="1">
              <a:lnSpc>
                <a:spcPct val="100000"/>
              </a:lnSpc>
              <a:spcBef>
                <a:spcPct val="0"/>
              </a:spcBef>
              <a:buFontTx/>
              <a:buNone/>
            </a:pPr>
            <a:endParaRPr lang="en-US" altLang="en-US" sz="864"/>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1">
            <a:extLst>
              <a:ext uri="{FF2B5EF4-FFF2-40B4-BE49-F238E27FC236}">
                <a16:creationId xmlns:a16="http://schemas.microsoft.com/office/drawing/2014/main" id="{D5385335-AD8C-4EE3-AC20-CE6D9A604CCA}"/>
              </a:ext>
            </a:extLst>
          </p:cNvPr>
          <p:cNvSpPr txBox="1">
            <a:spLocks noChangeArrowheads="1"/>
          </p:cNvSpPr>
          <p:nvPr/>
        </p:nvSpPr>
        <p:spPr bwMode="auto">
          <a:xfrm>
            <a:off x="926592" y="762000"/>
            <a:ext cx="1041806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SMTP (Simple Mail Transfer Protocol)</a:t>
            </a:r>
          </a:p>
          <a:p>
            <a:pPr eaLnBrk="1" hangingPunct="1">
              <a:lnSpc>
                <a:spcPct val="100000"/>
              </a:lnSpc>
              <a:spcBef>
                <a:spcPct val="0"/>
              </a:spcBef>
              <a:buFontTx/>
              <a:buNone/>
            </a:pPr>
            <a:endParaRPr lang="en-US" altLang="en-US" sz="864"/>
          </a:p>
        </p:txBody>
      </p:sp>
      <p:sp>
        <p:nvSpPr>
          <p:cNvPr id="28675" name="TextBox 2">
            <a:extLst>
              <a:ext uri="{FF2B5EF4-FFF2-40B4-BE49-F238E27FC236}">
                <a16:creationId xmlns:a16="http://schemas.microsoft.com/office/drawing/2014/main" id="{EF947D5B-4BA3-4D4E-A509-9493C9EB7BCF}"/>
              </a:ext>
            </a:extLst>
          </p:cNvPr>
          <p:cNvSpPr txBox="1">
            <a:spLocks noChangeArrowheads="1"/>
          </p:cNvSpPr>
          <p:nvPr/>
        </p:nvSpPr>
        <p:spPr bwMode="auto">
          <a:xfrm>
            <a:off x="926592" y="1810512"/>
            <a:ext cx="10418064" cy="4435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Message transfer form originator to the recipient mailbox is done</a:t>
            </a:r>
          </a:p>
          <a:p>
            <a:pPr eaLnBrk="1" hangingPunct="1">
              <a:lnSpc>
                <a:spcPct val="100000"/>
              </a:lnSpc>
              <a:spcBef>
                <a:spcPct val="0"/>
              </a:spcBef>
              <a:buFontTx/>
              <a:buNone/>
            </a:pPr>
            <a:r>
              <a:rPr lang="en-US" altLang="en-US" sz="2736">
                <a:solidFill>
                  <a:srgbClr val="000000"/>
                </a:solidFill>
              </a:rPr>
              <a:t>  with SMTP</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It uses TCP well known port 25</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SMTP server accepts incoming connections, subject to some security</a:t>
            </a:r>
          </a:p>
          <a:p>
            <a:pPr eaLnBrk="1" hangingPunct="1">
              <a:lnSpc>
                <a:spcPct val="100000"/>
              </a:lnSpc>
              <a:spcBef>
                <a:spcPct val="0"/>
              </a:spcBef>
              <a:buFontTx/>
              <a:buNone/>
            </a:pPr>
            <a:r>
              <a:rPr lang="en-US" altLang="en-US" sz="2736">
                <a:solidFill>
                  <a:srgbClr val="000000"/>
                </a:solidFill>
              </a:rPr>
              <a:t>  checks, and accepts messages for delivery</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If a message cannot be delivered, an error report containing the first</a:t>
            </a:r>
          </a:p>
          <a:p>
            <a:pPr eaLnBrk="1" hangingPunct="1">
              <a:lnSpc>
                <a:spcPct val="100000"/>
              </a:lnSpc>
              <a:spcBef>
                <a:spcPct val="0"/>
              </a:spcBef>
              <a:buFontTx/>
              <a:buNone/>
            </a:pPr>
            <a:r>
              <a:rPr lang="en-US" altLang="en-US" sz="2736">
                <a:solidFill>
                  <a:srgbClr val="000000"/>
                </a:solidFill>
              </a:rPr>
              <a:t>  part of the undeliverable message is returned to the sender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Email is submitted by a mail client </a:t>
            </a:r>
            <a:r>
              <a:rPr lang="en-US" altLang="en-US" sz="2736" b="1">
                <a:solidFill>
                  <a:srgbClr val="000000"/>
                </a:solidFill>
              </a:rPr>
              <a:t>(MUA, mail user agent) </a:t>
            </a:r>
            <a:r>
              <a:rPr lang="en-US" altLang="en-US" sz="2736">
                <a:solidFill>
                  <a:srgbClr val="000000"/>
                </a:solidFill>
              </a:rPr>
              <a:t>to a mail</a:t>
            </a:r>
          </a:p>
          <a:p>
            <a:pPr eaLnBrk="1" hangingPunct="1">
              <a:lnSpc>
                <a:spcPct val="100000"/>
              </a:lnSpc>
              <a:spcBef>
                <a:spcPct val="0"/>
              </a:spcBef>
              <a:buFontTx/>
              <a:buNone/>
            </a:pPr>
            <a:r>
              <a:rPr lang="en-US" altLang="en-US" sz="2736">
                <a:solidFill>
                  <a:srgbClr val="000000"/>
                </a:solidFill>
              </a:rPr>
              <a:t>  server (MSA, </a:t>
            </a:r>
            <a:r>
              <a:rPr lang="en-US" altLang="en-US" sz="2736" b="1">
                <a:solidFill>
                  <a:srgbClr val="000000"/>
                </a:solidFill>
              </a:rPr>
              <a:t>mail submission agent) </a:t>
            </a:r>
            <a:r>
              <a:rPr lang="en-US" altLang="en-US" sz="2736">
                <a:solidFill>
                  <a:srgbClr val="000000"/>
                </a:solidFill>
              </a:rPr>
              <a:t>using SMTP on TCP port 587</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b="1">
                <a:solidFill>
                  <a:srgbClr val="000000"/>
                </a:solidFill>
              </a:rPr>
              <a:t>MSA </a:t>
            </a:r>
            <a:r>
              <a:rPr lang="en-US" altLang="en-US" sz="2736">
                <a:solidFill>
                  <a:srgbClr val="000000"/>
                </a:solidFill>
              </a:rPr>
              <a:t>delivers the mail to its mail transfer agent </a:t>
            </a:r>
            <a:r>
              <a:rPr lang="en-US" altLang="en-US" sz="2736" b="1">
                <a:solidFill>
                  <a:srgbClr val="000000"/>
                </a:solidFill>
              </a:rPr>
              <a:t>MTA</a:t>
            </a:r>
          </a:p>
          <a:p>
            <a:pPr eaLnBrk="1" hangingPunct="1">
              <a:lnSpc>
                <a:spcPct val="100000"/>
              </a:lnSpc>
              <a:spcBef>
                <a:spcPct val="0"/>
              </a:spcBef>
              <a:buFontTx/>
              <a:buNone/>
            </a:pPr>
            <a:endParaRPr lang="en-US" altLang="en-US" sz="864"/>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1">
            <a:extLst>
              <a:ext uri="{FF2B5EF4-FFF2-40B4-BE49-F238E27FC236}">
                <a16:creationId xmlns:a16="http://schemas.microsoft.com/office/drawing/2014/main" id="{8FF4E8C3-59E6-4C27-B820-1F5BDCA04D56}"/>
              </a:ext>
            </a:extLst>
          </p:cNvPr>
          <p:cNvSpPr txBox="1">
            <a:spLocks noChangeArrowheads="1"/>
          </p:cNvSpPr>
          <p:nvPr/>
        </p:nvSpPr>
        <p:spPr bwMode="auto">
          <a:xfrm>
            <a:off x="926592" y="762000"/>
            <a:ext cx="563270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Features of SMTP</a:t>
            </a:r>
          </a:p>
          <a:p>
            <a:pPr eaLnBrk="1" hangingPunct="1">
              <a:lnSpc>
                <a:spcPct val="100000"/>
              </a:lnSpc>
              <a:spcBef>
                <a:spcPct val="0"/>
              </a:spcBef>
              <a:buFontTx/>
              <a:buNone/>
            </a:pPr>
            <a:endParaRPr lang="en-US" altLang="en-US" sz="864"/>
          </a:p>
        </p:txBody>
      </p:sp>
      <p:sp>
        <p:nvSpPr>
          <p:cNvPr id="29699" name="TextBox 2">
            <a:extLst>
              <a:ext uri="{FF2B5EF4-FFF2-40B4-BE49-F238E27FC236}">
                <a16:creationId xmlns:a16="http://schemas.microsoft.com/office/drawing/2014/main" id="{74E76651-D165-4D47-B5E8-F396A82D1AE2}"/>
              </a:ext>
            </a:extLst>
          </p:cNvPr>
          <p:cNvSpPr txBox="1">
            <a:spLocks noChangeArrowheads="1"/>
          </p:cNvSpPr>
          <p:nvPr/>
        </p:nvSpPr>
        <p:spPr bwMode="auto">
          <a:xfrm>
            <a:off x="926592" y="1834896"/>
            <a:ext cx="10332720" cy="317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SMTP supports sending of email only It cannot retrieve (deliver to</a:t>
            </a:r>
          </a:p>
          <a:p>
            <a:pPr eaLnBrk="1" hangingPunct="1">
              <a:lnSpc>
                <a:spcPct val="100000"/>
              </a:lnSpc>
              <a:spcBef>
                <a:spcPct val="0"/>
              </a:spcBef>
              <a:buFontTx/>
              <a:buNone/>
            </a:pPr>
            <a:r>
              <a:rPr lang="en-US" altLang="en-US" sz="2736" dirty="0">
                <a:solidFill>
                  <a:srgbClr val="000000"/>
                </a:solidFill>
              </a:rPr>
              <a:t>  user) messages from a remote server on demand</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SMTP provides system for sending message to same (or different)</a:t>
            </a:r>
          </a:p>
          <a:p>
            <a:pPr eaLnBrk="1" hangingPunct="1">
              <a:lnSpc>
                <a:spcPct val="100000"/>
              </a:lnSpc>
              <a:spcBef>
                <a:spcPct val="0"/>
              </a:spcBef>
              <a:buFontTx/>
              <a:buNone/>
            </a:pPr>
            <a:r>
              <a:rPr lang="en-US" altLang="en-US" sz="2736" dirty="0">
                <a:solidFill>
                  <a:srgbClr val="000000"/>
                </a:solidFill>
              </a:rPr>
              <a:t>  servers (</a:t>
            </a:r>
            <a:r>
              <a:rPr lang="en-US" altLang="en-US" sz="2736" dirty="0" err="1">
                <a:solidFill>
                  <a:srgbClr val="000000"/>
                </a:solidFill>
              </a:rPr>
              <a:t>gmail</a:t>
            </a:r>
            <a:r>
              <a:rPr lang="en-US" altLang="en-US" sz="2736" dirty="0">
                <a:solidFill>
                  <a:srgbClr val="000000"/>
                </a:solidFill>
              </a:rPr>
              <a:t> </a:t>
            </a:r>
            <a:r>
              <a:rPr lang="en-US" altLang="en-US" sz="2736" b="1" dirty="0">
                <a:solidFill>
                  <a:srgbClr val="000000"/>
                </a:solidFill>
              </a:rPr>
              <a:t>to </a:t>
            </a:r>
            <a:r>
              <a:rPr lang="en-US" altLang="en-US" sz="2736" dirty="0" err="1">
                <a:solidFill>
                  <a:srgbClr val="000000"/>
                </a:solidFill>
              </a:rPr>
              <a:t>gmail</a:t>
            </a:r>
            <a:r>
              <a:rPr lang="en-US" altLang="en-US" sz="2736" dirty="0">
                <a:solidFill>
                  <a:srgbClr val="000000"/>
                </a:solidFill>
              </a:rPr>
              <a:t> </a:t>
            </a:r>
            <a:r>
              <a:rPr lang="en-US" altLang="en-US" sz="2736" b="1" dirty="0">
                <a:solidFill>
                  <a:srgbClr val="000000"/>
                </a:solidFill>
              </a:rPr>
              <a:t>/ </a:t>
            </a:r>
            <a:r>
              <a:rPr lang="en-US" altLang="en-US" sz="2736" dirty="0" err="1">
                <a:solidFill>
                  <a:srgbClr val="000000"/>
                </a:solidFill>
              </a:rPr>
              <a:t>gmail</a:t>
            </a:r>
            <a:r>
              <a:rPr lang="en-US" altLang="en-US" sz="2736" dirty="0">
                <a:solidFill>
                  <a:srgbClr val="000000"/>
                </a:solidFill>
              </a:rPr>
              <a:t> </a:t>
            </a:r>
            <a:r>
              <a:rPr lang="en-US" altLang="en-US" sz="2736" b="1" dirty="0">
                <a:solidFill>
                  <a:srgbClr val="000000"/>
                </a:solidFill>
              </a:rPr>
              <a:t>to </a:t>
            </a:r>
            <a:r>
              <a:rPr lang="en-US" altLang="en-US" sz="2736" dirty="0">
                <a:solidFill>
                  <a:srgbClr val="000000"/>
                </a:solidFill>
              </a:rPr>
              <a:t>yahoo)</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SMTP provide a mail exchange between users on same (or different)</a:t>
            </a:r>
          </a:p>
          <a:p>
            <a:pPr eaLnBrk="1" hangingPunct="1">
              <a:lnSpc>
                <a:spcPct val="100000"/>
              </a:lnSpc>
              <a:spcBef>
                <a:spcPct val="0"/>
              </a:spcBef>
              <a:buFontTx/>
              <a:buNone/>
            </a:pPr>
            <a:r>
              <a:rPr lang="en-US" altLang="en-US" sz="2736" dirty="0">
                <a:solidFill>
                  <a:srgbClr val="000000"/>
                </a:solidFill>
              </a:rPr>
              <a:t>  server</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SMTP supports:</a:t>
            </a:r>
          </a:p>
          <a:p>
            <a:pPr eaLnBrk="1" hangingPunct="1">
              <a:lnSpc>
                <a:spcPct val="100000"/>
              </a:lnSpc>
              <a:spcBef>
                <a:spcPct val="0"/>
              </a:spcBef>
              <a:buFontTx/>
              <a:buNone/>
            </a:pPr>
            <a:endParaRPr lang="en-US" altLang="en-US" sz="864" dirty="0"/>
          </a:p>
        </p:txBody>
      </p:sp>
      <p:sp>
        <p:nvSpPr>
          <p:cNvPr id="29700" name="TextBox 3">
            <a:extLst>
              <a:ext uri="{FF2B5EF4-FFF2-40B4-BE49-F238E27FC236}">
                <a16:creationId xmlns:a16="http://schemas.microsoft.com/office/drawing/2014/main" id="{501DFBAC-9BE3-4054-A9CD-03CCE395442A}"/>
              </a:ext>
            </a:extLst>
          </p:cNvPr>
          <p:cNvSpPr txBox="1">
            <a:spLocks noChangeArrowheads="1"/>
          </p:cNvSpPr>
          <p:nvPr/>
        </p:nvSpPr>
        <p:spPr bwMode="auto">
          <a:xfrm>
            <a:off x="1383792" y="5029200"/>
            <a:ext cx="8150352" cy="1333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 Sending a message to one or more recipients</a:t>
            </a:r>
          </a:p>
          <a:p>
            <a:pPr eaLnBrk="1" hangingPunct="1">
              <a:lnSpc>
                <a:spcPct val="100000"/>
              </a:lnSpc>
              <a:spcBef>
                <a:spcPct val="0"/>
              </a:spcBef>
              <a:buFontTx/>
              <a:buNone/>
            </a:pPr>
            <a:r>
              <a:rPr lang="en-US" altLang="en-US" sz="2400">
                <a:solidFill>
                  <a:srgbClr val="000000"/>
                </a:solidFill>
              </a:rPr>
              <a:t>2. Sending message that includes text, voice, video or graphics</a:t>
            </a:r>
          </a:p>
          <a:p>
            <a:pPr eaLnBrk="1" hangingPunct="1">
              <a:lnSpc>
                <a:spcPct val="100000"/>
              </a:lnSpc>
              <a:spcBef>
                <a:spcPct val="0"/>
              </a:spcBef>
              <a:buFontTx/>
              <a:buNone/>
            </a:pPr>
            <a:r>
              <a:rPr lang="en-US" altLang="en-US" sz="2400">
                <a:solidFill>
                  <a:srgbClr val="000000"/>
                </a:solidFill>
              </a:rPr>
              <a:t>3. Sending message to users on other network</a:t>
            </a:r>
          </a:p>
          <a:p>
            <a:pPr eaLnBrk="1" hangingPunct="1">
              <a:lnSpc>
                <a:spcPct val="100000"/>
              </a:lnSpc>
              <a:spcBef>
                <a:spcPct val="0"/>
              </a:spcBef>
              <a:buFontTx/>
              <a:buNone/>
            </a:pPr>
            <a:endParaRPr lang="en-US" altLang="en-US" sz="864"/>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1">
            <a:extLst>
              <a:ext uri="{FF2B5EF4-FFF2-40B4-BE49-F238E27FC236}">
                <a16:creationId xmlns:a16="http://schemas.microsoft.com/office/drawing/2014/main" id="{4F7F8CB0-034F-4B20-AB73-75384A6B9BF9}"/>
              </a:ext>
            </a:extLst>
          </p:cNvPr>
          <p:cNvSpPr txBox="1">
            <a:spLocks noChangeArrowheads="1"/>
          </p:cNvSpPr>
          <p:nvPr/>
        </p:nvSpPr>
        <p:spPr bwMode="auto">
          <a:xfrm>
            <a:off x="926592" y="762000"/>
            <a:ext cx="697382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POP (Post Office Protocol)</a:t>
            </a:r>
          </a:p>
          <a:p>
            <a:pPr eaLnBrk="1" hangingPunct="1">
              <a:lnSpc>
                <a:spcPct val="100000"/>
              </a:lnSpc>
              <a:spcBef>
                <a:spcPct val="0"/>
              </a:spcBef>
              <a:buFontTx/>
              <a:buNone/>
            </a:pPr>
            <a:endParaRPr lang="en-US" altLang="en-US" sz="864"/>
          </a:p>
        </p:txBody>
      </p:sp>
      <p:sp>
        <p:nvSpPr>
          <p:cNvPr id="30723" name="TextBox 2">
            <a:extLst>
              <a:ext uri="{FF2B5EF4-FFF2-40B4-BE49-F238E27FC236}">
                <a16:creationId xmlns:a16="http://schemas.microsoft.com/office/drawing/2014/main" id="{33294A54-8217-41B5-9B16-8136F185321D}"/>
              </a:ext>
            </a:extLst>
          </p:cNvPr>
          <p:cNvSpPr txBox="1">
            <a:spLocks noChangeArrowheads="1"/>
          </p:cNvSpPr>
          <p:nvPr/>
        </p:nvSpPr>
        <p:spPr bwMode="auto">
          <a:xfrm>
            <a:off x="926592" y="1834896"/>
            <a:ext cx="10442448" cy="4014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Post Office Protocol (POP) is an application-layer Internet standard</a:t>
            </a:r>
          </a:p>
          <a:p>
            <a:pPr eaLnBrk="1" hangingPunct="1">
              <a:lnSpc>
                <a:spcPct val="100000"/>
              </a:lnSpc>
              <a:spcBef>
                <a:spcPct val="0"/>
              </a:spcBef>
              <a:buFontTx/>
              <a:buNone/>
            </a:pPr>
            <a:r>
              <a:rPr lang="en-US" altLang="en-US" sz="2736" dirty="0">
                <a:solidFill>
                  <a:srgbClr val="000000"/>
                </a:solidFill>
              </a:rPr>
              <a:t>  protocol used by local e-mail clients to retrieve e-mail from a remote</a:t>
            </a:r>
          </a:p>
          <a:p>
            <a:pPr eaLnBrk="1" hangingPunct="1">
              <a:lnSpc>
                <a:spcPct val="100000"/>
              </a:lnSpc>
              <a:spcBef>
                <a:spcPct val="0"/>
              </a:spcBef>
              <a:buFontTx/>
              <a:buNone/>
            </a:pPr>
            <a:r>
              <a:rPr lang="en-US" altLang="en-US" sz="2736" dirty="0">
                <a:solidFill>
                  <a:srgbClr val="000000"/>
                </a:solidFill>
              </a:rPr>
              <a:t>  server over a TCP/IP connection</a:t>
            </a:r>
          </a:p>
          <a:p>
            <a:pPr marL="411480" indent="-411480">
              <a:lnSpc>
                <a:spcPct val="100000"/>
              </a:lnSpc>
              <a:spcBef>
                <a:spcPct val="0"/>
              </a:spcBef>
            </a:pPr>
            <a:r>
              <a:rPr lang="en-US" altLang="en-US" sz="2736" dirty="0">
                <a:solidFill>
                  <a:srgbClr val="000000"/>
                </a:solidFill>
              </a:rPr>
              <a:t>Uses Port </a:t>
            </a:r>
            <a:r>
              <a:rPr lang="en-US" altLang="en-US" sz="2736" b="1" dirty="0">
                <a:solidFill>
                  <a:srgbClr val="000000"/>
                </a:solidFill>
              </a:rPr>
              <a:t>110</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POP has been developed through several versions, with version 3</a:t>
            </a:r>
          </a:p>
          <a:p>
            <a:pPr eaLnBrk="1" hangingPunct="1">
              <a:lnSpc>
                <a:spcPct val="100000"/>
              </a:lnSpc>
              <a:spcBef>
                <a:spcPct val="0"/>
              </a:spcBef>
              <a:buFontTx/>
              <a:buNone/>
            </a:pPr>
            <a:r>
              <a:rPr lang="en-US" altLang="en-US" sz="2736" dirty="0">
                <a:solidFill>
                  <a:srgbClr val="000000"/>
                </a:solidFill>
              </a:rPr>
              <a:t>  (POP3) being the last standard</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E-mails are downloaded from the server's mailbox to your computer</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No copy of Email will be kept in mailbox after downloading the email</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E-mails are available when you are not connected</a:t>
            </a:r>
          </a:p>
          <a:p>
            <a:pPr eaLnBrk="1" hangingPunct="1">
              <a:lnSpc>
                <a:spcPct val="100000"/>
              </a:lnSpc>
              <a:spcBef>
                <a:spcPct val="0"/>
              </a:spcBef>
              <a:buFontTx/>
              <a:buNone/>
            </a:pPr>
            <a:endParaRPr lang="en-US" altLang="en-US" sz="864"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1">
            <a:extLst>
              <a:ext uri="{FF2B5EF4-FFF2-40B4-BE49-F238E27FC236}">
                <a16:creationId xmlns:a16="http://schemas.microsoft.com/office/drawing/2014/main" id="{46CEB521-4834-4026-91C9-D70B93B03EE0}"/>
              </a:ext>
            </a:extLst>
          </p:cNvPr>
          <p:cNvSpPr txBox="1">
            <a:spLocks noChangeArrowheads="1"/>
          </p:cNvSpPr>
          <p:nvPr/>
        </p:nvSpPr>
        <p:spPr bwMode="auto">
          <a:xfrm>
            <a:off x="926592" y="762000"/>
            <a:ext cx="4578096"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POP Working</a:t>
            </a:r>
          </a:p>
          <a:p>
            <a:pPr eaLnBrk="1" hangingPunct="1">
              <a:lnSpc>
                <a:spcPct val="100000"/>
              </a:lnSpc>
              <a:spcBef>
                <a:spcPct val="0"/>
              </a:spcBef>
              <a:buFontTx/>
              <a:buNone/>
            </a:pPr>
            <a:endParaRPr lang="en-US" altLang="en-US" sz="864"/>
          </a:p>
        </p:txBody>
      </p:sp>
      <p:sp>
        <p:nvSpPr>
          <p:cNvPr id="31747" name="TextBox 2">
            <a:extLst>
              <a:ext uri="{FF2B5EF4-FFF2-40B4-BE49-F238E27FC236}">
                <a16:creationId xmlns:a16="http://schemas.microsoft.com/office/drawing/2014/main" id="{CEF0E6A8-5907-4851-8335-4C3AD99D6666}"/>
              </a:ext>
            </a:extLst>
          </p:cNvPr>
          <p:cNvSpPr txBox="1">
            <a:spLocks noChangeArrowheads="1"/>
          </p:cNvSpPr>
          <p:nvPr/>
        </p:nvSpPr>
        <p:spPr bwMode="auto">
          <a:xfrm>
            <a:off x="926592" y="1834896"/>
            <a:ext cx="69189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Working of POP servers is as following steps:</a:t>
            </a:r>
          </a:p>
          <a:p>
            <a:pPr eaLnBrk="1" hangingPunct="1">
              <a:lnSpc>
                <a:spcPct val="100000"/>
              </a:lnSpc>
              <a:spcBef>
                <a:spcPct val="0"/>
              </a:spcBef>
              <a:buFontTx/>
              <a:buNone/>
            </a:pPr>
            <a:endParaRPr lang="en-US" altLang="en-US" sz="864"/>
          </a:p>
        </p:txBody>
      </p:sp>
      <p:sp>
        <p:nvSpPr>
          <p:cNvPr id="31748" name="TextBox 3">
            <a:extLst>
              <a:ext uri="{FF2B5EF4-FFF2-40B4-BE49-F238E27FC236}">
                <a16:creationId xmlns:a16="http://schemas.microsoft.com/office/drawing/2014/main" id="{BC8CA2AC-3D05-4D32-81AF-3AABCEFFB422}"/>
              </a:ext>
            </a:extLst>
          </p:cNvPr>
          <p:cNvSpPr txBox="1">
            <a:spLocks noChangeArrowheads="1"/>
          </p:cNvSpPr>
          <p:nvPr/>
        </p:nvSpPr>
        <p:spPr bwMode="auto">
          <a:xfrm>
            <a:off x="1383792" y="2340864"/>
            <a:ext cx="530352" cy="2071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a:t>
            </a:r>
          </a:p>
          <a:p>
            <a:pPr eaLnBrk="1" hangingPunct="1">
              <a:lnSpc>
                <a:spcPct val="100000"/>
              </a:lnSpc>
              <a:spcBef>
                <a:spcPct val="0"/>
              </a:spcBef>
              <a:buFontTx/>
              <a:buNone/>
            </a:pPr>
            <a:r>
              <a:rPr lang="en-US" altLang="en-US" sz="2400">
                <a:solidFill>
                  <a:srgbClr val="000000"/>
                </a:solidFill>
              </a:rPr>
              <a:t>2.</a:t>
            </a:r>
          </a:p>
          <a:p>
            <a:pPr eaLnBrk="1" hangingPunct="1">
              <a:lnSpc>
                <a:spcPct val="100000"/>
              </a:lnSpc>
              <a:spcBef>
                <a:spcPct val="0"/>
              </a:spcBef>
              <a:buFontTx/>
              <a:buNone/>
            </a:pPr>
            <a:r>
              <a:rPr lang="en-US" altLang="en-US" sz="2400">
                <a:solidFill>
                  <a:srgbClr val="000000"/>
                </a:solidFill>
              </a:rPr>
              <a:t>3.</a:t>
            </a:r>
          </a:p>
          <a:p>
            <a:pPr eaLnBrk="1" hangingPunct="1">
              <a:lnSpc>
                <a:spcPct val="100000"/>
              </a:lnSpc>
              <a:spcBef>
                <a:spcPct val="0"/>
              </a:spcBef>
              <a:buFontTx/>
              <a:buNone/>
            </a:pPr>
            <a:r>
              <a:rPr lang="en-US" altLang="en-US" sz="2400">
                <a:solidFill>
                  <a:srgbClr val="000000"/>
                </a:solidFill>
              </a:rPr>
              <a:t>4.</a:t>
            </a:r>
          </a:p>
          <a:p>
            <a:pPr eaLnBrk="1" hangingPunct="1">
              <a:lnSpc>
                <a:spcPct val="100000"/>
              </a:lnSpc>
              <a:spcBef>
                <a:spcPct val="0"/>
              </a:spcBef>
              <a:buFontTx/>
              <a:buNone/>
            </a:pPr>
            <a:r>
              <a:rPr lang="en-US" altLang="en-US" sz="2400">
                <a:solidFill>
                  <a:srgbClr val="000000"/>
                </a:solidFill>
              </a:rPr>
              <a:t>5.</a:t>
            </a:r>
          </a:p>
          <a:p>
            <a:pPr eaLnBrk="1" hangingPunct="1">
              <a:lnSpc>
                <a:spcPct val="100000"/>
              </a:lnSpc>
              <a:spcBef>
                <a:spcPct val="0"/>
              </a:spcBef>
              <a:buFontTx/>
              <a:buNone/>
            </a:pPr>
            <a:endParaRPr lang="en-US" altLang="en-US" sz="864"/>
          </a:p>
        </p:txBody>
      </p:sp>
      <p:sp>
        <p:nvSpPr>
          <p:cNvPr id="31749" name="TextBox 4">
            <a:extLst>
              <a:ext uri="{FF2B5EF4-FFF2-40B4-BE49-F238E27FC236}">
                <a16:creationId xmlns:a16="http://schemas.microsoft.com/office/drawing/2014/main" id="{70BA313A-E90B-4D71-BDFA-D39DA8139F83}"/>
              </a:ext>
            </a:extLst>
          </p:cNvPr>
          <p:cNvSpPr txBox="1">
            <a:spLocks noChangeArrowheads="1"/>
          </p:cNvSpPr>
          <p:nvPr/>
        </p:nvSpPr>
        <p:spPr bwMode="auto">
          <a:xfrm>
            <a:off x="1901952" y="2340864"/>
            <a:ext cx="3371088" cy="2071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Connect to server</a:t>
            </a:r>
          </a:p>
          <a:p>
            <a:pPr eaLnBrk="1" hangingPunct="1">
              <a:lnSpc>
                <a:spcPct val="100000"/>
              </a:lnSpc>
              <a:spcBef>
                <a:spcPct val="0"/>
              </a:spcBef>
              <a:buFontTx/>
              <a:buNone/>
            </a:pPr>
            <a:r>
              <a:rPr lang="en-US" altLang="en-US" sz="2400">
                <a:solidFill>
                  <a:srgbClr val="000000"/>
                </a:solidFill>
              </a:rPr>
              <a:t>Retrieve all mail</a:t>
            </a:r>
          </a:p>
          <a:p>
            <a:pPr eaLnBrk="1" hangingPunct="1">
              <a:lnSpc>
                <a:spcPct val="100000"/>
              </a:lnSpc>
              <a:spcBef>
                <a:spcPct val="0"/>
              </a:spcBef>
              <a:buFontTx/>
              <a:buNone/>
            </a:pPr>
            <a:r>
              <a:rPr lang="en-US" altLang="en-US" sz="2400">
                <a:solidFill>
                  <a:srgbClr val="000000"/>
                </a:solidFill>
              </a:rPr>
              <a:t>Store locally as new mail</a:t>
            </a:r>
          </a:p>
          <a:p>
            <a:pPr eaLnBrk="1" hangingPunct="1">
              <a:lnSpc>
                <a:spcPct val="100000"/>
              </a:lnSpc>
              <a:spcBef>
                <a:spcPct val="0"/>
              </a:spcBef>
              <a:buFontTx/>
              <a:buNone/>
            </a:pPr>
            <a:r>
              <a:rPr lang="en-US" altLang="en-US" sz="2400">
                <a:solidFill>
                  <a:srgbClr val="000000"/>
                </a:solidFill>
              </a:rPr>
              <a:t>Delete mail from server*</a:t>
            </a:r>
          </a:p>
          <a:p>
            <a:pPr eaLnBrk="1" hangingPunct="1">
              <a:lnSpc>
                <a:spcPct val="100000"/>
              </a:lnSpc>
              <a:spcBef>
                <a:spcPct val="0"/>
              </a:spcBef>
              <a:buFontTx/>
              <a:buNone/>
            </a:pPr>
            <a:r>
              <a:rPr lang="en-US" altLang="en-US" sz="2400">
                <a:solidFill>
                  <a:srgbClr val="000000"/>
                </a:solidFill>
              </a:rPr>
              <a:t>Disconnect</a:t>
            </a:r>
          </a:p>
          <a:p>
            <a:pPr eaLnBrk="1" hangingPunct="1">
              <a:lnSpc>
                <a:spcPct val="100000"/>
              </a:lnSpc>
              <a:spcBef>
                <a:spcPct val="0"/>
              </a:spcBef>
              <a:buFontTx/>
              <a:buNone/>
            </a:pPr>
            <a:endParaRPr lang="en-US" altLang="en-US" sz="864"/>
          </a:p>
        </p:txBody>
      </p:sp>
      <p:sp>
        <p:nvSpPr>
          <p:cNvPr id="31750" name="TextBox 5">
            <a:extLst>
              <a:ext uri="{FF2B5EF4-FFF2-40B4-BE49-F238E27FC236}">
                <a16:creationId xmlns:a16="http://schemas.microsoft.com/office/drawing/2014/main" id="{BFA61D90-CB71-46BD-9F48-CF0762938DE6}"/>
              </a:ext>
            </a:extLst>
          </p:cNvPr>
          <p:cNvSpPr txBox="1">
            <a:spLocks noChangeArrowheads="1"/>
          </p:cNvSpPr>
          <p:nvPr/>
        </p:nvSpPr>
        <p:spPr bwMode="auto">
          <a:xfrm>
            <a:off x="926592" y="4370832"/>
            <a:ext cx="10613136" cy="89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60" i="1">
                <a:solidFill>
                  <a:srgbClr val="000000"/>
                </a:solidFill>
              </a:rPr>
              <a:t>* Deletion of mail is default setting , However user can change the settings to keep the copy</a:t>
            </a:r>
          </a:p>
          <a:p>
            <a:pPr eaLnBrk="1" hangingPunct="1">
              <a:lnSpc>
                <a:spcPct val="100000"/>
              </a:lnSpc>
              <a:spcBef>
                <a:spcPct val="0"/>
              </a:spcBef>
              <a:buFontTx/>
              <a:buNone/>
            </a:pPr>
            <a:r>
              <a:rPr lang="en-US" altLang="en-US" sz="2160" i="1">
                <a:solidFill>
                  <a:srgbClr val="000000"/>
                </a:solidFill>
              </a:rPr>
              <a:t>of email in mail box</a:t>
            </a:r>
          </a:p>
          <a:p>
            <a:pPr eaLnBrk="1" hangingPunct="1">
              <a:lnSpc>
                <a:spcPct val="100000"/>
              </a:lnSpc>
              <a:spcBef>
                <a:spcPct val="0"/>
              </a:spcBef>
              <a:buFontTx/>
              <a:buNone/>
            </a:pPr>
            <a:endParaRPr lang="en-US" altLang="en-US" sz="864"/>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1">
            <a:extLst>
              <a:ext uri="{FF2B5EF4-FFF2-40B4-BE49-F238E27FC236}">
                <a16:creationId xmlns:a16="http://schemas.microsoft.com/office/drawing/2014/main" id="{8BDF1E55-AD39-442D-97AF-E2406A7E364E}"/>
              </a:ext>
            </a:extLst>
          </p:cNvPr>
          <p:cNvSpPr txBox="1">
            <a:spLocks noChangeArrowheads="1"/>
          </p:cNvSpPr>
          <p:nvPr/>
        </p:nvSpPr>
        <p:spPr bwMode="auto">
          <a:xfrm>
            <a:off x="926592" y="762000"/>
            <a:ext cx="508406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Features of POP</a:t>
            </a:r>
          </a:p>
          <a:p>
            <a:pPr eaLnBrk="1" hangingPunct="1">
              <a:lnSpc>
                <a:spcPct val="100000"/>
              </a:lnSpc>
              <a:spcBef>
                <a:spcPct val="0"/>
              </a:spcBef>
              <a:buFontTx/>
              <a:buNone/>
            </a:pPr>
            <a:endParaRPr lang="en-US" altLang="en-US" sz="864"/>
          </a:p>
        </p:txBody>
      </p:sp>
      <p:sp>
        <p:nvSpPr>
          <p:cNvPr id="32771" name="TextBox 2">
            <a:extLst>
              <a:ext uri="{FF2B5EF4-FFF2-40B4-BE49-F238E27FC236}">
                <a16:creationId xmlns:a16="http://schemas.microsoft.com/office/drawing/2014/main" id="{CE4C5D73-2DEC-4BFD-8AFF-5ECA4462B037}"/>
              </a:ext>
            </a:extLst>
          </p:cNvPr>
          <p:cNvSpPr txBox="1">
            <a:spLocks noChangeArrowheads="1"/>
          </p:cNvSpPr>
          <p:nvPr/>
        </p:nvSpPr>
        <p:spPr bwMode="auto">
          <a:xfrm>
            <a:off x="926592" y="1834896"/>
            <a:ext cx="10308336" cy="3593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POP is a much simpler protocol, making implementation easier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POP mail moves the message from the email server onto your local</a:t>
            </a:r>
          </a:p>
          <a:p>
            <a:pPr eaLnBrk="1" hangingPunct="1">
              <a:lnSpc>
                <a:spcPct val="100000"/>
              </a:lnSpc>
              <a:spcBef>
                <a:spcPct val="0"/>
              </a:spcBef>
              <a:buFontTx/>
              <a:buNone/>
            </a:pPr>
            <a:r>
              <a:rPr lang="en-US" altLang="en-US" sz="2736">
                <a:solidFill>
                  <a:srgbClr val="000000"/>
                </a:solidFill>
              </a:rPr>
              <a:t>  computer, although there is usually an option to leave the messages</a:t>
            </a:r>
          </a:p>
          <a:p>
            <a:pPr eaLnBrk="1" hangingPunct="1">
              <a:lnSpc>
                <a:spcPct val="100000"/>
              </a:lnSpc>
              <a:spcBef>
                <a:spcPct val="0"/>
              </a:spcBef>
              <a:buFontTx/>
              <a:buNone/>
            </a:pPr>
            <a:r>
              <a:rPr lang="en-US" altLang="en-US" sz="2736">
                <a:solidFill>
                  <a:srgbClr val="000000"/>
                </a:solidFill>
              </a:rPr>
              <a:t>  on the email server as well</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POP treats the mailbox as one store, and has no concept of folders</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POP protocol requires the currently connected client to be the only</a:t>
            </a:r>
          </a:p>
          <a:p>
            <a:pPr eaLnBrk="1" hangingPunct="1">
              <a:lnSpc>
                <a:spcPct val="100000"/>
              </a:lnSpc>
              <a:spcBef>
                <a:spcPct val="0"/>
              </a:spcBef>
              <a:buFontTx/>
              <a:buNone/>
            </a:pPr>
            <a:r>
              <a:rPr lang="en-US" altLang="en-US" sz="2736">
                <a:solidFill>
                  <a:srgbClr val="000000"/>
                </a:solidFill>
              </a:rPr>
              <a:t>  client connected to the mailbox</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When POP retrieves a message, it receives all parts of it</a:t>
            </a:r>
          </a:p>
          <a:p>
            <a:pPr eaLnBrk="1" hangingPunct="1">
              <a:lnSpc>
                <a:spcPct val="100000"/>
              </a:lnSpc>
              <a:spcBef>
                <a:spcPct val="0"/>
              </a:spcBef>
              <a:buFontTx/>
              <a:buNone/>
            </a:pPr>
            <a:endParaRPr lang="en-US" altLang="en-US" sz="864"/>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Box 1">
            <a:extLst>
              <a:ext uri="{FF2B5EF4-FFF2-40B4-BE49-F238E27FC236}">
                <a16:creationId xmlns:a16="http://schemas.microsoft.com/office/drawing/2014/main" id="{F7049419-4C2F-4327-B6B4-637813097DE8}"/>
              </a:ext>
            </a:extLst>
          </p:cNvPr>
          <p:cNvSpPr txBox="1">
            <a:spLocks noChangeArrowheads="1"/>
          </p:cNvSpPr>
          <p:nvPr/>
        </p:nvSpPr>
        <p:spPr bwMode="auto">
          <a:xfrm>
            <a:off x="926592" y="762000"/>
            <a:ext cx="5839968"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Advantages of POP</a:t>
            </a:r>
          </a:p>
          <a:p>
            <a:pPr eaLnBrk="1" hangingPunct="1">
              <a:lnSpc>
                <a:spcPct val="100000"/>
              </a:lnSpc>
              <a:spcBef>
                <a:spcPct val="0"/>
              </a:spcBef>
              <a:buFontTx/>
              <a:buNone/>
            </a:pPr>
            <a:endParaRPr lang="en-US" altLang="en-US" sz="864"/>
          </a:p>
        </p:txBody>
      </p:sp>
      <p:sp>
        <p:nvSpPr>
          <p:cNvPr id="33795" name="TextBox 2">
            <a:extLst>
              <a:ext uri="{FF2B5EF4-FFF2-40B4-BE49-F238E27FC236}">
                <a16:creationId xmlns:a16="http://schemas.microsoft.com/office/drawing/2014/main" id="{4BFF308A-517A-4915-981B-3F38610213BE}"/>
              </a:ext>
            </a:extLst>
          </p:cNvPr>
          <p:cNvSpPr txBox="1">
            <a:spLocks noChangeArrowheads="1"/>
          </p:cNvSpPr>
          <p:nvPr/>
        </p:nvSpPr>
        <p:spPr bwMode="auto">
          <a:xfrm>
            <a:off x="926592" y="1834896"/>
            <a:ext cx="9936480" cy="2751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Advantages are:</a:t>
            </a:r>
          </a:p>
          <a:p>
            <a:pPr eaLnBrk="1" hangingPunct="1">
              <a:lnSpc>
                <a:spcPct val="100000"/>
              </a:lnSpc>
              <a:spcBef>
                <a:spcPct val="0"/>
              </a:spcBef>
              <a:buFontTx/>
              <a:buNone/>
            </a:pPr>
            <a:r>
              <a:rPr lang="en-US" altLang="en-US" sz="2736">
                <a:solidFill>
                  <a:srgbClr val="000000"/>
                </a:solidFill>
              </a:rPr>
              <a:t>1. Mail stored locally, i.e. always accessible, even without internet</a:t>
            </a:r>
          </a:p>
          <a:p>
            <a:pPr eaLnBrk="1" hangingPunct="1">
              <a:lnSpc>
                <a:spcPct val="100000"/>
              </a:lnSpc>
              <a:spcBef>
                <a:spcPct val="0"/>
              </a:spcBef>
              <a:buFontTx/>
              <a:buNone/>
            </a:pPr>
            <a:r>
              <a:rPr lang="en-US" altLang="en-US" sz="2736">
                <a:solidFill>
                  <a:srgbClr val="000000"/>
                </a:solidFill>
              </a:rPr>
              <a:t>   connection</a:t>
            </a:r>
          </a:p>
          <a:p>
            <a:pPr eaLnBrk="1" hangingPunct="1">
              <a:lnSpc>
                <a:spcPct val="100000"/>
              </a:lnSpc>
              <a:spcBef>
                <a:spcPct val="0"/>
              </a:spcBef>
              <a:buFontTx/>
              <a:buNone/>
            </a:pPr>
            <a:r>
              <a:rPr lang="en-US" altLang="en-US" sz="2736">
                <a:solidFill>
                  <a:srgbClr val="000000"/>
                </a:solidFill>
              </a:rPr>
              <a:t>2. Internet connection needed only for sending and receiving mail</a:t>
            </a:r>
          </a:p>
          <a:p>
            <a:pPr eaLnBrk="1" hangingPunct="1">
              <a:lnSpc>
                <a:spcPct val="100000"/>
              </a:lnSpc>
              <a:spcBef>
                <a:spcPct val="0"/>
              </a:spcBef>
              <a:buFontTx/>
              <a:buNone/>
            </a:pPr>
            <a:r>
              <a:rPr lang="en-US" altLang="en-US" sz="2736">
                <a:solidFill>
                  <a:srgbClr val="000000"/>
                </a:solidFill>
              </a:rPr>
              <a:t>3. Saves server storage space</a:t>
            </a:r>
          </a:p>
          <a:p>
            <a:pPr eaLnBrk="1" hangingPunct="1">
              <a:lnSpc>
                <a:spcPct val="100000"/>
              </a:lnSpc>
              <a:spcBef>
                <a:spcPct val="0"/>
              </a:spcBef>
              <a:buFontTx/>
              <a:buNone/>
            </a:pPr>
            <a:r>
              <a:rPr lang="en-US" altLang="en-US" sz="2736">
                <a:solidFill>
                  <a:srgbClr val="000000"/>
                </a:solidFill>
              </a:rPr>
              <a:t>4. Option to leave copy of mail on server</a:t>
            </a:r>
          </a:p>
          <a:p>
            <a:pPr eaLnBrk="1" hangingPunct="1">
              <a:lnSpc>
                <a:spcPct val="100000"/>
              </a:lnSpc>
              <a:spcBef>
                <a:spcPct val="0"/>
              </a:spcBef>
              <a:buFontTx/>
              <a:buNone/>
            </a:pPr>
            <a:endParaRPr lang="en-US" altLang="en-US" sz="864"/>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Box 1">
            <a:extLst>
              <a:ext uri="{FF2B5EF4-FFF2-40B4-BE49-F238E27FC236}">
                <a16:creationId xmlns:a16="http://schemas.microsoft.com/office/drawing/2014/main" id="{BE462745-BFA9-4645-B792-A4F70107136A}"/>
              </a:ext>
            </a:extLst>
          </p:cNvPr>
          <p:cNvSpPr txBox="1">
            <a:spLocks noChangeArrowheads="1"/>
          </p:cNvSpPr>
          <p:nvPr/>
        </p:nvSpPr>
        <p:spPr bwMode="auto">
          <a:xfrm>
            <a:off x="926592" y="762000"/>
            <a:ext cx="11118342"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IMAP (Internet Message Access Protocol)</a:t>
            </a:r>
          </a:p>
          <a:p>
            <a:pPr eaLnBrk="1" hangingPunct="1">
              <a:lnSpc>
                <a:spcPct val="100000"/>
              </a:lnSpc>
              <a:spcBef>
                <a:spcPct val="0"/>
              </a:spcBef>
              <a:buFontTx/>
              <a:buNone/>
            </a:pPr>
            <a:endParaRPr lang="en-US" altLang="en-US" sz="864"/>
          </a:p>
        </p:txBody>
      </p:sp>
      <p:sp>
        <p:nvSpPr>
          <p:cNvPr id="34819" name="TextBox 2">
            <a:extLst>
              <a:ext uri="{FF2B5EF4-FFF2-40B4-BE49-F238E27FC236}">
                <a16:creationId xmlns:a16="http://schemas.microsoft.com/office/drawing/2014/main" id="{7DEBF993-4FA7-4B24-8F2D-E0777E5CCFAC}"/>
              </a:ext>
            </a:extLst>
          </p:cNvPr>
          <p:cNvSpPr txBox="1">
            <a:spLocks noChangeArrowheads="1"/>
          </p:cNvSpPr>
          <p:nvPr/>
        </p:nvSpPr>
        <p:spPr bwMode="auto">
          <a:xfrm>
            <a:off x="926592" y="1834896"/>
            <a:ext cx="10527792" cy="3172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Protocols that is used for final delivery is </a:t>
            </a:r>
            <a:r>
              <a:rPr lang="en-US" altLang="en-US" sz="2736" b="1" dirty="0">
                <a:solidFill>
                  <a:srgbClr val="000000"/>
                </a:solidFill>
              </a:rPr>
              <a:t>IMAP (143)</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b="1" dirty="0">
                <a:solidFill>
                  <a:srgbClr val="000000"/>
                </a:solidFill>
              </a:rPr>
              <a:t>IMAP </a:t>
            </a:r>
            <a:r>
              <a:rPr lang="en-US" altLang="en-US" sz="2736" dirty="0">
                <a:solidFill>
                  <a:srgbClr val="000000"/>
                </a:solidFill>
              </a:rPr>
              <a:t>is an Internet standard protocol used by e-mail clients to</a:t>
            </a:r>
          </a:p>
          <a:p>
            <a:pPr eaLnBrk="1" hangingPunct="1">
              <a:lnSpc>
                <a:spcPct val="100000"/>
              </a:lnSpc>
              <a:spcBef>
                <a:spcPct val="0"/>
              </a:spcBef>
              <a:buFontTx/>
              <a:buNone/>
            </a:pPr>
            <a:r>
              <a:rPr lang="en-US" altLang="en-US" sz="2736" dirty="0">
                <a:solidFill>
                  <a:srgbClr val="000000"/>
                </a:solidFill>
              </a:rPr>
              <a:t>  retrieve e-mail messages from a mail server over a TCP/IP connection</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IMAP provides mechanisms for storing messages received by SMTP in</a:t>
            </a:r>
          </a:p>
          <a:p>
            <a:pPr eaLnBrk="1" hangingPunct="1">
              <a:lnSpc>
                <a:spcPct val="100000"/>
              </a:lnSpc>
              <a:spcBef>
                <a:spcPct val="0"/>
              </a:spcBef>
              <a:buFontTx/>
              <a:buNone/>
            </a:pPr>
            <a:r>
              <a:rPr lang="en-US" altLang="en-US" sz="2736" dirty="0">
                <a:solidFill>
                  <a:srgbClr val="000000"/>
                </a:solidFill>
              </a:rPr>
              <a:t>  a mailbox</a:t>
            </a:r>
          </a:p>
          <a:p>
            <a:pPr eaLnBrk="1" hangingPunct="1">
              <a:lnSpc>
                <a:spcPct val="100000"/>
              </a:lnSpc>
              <a:spcBef>
                <a:spcPct val="0"/>
              </a:spcBef>
              <a:buFontTx/>
              <a:buNone/>
            </a:pPr>
            <a:r>
              <a:rPr lang="en-US" altLang="en-US" sz="2736" dirty="0">
                <a:solidFill>
                  <a:srgbClr val="000000"/>
                </a:solidFill>
                <a:latin typeface="Arial" panose="020B0604020202020204" pitchFamily="34" charset="0"/>
              </a:rPr>
              <a:t>• </a:t>
            </a:r>
            <a:r>
              <a:rPr lang="en-US" altLang="en-US" sz="2736" dirty="0">
                <a:solidFill>
                  <a:srgbClr val="000000"/>
                </a:solidFill>
              </a:rPr>
              <a:t>IMAP server stores messages received by each user until the user</a:t>
            </a:r>
          </a:p>
          <a:p>
            <a:pPr eaLnBrk="1" hangingPunct="1">
              <a:lnSpc>
                <a:spcPct val="100000"/>
              </a:lnSpc>
              <a:spcBef>
                <a:spcPct val="0"/>
              </a:spcBef>
              <a:buFontTx/>
              <a:buNone/>
            </a:pPr>
            <a:r>
              <a:rPr lang="en-US" altLang="en-US" sz="2736" dirty="0">
                <a:solidFill>
                  <a:srgbClr val="000000"/>
                </a:solidFill>
              </a:rPr>
              <a:t>  connects to download and read them using an email clients</a:t>
            </a:r>
          </a:p>
          <a:p>
            <a:pPr eaLnBrk="1" hangingPunct="1">
              <a:lnSpc>
                <a:spcPct val="100000"/>
              </a:lnSpc>
              <a:spcBef>
                <a:spcPct val="0"/>
              </a:spcBef>
              <a:buFontTx/>
              <a:buNone/>
            </a:pPr>
            <a:endParaRPr lang="en-US" altLang="en-US" sz="864" dirty="0"/>
          </a:p>
        </p:txBody>
      </p:sp>
      <p:sp>
        <p:nvSpPr>
          <p:cNvPr id="34820" name="TextBox 3">
            <a:extLst>
              <a:ext uri="{FF2B5EF4-FFF2-40B4-BE49-F238E27FC236}">
                <a16:creationId xmlns:a16="http://schemas.microsoft.com/office/drawing/2014/main" id="{8E0DF5E2-116F-41FB-A26B-A9DA1B7D39C3}"/>
              </a:ext>
            </a:extLst>
          </p:cNvPr>
          <p:cNvSpPr txBox="1">
            <a:spLocks noChangeArrowheads="1"/>
          </p:cNvSpPr>
          <p:nvPr/>
        </p:nvSpPr>
        <p:spPr bwMode="auto">
          <a:xfrm>
            <a:off x="926592" y="5096256"/>
            <a:ext cx="6382512" cy="557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160" i="1">
                <a:solidFill>
                  <a:srgbClr val="000000"/>
                </a:solidFill>
              </a:rPr>
              <a:t>* Now a days IMAP replaced POP in all E-mail services</a:t>
            </a:r>
          </a:p>
          <a:p>
            <a:pPr eaLnBrk="1" hangingPunct="1">
              <a:lnSpc>
                <a:spcPct val="100000"/>
              </a:lnSpc>
              <a:spcBef>
                <a:spcPct val="0"/>
              </a:spcBef>
              <a:buFontTx/>
              <a:buNone/>
            </a:pPr>
            <a:endParaRPr lang="en-US" altLang="en-US" sz="864"/>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1">
            <a:extLst>
              <a:ext uri="{FF2B5EF4-FFF2-40B4-BE49-F238E27FC236}">
                <a16:creationId xmlns:a16="http://schemas.microsoft.com/office/drawing/2014/main" id="{BBA8A692-EA0B-42FC-92A1-F5B128B4C0C8}"/>
              </a:ext>
            </a:extLst>
          </p:cNvPr>
          <p:cNvSpPr txBox="1">
            <a:spLocks noChangeArrowheads="1"/>
          </p:cNvSpPr>
          <p:nvPr/>
        </p:nvSpPr>
        <p:spPr bwMode="auto">
          <a:xfrm>
            <a:off x="926592" y="762000"/>
            <a:ext cx="4846320"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IMAP Working</a:t>
            </a:r>
          </a:p>
          <a:p>
            <a:pPr eaLnBrk="1" hangingPunct="1">
              <a:lnSpc>
                <a:spcPct val="100000"/>
              </a:lnSpc>
              <a:spcBef>
                <a:spcPct val="0"/>
              </a:spcBef>
              <a:buFontTx/>
              <a:buNone/>
            </a:pPr>
            <a:endParaRPr lang="en-US" altLang="en-US" sz="864"/>
          </a:p>
        </p:txBody>
      </p:sp>
      <p:sp>
        <p:nvSpPr>
          <p:cNvPr id="35843" name="TextBox 2">
            <a:extLst>
              <a:ext uri="{FF2B5EF4-FFF2-40B4-BE49-F238E27FC236}">
                <a16:creationId xmlns:a16="http://schemas.microsoft.com/office/drawing/2014/main" id="{A1264B9D-1F8C-4B0B-8E25-698597063675}"/>
              </a:ext>
            </a:extLst>
          </p:cNvPr>
          <p:cNvSpPr txBox="1">
            <a:spLocks noChangeArrowheads="1"/>
          </p:cNvSpPr>
          <p:nvPr/>
        </p:nvSpPr>
        <p:spPr bwMode="auto">
          <a:xfrm>
            <a:off x="926592" y="1834896"/>
            <a:ext cx="710184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Working of IMAP servers is as following steps:</a:t>
            </a:r>
          </a:p>
          <a:p>
            <a:pPr eaLnBrk="1" hangingPunct="1">
              <a:lnSpc>
                <a:spcPct val="100000"/>
              </a:lnSpc>
              <a:spcBef>
                <a:spcPct val="0"/>
              </a:spcBef>
              <a:buFontTx/>
              <a:buNone/>
            </a:pPr>
            <a:endParaRPr lang="en-US" altLang="en-US" sz="864"/>
          </a:p>
        </p:txBody>
      </p:sp>
      <p:sp>
        <p:nvSpPr>
          <p:cNvPr id="35844" name="TextBox 3">
            <a:extLst>
              <a:ext uri="{FF2B5EF4-FFF2-40B4-BE49-F238E27FC236}">
                <a16:creationId xmlns:a16="http://schemas.microsoft.com/office/drawing/2014/main" id="{E298D05B-7A48-4B17-8D87-B4A1EABA0106}"/>
              </a:ext>
            </a:extLst>
          </p:cNvPr>
          <p:cNvSpPr txBox="1">
            <a:spLocks noChangeArrowheads="1"/>
          </p:cNvSpPr>
          <p:nvPr/>
        </p:nvSpPr>
        <p:spPr bwMode="auto">
          <a:xfrm>
            <a:off x="1383792" y="2340864"/>
            <a:ext cx="9418320" cy="2071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a:solidFill>
                  <a:srgbClr val="000000"/>
                </a:solidFill>
              </a:rPr>
              <a:t>1. Connect to server</a:t>
            </a:r>
          </a:p>
          <a:p>
            <a:pPr eaLnBrk="1" hangingPunct="1">
              <a:lnSpc>
                <a:spcPct val="100000"/>
              </a:lnSpc>
              <a:spcBef>
                <a:spcPct val="0"/>
              </a:spcBef>
              <a:buFontTx/>
              <a:buNone/>
            </a:pPr>
            <a:r>
              <a:rPr lang="en-US" altLang="en-US" sz="2400">
                <a:solidFill>
                  <a:srgbClr val="000000"/>
                </a:solidFill>
              </a:rPr>
              <a:t>2. Fetch user requested content and cache it locally, e.g. list of new mail,</a:t>
            </a:r>
          </a:p>
          <a:p>
            <a:pPr eaLnBrk="1" hangingPunct="1">
              <a:lnSpc>
                <a:spcPct val="100000"/>
              </a:lnSpc>
              <a:spcBef>
                <a:spcPct val="0"/>
              </a:spcBef>
              <a:buFontTx/>
              <a:buNone/>
            </a:pPr>
            <a:r>
              <a:rPr lang="en-US" altLang="en-US" sz="2400">
                <a:solidFill>
                  <a:srgbClr val="000000"/>
                </a:solidFill>
              </a:rPr>
              <a:t>   message summaries, or content of explicitly selected emails</a:t>
            </a:r>
          </a:p>
          <a:p>
            <a:pPr eaLnBrk="1" hangingPunct="1">
              <a:lnSpc>
                <a:spcPct val="100000"/>
              </a:lnSpc>
              <a:spcBef>
                <a:spcPct val="0"/>
              </a:spcBef>
              <a:buFontTx/>
              <a:buNone/>
            </a:pPr>
            <a:r>
              <a:rPr lang="en-US" altLang="en-US" sz="2400">
                <a:solidFill>
                  <a:srgbClr val="000000"/>
                </a:solidFill>
              </a:rPr>
              <a:t>3. Process user edits, </a:t>
            </a:r>
            <a:r>
              <a:rPr lang="en-US" altLang="en-US" sz="2400" i="1">
                <a:solidFill>
                  <a:srgbClr val="000000"/>
                </a:solidFill>
              </a:rPr>
              <a:t>e.g. marking email as read, deleting email etc.</a:t>
            </a:r>
          </a:p>
          <a:p>
            <a:pPr eaLnBrk="1" hangingPunct="1">
              <a:lnSpc>
                <a:spcPct val="100000"/>
              </a:lnSpc>
              <a:spcBef>
                <a:spcPct val="0"/>
              </a:spcBef>
              <a:buFontTx/>
              <a:buNone/>
            </a:pPr>
            <a:r>
              <a:rPr lang="en-US" altLang="en-US" sz="2400">
                <a:solidFill>
                  <a:srgbClr val="000000"/>
                </a:solidFill>
              </a:rPr>
              <a:t>4. Disconnect</a:t>
            </a:r>
          </a:p>
          <a:p>
            <a:pPr eaLnBrk="1" hangingPunct="1">
              <a:lnSpc>
                <a:spcPct val="100000"/>
              </a:lnSpc>
              <a:spcBef>
                <a:spcPct val="0"/>
              </a:spcBef>
              <a:buFontTx/>
              <a:buNone/>
            </a:pPr>
            <a:endParaRPr lang="en-US" altLang="en-US" sz="864"/>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Box 1">
            <a:extLst>
              <a:ext uri="{FF2B5EF4-FFF2-40B4-BE49-F238E27FC236}">
                <a16:creationId xmlns:a16="http://schemas.microsoft.com/office/drawing/2014/main" id="{9662067A-3BD0-4677-A77B-7C8243E5A308}"/>
              </a:ext>
            </a:extLst>
          </p:cNvPr>
          <p:cNvSpPr txBox="1">
            <a:spLocks noChangeArrowheads="1"/>
          </p:cNvSpPr>
          <p:nvPr/>
        </p:nvSpPr>
        <p:spPr bwMode="auto">
          <a:xfrm>
            <a:off x="926592" y="762000"/>
            <a:ext cx="5352288"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Features of IMAP</a:t>
            </a:r>
          </a:p>
          <a:p>
            <a:pPr eaLnBrk="1" hangingPunct="1">
              <a:lnSpc>
                <a:spcPct val="100000"/>
              </a:lnSpc>
              <a:spcBef>
                <a:spcPct val="0"/>
              </a:spcBef>
              <a:buFontTx/>
              <a:buNone/>
            </a:pPr>
            <a:endParaRPr lang="en-US" altLang="en-US" sz="864"/>
          </a:p>
        </p:txBody>
      </p:sp>
      <p:sp>
        <p:nvSpPr>
          <p:cNvPr id="36867" name="TextBox 2">
            <a:extLst>
              <a:ext uri="{FF2B5EF4-FFF2-40B4-BE49-F238E27FC236}">
                <a16:creationId xmlns:a16="http://schemas.microsoft.com/office/drawing/2014/main" id="{8494A88A-CC88-44FB-9A48-2E13F0EB5FC4}"/>
              </a:ext>
            </a:extLst>
          </p:cNvPr>
          <p:cNvSpPr txBox="1">
            <a:spLocks noChangeArrowheads="1"/>
          </p:cNvSpPr>
          <p:nvPr/>
        </p:nvSpPr>
        <p:spPr bwMode="auto">
          <a:xfrm>
            <a:off x="926592" y="1810512"/>
            <a:ext cx="10582656" cy="4435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Connected and disconnected modes of operation (Faster Operation)</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Multiple clients simultaneously connected to the same mailbox</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Access to message parts and partial fetch of messages (No need for</a:t>
            </a:r>
          </a:p>
          <a:p>
            <a:pPr eaLnBrk="1" hangingPunct="1">
              <a:lnSpc>
                <a:spcPct val="100000"/>
              </a:lnSpc>
              <a:spcBef>
                <a:spcPct val="0"/>
              </a:spcBef>
              <a:buFontTx/>
              <a:buNone/>
            </a:pPr>
            <a:r>
              <a:rPr lang="en-US" altLang="en-US" sz="2736">
                <a:solidFill>
                  <a:srgbClr val="000000"/>
                </a:solidFill>
              </a:rPr>
              <a:t>  complete message to be displayed only </a:t>
            </a:r>
            <a:r>
              <a:rPr lang="en-US" altLang="en-US" sz="2736" b="1">
                <a:solidFill>
                  <a:srgbClr val="000000"/>
                </a:solidFill>
              </a:rPr>
              <a:t>subject / user name </a:t>
            </a:r>
            <a:r>
              <a:rPr lang="en-US" altLang="en-US" sz="2736">
                <a:solidFill>
                  <a:srgbClr val="000000"/>
                </a:solidFill>
              </a:rPr>
              <a:t>can be</a:t>
            </a:r>
          </a:p>
          <a:p>
            <a:pPr eaLnBrk="1" hangingPunct="1">
              <a:lnSpc>
                <a:spcPct val="100000"/>
              </a:lnSpc>
              <a:spcBef>
                <a:spcPct val="0"/>
              </a:spcBef>
              <a:buFontTx/>
              <a:buNone/>
            </a:pPr>
            <a:r>
              <a:rPr lang="en-US" altLang="en-US" sz="2736">
                <a:solidFill>
                  <a:srgbClr val="000000"/>
                </a:solidFill>
              </a:rPr>
              <a:t>  retrieved)</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Provides message state information ( </a:t>
            </a:r>
            <a:r>
              <a:rPr lang="en-US" altLang="en-US" sz="2736" b="1">
                <a:solidFill>
                  <a:srgbClr val="000000"/>
                </a:solidFill>
              </a:rPr>
              <a:t>Message states are : </a:t>
            </a:r>
            <a:r>
              <a:rPr lang="en-US" altLang="en-US" sz="2736">
                <a:solidFill>
                  <a:srgbClr val="000000"/>
                </a:solidFill>
              </a:rPr>
              <a:t>read /</a:t>
            </a:r>
          </a:p>
          <a:p>
            <a:pPr eaLnBrk="1" hangingPunct="1">
              <a:lnSpc>
                <a:spcPct val="100000"/>
              </a:lnSpc>
              <a:spcBef>
                <a:spcPct val="0"/>
              </a:spcBef>
              <a:buFontTx/>
              <a:buNone/>
            </a:pPr>
            <a:r>
              <a:rPr lang="en-US" altLang="en-US" sz="2736">
                <a:solidFill>
                  <a:srgbClr val="000000"/>
                </a:solidFill>
              </a:rPr>
              <a:t>  unread / replied / forwarded )</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Provides multiple mailboxes on the server (create new mail boxes and</a:t>
            </a:r>
          </a:p>
          <a:p>
            <a:pPr eaLnBrk="1" hangingPunct="1">
              <a:lnSpc>
                <a:spcPct val="100000"/>
              </a:lnSpc>
              <a:spcBef>
                <a:spcPct val="0"/>
              </a:spcBef>
              <a:buFontTx/>
              <a:buNone/>
            </a:pPr>
            <a:r>
              <a:rPr lang="en-US" altLang="en-US" sz="2736">
                <a:solidFill>
                  <a:srgbClr val="000000"/>
                </a:solidFill>
              </a:rPr>
              <a:t>  copy form one to another)</a:t>
            </a:r>
          </a:p>
          <a:p>
            <a:pPr eaLnBrk="1" hangingPunct="1">
              <a:lnSpc>
                <a:spcPct val="100000"/>
              </a:lnSpc>
              <a:spcBef>
                <a:spcPct val="0"/>
              </a:spcBef>
              <a:buFontTx/>
              <a:buNone/>
            </a:pPr>
            <a:r>
              <a:rPr lang="en-US" altLang="en-US" sz="2736">
                <a:solidFill>
                  <a:srgbClr val="000000"/>
                </a:solidFill>
                <a:latin typeface="Arial" panose="020B0604020202020204" pitchFamily="34" charset="0"/>
              </a:rPr>
              <a:t>• </a:t>
            </a:r>
            <a:r>
              <a:rPr lang="en-US" altLang="en-US" sz="2736">
                <a:solidFill>
                  <a:srgbClr val="000000"/>
                </a:solidFill>
              </a:rPr>
              <a:t>Provides mechanisms for server-side searches</a:t>
            </a:r>
          </a:p>
          <a:p>
            <a:pPr eaLnBrk="1" hangingPunct="1">
              <a:lnSpc>
                <a:spcPct val="100000"/>
              </a:lnSpc>
              <a:spcBef>
                <a:spcPct val="0"/>
              </a:spcBef>
              <a:buFontTx/>
              <a:buNone/>
            </a:pPr>
            <a:endParaRPr lang="en-US" altLang="en-US" sz="864"/>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1">
            <a:extLst>
              <a:ext uri="{FF2B5EF4-FFF2-40B4-BE49-F238E27FC236}">
                <a16:creationId xmlns:a16="http://schemas.microsoft.com/office/drawing/2014/main" id="{F9DA8E69-2812-41F5-98BC-B990358A11F0}"/>
              </a:ext>
            </a:extLst>
          </p:cNvPr>
          <p:cNvSpPr txBox="1">
            <a:spLocks noChangeArrowheads="1"/>
          </p:cNvSpPr>
          <p:nvPr/>
        </p:nvSpPr>
        <p:spPr bwMode="auto">
          <a:xfrm>
            <a:off x="926592" y="762000"/>
            <a:ext cx="5327904" cy="9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4416">
                <a:solidFill>
                  <a:srgbClr val="000000"/>
                </a:solidFill>
              </a:rPr>
              <a:t>IMAP Advantage</a:t>
            </a:r>
          </a:p>
          <a:p>
            <a:pPr eaLnBrk="1" hangingPunct="1">
              <a:lnSpc>
                <a:spcPct val="100000"/>
              </a:lnSpc>
              <a:spcBef>
                <a:spcPct val="0"/>
              </a:spcBef>
              <a:buFontTx/>
              <a:buNone/>
            </a:pPr>
            <a:endParaRPr lang="en-US" altLang="en-US" sz="864"/>
          </a:p>
        </p:txBody>
      </p:sp>
      <p:sp>
        <p:nvSpPr>
          <p:cNvPr id="37891" name="TextBox 2">
            <a:extLst>
              <a:ext uri="{FF2B5EF4-FFF2-40B4-BE49-F238E27FC236}">
                <a16:creationId xmlns:a16="http://schemas.microsoft.com/office/drawing/2014/main" id="{4FA2C508-909D-4A22-96A8-89A07C8C2A50}"/>
              </a:ext>
            </a:extLst>
          </p:cNvPr>
          <p:cNvSpPr txBox="1">
            <a:spLocks noChangeArrowheads="1"/>
          </p:cNvSpPr>
          <p:nvPr/>
        </p:nvSpPr>
        <p:spPr bwMode="auto">
          <a:xfrm>
            <a:off x="926592" y="1889760"/>
            <a:ext cx="10491216" cy="4014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736">
                <a:solidFill>
                  <a:srgbClr val="000000"/>
                </a:solidFill>
              </a:rPr>
              <a:t>Advantages</a:t>
            </a:r>
          </a:p>
          <a:p>
            <a:pPr eaLnBrk="1" hangingPunct="1">
              <a:lnSpc>
                <a:spcPct val="100000"/>
              </a:lnSpc>
              <a:spcBef>
                <a:spcPct val="0"/>
              </a:spcBef>
              <a:buFontTx/>
              <a:buNone/>
            </a:pPr>
            <a:r>
              <a:rPr lang="en-US" altLang="en-US" sz="2736">
                <a:solidFill>
                  <a:srgbClr val="000000"/>
                </a:solidFill>
              </a:rPr>
              <a:t>1. Mail stored on remote server, i.e. accessible from multiple different</a:t>
            </a:r>
          </a:p>
          <a:p>
            <a:pPr eaLnBrk="1" hangingPunct="1">
              <a:lnSpc>
                <a:spcPct val="100000"/>
              </a:lnSpc>
              <a:spcBef>
                <a:spcPct val="0"/>
              </a:spcBef>
              <a:buFontTx/>
              <a:buNone/>
            </a:pPr>
            <a:r>
              <a:rPr lang="en-US" altLang="en-US" sz="2736">
                <a:solidFill>
                  <a:srgbClr val="000000"/>
                </a:solidFill>
              </a:rPr>
              <a:t>   locations</a:t>
            </a:r>
          </a:p>
          <a:p>
            <a:pPr eaLnBrk="1" hangingPunct="1">
              <a:lnSpc>
                <a:spcPct val="100000"/>
              </a:lnSpc>
              <a:spcBef>
                <a:spcPct val="0"/>
              </a:spcBef>
              <a:buFontTx/>
              <a:buNone/>
            </a:pPr>
            <a:r>
              <a:rPr lang="en-US" altLang="en-US" sz="2736">
                <a:solidFill>
                  <a:srgbClr val="000000"/>
                </a:solidFill>
              </a:rPr>
              <a:t>2. Internet connection needed to access mail</a:t>
            </a:r>
          </a:p>
          <a:p>
            <a:pPr eaLnBrk="1" hangingPunct="1">
              <a:lnSpc>
                <a:spcPct val="100000"/>
              </a:lnSpc>
              <a:spcBef>
                <a:spcPct val="0"/>
              </a:spcBef>
              <a:buFontTx/>
              <a:buNone/>
            </a:pPr>
            <a:r>
              <a:rPr lang="en-US" altLang="en-US" sz="2736">
                <a:solidFill>
                  <a:srgbClr val="000000"/>
                </a:solidFill>
              </a:rPr>
              <a:t>3. Faster overview as only headers are downloaded until content is</a:t>
            </a:r>
          </a:p>
          <a:p>
            <a:pPr eaLnBrk="1" hangingPunct="1">
              <a:lnSpc>
                <a:spcPct val="100000"/>
              </a:lnSpc>
              <a:spcBef>
                <a:spcPct val="0"/>
              </a:spcBef>
              <a:buFontTx/>
              <a:buNone/>
            </a:pPr>
            <a:r>
              <a:rPr lang="en-US" altLang="en-US" sz="2736">
                <a:solidFill>
                  <a:srgbClr val="000000"/>
                </a:solidFill>
              </a:rPr>
              <a:t>   explicitly requested</a:t>
            </a:r>
          </a:p>
          <a:p>
            <a:pPr eaLnBrk="1" hangingPunct="1">
              <a:lnSpc>
                <a:spcPct val="100000"/>
              </a:lnSpc>
              <a:spcBef>
                <a:spcPct val="0"/>
              </a:spcBef>
              <a:buFontTx/>
              <a:buNone/>
            </a:pPr>
            <a:r>
              <a:rPr lang="en-US" altLang="en-US" sz="2736">
                <a:solidFill>
                  <a:srgbClr val="000000"/>
                </a:solidFill>
              </a:rPr>
              <a:t>4. Mail is automatically backed up if server is managed properly</a:t>
            </a:r>
          </a:p>
          <a:p>
            <a:pPr eaLnBrk="1" hangingPunct="1">
              <a:lnSpc>
                <a:spcPct val="100000"/>
              </a:lnSpc>
              <a:spcBef>
                <a:spcPct val="0"/>
              </a:spcBef>
              <a:buFontTx/>
              <a:buNone/>
            </a:pPr>
            <a:r>
              <a:rPr lang="en-US" altLang="en-US" sz="2736">
                <a:solidFill>
                  <a:srgbClr val="000000"/>
                </a:solidFill>
              </a:rPr>
              <a:t>5. Saves local storage space</a:t>
            </a:r>
          </a:p>
          <a:p>
            <a:pPr eaLnBrk="1" hangingPunct="1">
              <a:lnSpc>
                <a:spcPct val="100000"/>
              </a:lnSpc>
              <a:spcBef>
                <a:spcPct val="0"/>
              </a:spcBef>
              <a:buFontTx/>
              <a:buNone/>
            </a:pPr>
            <a:r>
              <a:rPr lang="en-US" altLang="en-US" sz="2736">
                <a:solidFill>
                  <a:srgbClr val="000000"/>
                </a:solidFill>
              </a:rPr>
              <a:t>6. Option to store mail locally</a:t>
            </a:r>
          </a:p>
          <a:p>
            <a:pPr eaLnBrk="1" hangingPunct="1">
              <a:lnSpc>
                <a:spcPct val="100000"/>
              </a:lnSpc>
              <a:spcBef>
                <a:spcPct val="0"/>
              </a:spcBef>
              <a:buFontTx/>
              <a:buNone/>
            </a:pPr>
            <a:endParaRPr lang="en-US" altLang="en-US" sz="864"/>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3059</Words>
  <Application>Microsoft Office PowerPoint</Application>
  <PresentationFormat>Widescreen</PresentationFormat>
  <Paragraphs>312</Paragraphs>
  <Slides>40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40</vt:i4>
      </vt:variant>
    </vt:vector>
  </HeadingPairs>
  <TitlesOfParts>
    <vt:vector size="50" baseType="lpstr">
      <vt:lpstr>Arial</vt:lpstr>
      <vt:lpstr>Calibri</vt:lpstr>
      <vt:lpstr>Calibri Light</vt:lpstr>
      <vt:lpstr>inherit</vt:lpstr>
      <vt:lpstr>SymbolMT</vt:lpstr>
      <vt:lpstr>Times New Roman</vt:lpstr>
      <vt:lpstr>TimesNewRoman,Bold</vt:lpstr>
      <vt:lpstr>TimesNewRoman,Italic</vt:lpstr>
      <vt:lpstr>Wingdings-Regular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Ananda K.C.</dc:creator>
  <cp:lastModifiedBy>Ananda K.C.</cp:lastModifiedBy>
  <cp:revision>12</cp:revision>
  <dcterms:created xsi:type="dcterms:W3CDTF">2024-01-21T15:37:13Z</dcterms:created>
  <dcterms:modified xsi:type="dcterms:W3CDTF">2024-01-22T15:17:02Z</dcterms:modified>
</cp:coreProperties>
</file>